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07" r:id="rId20"/>
    <p:sldId id="308"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86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75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abertura.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o espectro com exemplos do dia-a-dia.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Mostrar que existem ferramentas acessiveis sem programacao.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com base neurocientifica. Os medicos apreciam a base cientifica.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cada parametro. Usar analogias medicas quando possivel.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escala errada causa desconforto e quebra de imersao.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a evolucao desde NeRF ate 3DGS. Os medicos apreciam a timeline.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Definicao tecnica. Estes motores sao a base de toda VR interativa.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de raiz para quem nunca programou.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Entity-Component-System: a arquitetura base do A-Frame.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2RdFPqRwgRk"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371600"/>
            <a:ext cx="9144000" cy="457200"/>
          </a:xfrm>
          <a:prstGeom prst="rect">
            <a:avLst/>
          </a:prstGeom>
          <a:noFill/>
        </p:spPr>
        <p:txBody>
          <a:bodyPr wrap="square">
            <a:spAutoFit/>
          </a:bodyPr>
          <a:lstStyle/>
          <a:p>
            <a:pPr algn="l">
              <a:defRPr sz="1400" b="0">
                <a:solidFill>
                  <a:srgbClr val="58A6FF"/>
                </a:solidFill>
                <a:latin typeface="Segoe UI"/>
              </a:defRPr>
            </a:pPr>
            <a:r>
              <a:t>MESTRADO EM SAUDE  |  AULA PRATICA  |  3 HORAS</a:t>
            </a:r>
          </a:p>
        </p:txBody>
      </p:sp>
      <p:sp>
        <p:nvSpPr>
          <p:cNvPr id="4" name="TextBox 3"/>
          <p:cNvSpPr txBox="1"/>
          <p:nvPr/>
        </p:nvSpPr>
        <p:spPr>
          <a:xfrm>
            <a:off x="1097280" y="2103120"/>
            <a:ext cx="9144000" cy="1645920"/>
          </a:xfrm>
          <a:prstGeom prst="rect">
            <a:avLst/>
          </a:prstGeom>
          <a:noFill/>
        </p:spPr>
        <p:txBody>
          <a:bodyPr wrap="square">
            <a:spAutoFit/>
          </a:bodyPr>
          <a:lstStyle/>
          <a:p>
            <a:pPr algn="l">
              <a:defRPr sz="4800" b="1">
                <a:solidFill>
                  <a:srgbClr val="FFFFFF"/>
                </a:solidFill>
                <a:latin typeface="Segoe UI Semibold"/>
              </a:defRPr>
            </a:pPr>
            <a:r>
              <a:t>Realidade Estendida e</a:t>
            </a:r>
            <a:br/>
            <a:r>
              <a:t>Metaverso em Saude</a:t>
            </a:r>
          </a:p>
        </p:txBody>
      </p:sp>
      <p:sp>
        <p:nvSpPr>
          <p:cNvPr id="5" name="TextBox 4"/>
          <p:cNvSpPr txBox="1"/>
          <p:nvPr/>
        </p:nvSpPr>
        <p:spPr>
          <a:xfrm>
            <a:off x="1097280" y="3840480"/>
            <a:ext cx="9144000" cy="731520"/>
          </a:xfrm>
          <a:prstGeom prst="rect">
            <a:avLst/>
          </a:prstGeom>
          <a:noFill/>
        </p:spPr>
        <p:txBody>
          <a:bodyPr wrap="square">
            <a:spAutoFit/>
          </a:bodyPr>
          <a:lstStyle/>
          <a:p>
            <a:pPr algn="l">
              <a:defRPr sz="2800" b="0">
                <a:solidFill>
                  <a:srgbClr val="58A6FF"/>
                </a:solidFill>
                <a:latin typeface="Segoe UI Light"/>
              </a:defRPr>
            </a:pPr>
            <a:r>
              <a:t>Ferramentas de Criacao de Conteudo</a:t>
            </a:r>
          </a:p>
        </p:txBody>
      </p:sp>
      <p:sp>
        <p:nvSpPr>
          <p:cNvPr id="6" name="Rectangle 5"/>
          <p:cNvSpPr/>
          <p:nvPr/>
        </p:nvSpPr>
        <p:spPr>
          <a:xfrm>
            <a:off x="1097280" y="4937760"/>
            <a:ext cx="274320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5212080"/>
            <a:ext cx="9144000" cy="457200"/>
          </a:xfrm>
          <a:prstGeom prst="rect">
            <a:avLst/>
          </a:prstGeom>
          <a:noFill/>
        </p:spPr>
        <p:txBody>
          <a:bodyPr wrap="square">
            <a:spAutoFit/>
          </a:bodyPr>
          <a:lstStyle/>
          <a:p>
            <a:pPr algn="l">
              <a:defRPr sz="1600" b="0">
                <a:solidFill>
                  <a:srgbClr val="6E7681"/>
                </a:solidFill>
                <a:latin typeface="Segoe UI Light"/>
              </a:defRPr>
            </a:pPr>
            <a:r>
              <a:t>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Agenda da Aula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645920"/>
            <a:ext cx="2560320" cy="38404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920240"/>
            <a:ext cx="2011680" cy="731520"/>
          </a:xfrm>
          <a:prstGeom prst="rect">
            <a:avLst/>
          </a:prstGeom>
          <a:noFill/>
        </p:spPr>
        <p:txBody>
          <a:bodyPr wrap="square">
            <a:spAutoFit/>
          </a:bodyPr>
          <a:lstStyle/>
          <a:p>
            <a:pPr algn="l">
              <a:defRPr sz="4200" b="1">
                <a:solidFill>
                  <a:srgbClr val="58A6FF"/>
                </a:solidFill>
                <a:latin typeface="Segoe UI Light"/>
              </a:defRPr>
            </a:pPr>
            <a:r>
              <a:t>01</a:t>
            </a:r>
          </a:p>
        </p:txBody>
      </p:sp>
      <p:sp>
        <p:nvSpPr>
          <p:cNvPr id="6" name="TextBox 5"/>
          <p:cNvSpPr txBox="1"/>
          <p:nvPr/>
        </p:nvSpPr>
        <p:spPr>
          <a:xfrm>
            <a:off x="1005840" y="2651760"/>
            <a:ext cx="2011680" cy="548640"/>
          </a:xfrm>
          <a:prstGeom prst="rect">
            <a:avLst/>
          </a:prstGeom>
          <a:noFill/>
        </p:spPr>
        <p:txBody>
          <a:bodyPr wrap="square">
            <a:spAutoFit/>
          </a:bodyPr>
          <a:lstStyle/>
          <a:p>
            <a:pPr algn="l">
              <a:defRPr sz="1800" b="1">
                <a:solidFill>
                  <a:srgbClr val="FFFFFF"/>
                </a:solidFill>
                <a:latin typeface="Segoe UI"/>
              </a:defRPr>
            </a:pPr>
            <a:r>
              <a:t>Fundamentos de XR</a:t>
            </a:r>
          </a:p>
        </p:txBody>
      </p:sp>
      <p:sp>
        <p:nvSpPr>
          <p:cNvPr id="7" name="TextBox 6"/>
          <p:cNvSpPr txBox="1"/>
          <p:nvPr/>
        </p:nvSpPr>
        <p:spPr>
          <a:xfrm>
            <a:off x="1005840" y="3291840"/>
            <a:ext cx="2011680" cy="1097280"/>
          </a:xfrm>
          <a:prstGeom prst="rect">
            <a:avLst/>
          </a:prstGeom>
          <a:noFill/>
        </p:spPr>
        <p:txBody>
          <a:bodyPr wrap="square">
            <a:spAutoFit/>
          </a:bodyPr>
          <a:lstStyle/>
          <a:p>
            <a:pPr algn="l">
              <a:defRPr sz="1400" b="0">
                <a:solidFill>
                  <a:srgbClr val="B0B8C4"/>
                </a:solidFill>
                <a:latin typeface="Segoe UI"/>
              </a:defRPr>
            </a:pPr>
            <a:r>
              <a:t>Imersao, cybersickness, requisitos</a:t>
            </a:r>
            <a:br/>
            <a:r>
              <a:t>tecnicos, exemplos clinicos</a:t>
            </a:r>
          </a:p>
        </p:txBody>
      </p:sp>
      <p:sp>
        <p:nvSpPr>
          <p:cNvPr id="8" name="TextBox 7"/>
          <p:cNvSpPr txBox="1"/>
          <p:nvPr/>
        </p:nvSpPr>
        <p:spPr>
          <a:xfrm>
            <a:off x="1005840" y="4846320"/>
            <a:ext cx="2011680" cy="365760"/>
          </a:xfrm>
          <a:prstGeom prst="rect">
            <a:avLst/>
          </a:prstGeom>
          <a:noFill/>
        </p:spPr>
        <p:txBody>
          <a:bodyPr wrap="square">
            <a:spAutoFit/>
          </a:bodyPr>
          <a:lstStyle/>
          <a:p>
            <a:pPr algn="l">
              <a:defRPr sz="1400" b="1">
                <a:solidFill>
                  <a:srgbClr val="58A6FF"/>
                </a:solidFill>
                <a:latin typeface="Segoe UI"/>
              </a:defRPr>
            </a:pPr>
            <a:r>
              <a:t>40 min</a:t>
            </a:r>
          </a:p>
        </p:txBody>
      </p:sp>
      <p:sp>
        <p:nvSpPr>
          <p:cNvPr id="9" name="Rounded Rectangle 8"/>
          <p:cNvSpPr/>
          <p:nvPr/>
        </p:nvSpPr>
        <p:spPr>
          <a:xfrm>
            <a:off x="3520439" y="1645920"/>
            <a:ext cx="2560320" cy="384048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94759" y="1920240"/>
            <a:ext cx="2011680" cy="731520"/>
          </a:xfrm>
          <a:prstGeom prst="rect">
            <a:avLst/>
          </a:prstGeom>
          <a:noFill/>
        </p:spPr>
        <p:txBody>
          <a:bodyPr wrap="square">
            <a:spAutoFit/>
          </a:bodyPr>
          <a:lstStyle/>
          <a:p>
            <a:pPr algn="l">
              <a:defRPr sz="4200" b="1">
                <a:solidFill>
                  <a:srgbClr val="3FB950"/>
                </a:solidFill>
                <a:latin typeface="Segoe UI Light"/>
              </a:defRPr>
            </a:pPr>
            <a:r>
              <a:t>02</a:t>
            </a:r>
          </a:p>
        </p:txBody>
      </p:sp>
      <p:sp>
        <p:nvSpPr>
          <p:cNvPr id="11" name="TextBox 10"/>
          <p:cNvSpPr txBox="1"/>
          <p:nvPr/>
        </p:nvSpPr>
        <p:spPr>
          <a:xfrm>
            <a:off x="3794759" y="2651760"/>
            <a:ext cx="2011680" cy="548640"/>
          </a:xfrm>
          <a:prstGeom prst="rect">
            <a:avLst/>
          </a:prstGeom>
          <a:noFill/>
        </p:spPr>
        <p:txBody>
          <a:bodyPr wrap="square">
            <a:spAutoFit/>
          </a:bodyPr>
          <a:lstStyle/>
          <a:p>
            <a:pPr algn="l">
              <a:defRPr sz="1800" b="1">
                <a:solidFill>
                  <a:srgbClr val="FFFFFF"/>
                </a:solidFill>
                <a:latin typeface="Segoe UI"/>
              </a:defRPr>
            </a:pPr>
            <a:r>
              <a:t>Ferramentas de Conteudo</a:t>
            </a:r>
          </a:p>
        </p:txBody>
      </p:sp>
      <p:sp>
        <p:nvSpPr>
          <p:cNvPr id="12" name="TextBox 11"/>
          <p:cNvSpPr txBox="1"/>
          <p:nvPr/>
        </p:nvSpPr>
        <p:spPr>
          <a:xfrm>
            <a:off x="3794759" y="3291840"/>
            <a:ext cx="2011680" cy="1097280"/>
          </a:xfrm>
          <a:prstGeom prst="rect">
            <a:avLst/>
          </a:prstGeom>
          <a:noFill/>
        </p:spPr>
        <p:txBody>
          <a:bodyPr wrap="square">
            <a:spAutoFit/>
          </a:bodyPr>
          <a:lstStyle/>
          <a:p>
            <a:pPr algn="l">
              <a:defRPr sz="1400" b="0">
                <a:solidFill>
                  <a:srgbClr val="B0B8C4"/>
                </a:solidFill>
                <a:latin typeface="Segoe UI"/>
              </a:defRPr>
            </a:pPr>
            <a:r>
              <a:t>Som, imagem 360, video, 3D,</a:t>
            </a:r>
            <a:br/>
            <a:r>
              <a:t>Gaussian Splatting, Kiri Engine</a:t>
            </a:r>
          </a:p>
        </p:txBody>
      </p:sp>
      <p:sp>
        <p:nvSpPr>
          <p:cNvPr id="13" name="TextBox 12"/>
          <p:cNvSpPr txBox="1"/>
          <p:nvPr/>
        </p:nvSpPr>
        <p:spPr>
          <a:xfrm>
            <a:off x="3794759" y="4846320"/>
            <a:ext cx="2011680" cy="365760"/>
          </a:xfrm>
          <a:prstGeom prst="rect">
            <a:avLst/>
          </a:prstGeom>
          <a:noFill/>
        </p:spPr>
        <p:txBody>
          <a:bodyPr wrap="square">
            <a:spAutoFit/>
          </a:bodyPr>
          <a:lstStyle/>
          <a:p>
            <a:pPr algn="l">
              <a:defRPr sz="1400" b="1">
                <a:solidFill>
                  <a:srgbClr val="3FB950"/>
                </a:solidFill>
                <a:latin typeface="Segoe UI"/>
              </a:defRPr>
            </a:pPr>
            <a:r>
              <a:t>40 min</a:t>
            </a:r>
          </a:p>
        </p:txBody>
      </p:sp>
      <p:sp>
        <p:nvSpPr>
          <p:cNvPr id="14" name="Rounded Rectangle 13"/>
          <p:cNvSpPr/>
          <p:nvPr/>
        </p:nvSpPr>
        <p:spPr>
          <a:xfrm>
            <a:off x="6309359" y="1645920"/>
            <a:ext cx="2560320" cy="384048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79" y="1920240"/>
            <a:ext cx="2011680" cy="731520"/>
          </a:xfrm>
          <a:prstGeom prst="rect">
            <a:avLst/>
          </a:prstGeom>
          <a:noFill/>
        </p:spPr>
        <p:txBody>
          <a:bodyPr wrap="square">
            <a:spAutoFit/>
          </a:bodyPr>
          <a:lstStyle/>
          <a:p>
            <a:pPr algn="l">
              <a:defRPr sz="4200" b="1">
                <a:solidFill>
                  <a:srgbClr val="F78166"/>
                </a:solidFill>
                <a:latin typeface="Segoe UI Light"/>
              </a:defRPr>
            </a:pPr>
            <a:r>
              <a:t>03</a:t>
            </a:r>
          </a:p>
        </p:txBody>
      </p:sp>
      <p:sp>
        <p:nvSpPr>
          <p:cNvPr id="16" name="TextBox 15"/>
          <p:cNvSpPr txBox="1"/>
          <p:nvPr/>
        </p:nvSpPr>
        <p:spPr>
          <a:xfrm>
            <a:off x="6583679" y="2651760"/>
            <a:ext cx="2011680" cy="548640"/>
          </a:xfrm>
          <a:prstGeom prst="rect">
            <a:avLst/>
          </a:prstGeom>
          <a:noFill/>
        </p:spPr>
        <p:txBody>
          <a:bodyPr wrap="square">
            <a:spAutoFit/>
          </a:bodyPr>
          <a:lstStyle/>
          <a:p>
            <a:pPr algn="l">
              <a:defRPr sz="1800" b="1">
                <a:solidFill>
                  <a:srgbClr val="FFFFFF"/>
                </a:solidFill>
                <a:latin typeface="Segoe UI"/>
              </a:defRPr>
            </a:pPr>
            <a:r>
              <a:t>Interatividade</a:t>
            </a:r>
          </a:p>
        </p:txBody>
      </p:sp>
      <p:sp>
        <p:nvSpPr>
          <p:cNvPr id="17" name="TextBox 16"/>
          <p:cNvSpPr txBox="1"/>
          <p:nvPr/>
        </p:nvSpPr>
        <p:spPr>
          <a:xfrm>
            <a:off x="6583679" y="3291840"/>
            <a:ext cx="2011680" cy="1097280"/>
          </a:xfrm>
          <a:prstGeom prst="rect">
            <a:avLst/>
          </a:prstGeom>
          <a:noFill/>
        </p:spPr>
        <p:txBody>
          <a:bodyPr wrap="square">
            <a:spAutoFit/>
          </a:bodyPr>
          <a:lstStyle/>
          <a:p>
            <a:pPr algn="l">
              <a:defRPr sz="1400" b="0">
                <a:solidFill>
                  <a:srgbClr val="B0B8C4"/>
                </a:solidFill>
                <a:latin typeface="Segoe UI"/>
              </a:defRPr>
            </a:pPr>
            <a:r>
              <a:t>Game Engines, Unity, Unreal,</a:t>
            </a:r>
            <a:br/>
            <a:r>
              <a:t>A-Frame, Inspector</a:t>
            </a:r>
          </a:p>
        </p:txBody>
      </p:sp>
      <p:sp>
        <p:nvSpPr>
          <p:cNvPr id="18" name="TextBox 17"/>
          <p:cNvSpPr txBox="1"/>
          <p:nvPr/>
        </p:nvSpPr>
        <p:spPr>
          <a:xfrm>
            <a:off x="6583679" y="4846320"/>
            <a:ext cx="2011680" cy="365760"/>
          </a:xfrm>
          <a:prstGeom prst="rect">
            <a:avLst/>
          </a:prstGeom>
          <a:noFill/>
        </p:spPr>
        <p:txBody>
          <a:bodyPr wrap="square">
            <a:spAutoFit/>
          </a:bodyPr>
          <a:lstStyle/>
          <a:p>
            <a:pPr algn="l">
              <a:defRPr sz="1400" b="1">
                <a:solidFill>
                  <a:srgbClr val="F78166"/>
                </a:solidFill>
                <a:latin typeface="Segoe UI"/>
              </a:defRPr>
            </a:pPr>
            <a:r>
              <a:t>25 min</a:t>
            </a:r>
          </a:p>
        </p:txBody>
      </p:sp>
      <p:sp>
        <p:nvSpPr>
          <p:cNvPr id="19" name="Rounded Rectangle 18"/>
          <p:cNvSpPr/>
          <p:nvPr/>
        </p:nvSpPr>
        <p:spPr>
          <a:xfrm>
            <a:off x="9098280" y="1645920"/>
            <a:ext cx="2560320" cy="384048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72600" y="1920240"/>
            <a:ext cx="2011680" cy="731520"/>
          </a:xfrm>
          <a:prstGeom prst="rect">
            <a:avLst/>
          </a:prstGeom>
          <a:noFill/>
        </p:spPr>
        <p:txBody>
          <a:bodyPr wrap="square">
            <a:spAutoFit/>
          </a:bodyPr>
          <a:lstStyle/>
          <a:p>
            <a:pPr algn="l">
              <a:defRPr sz="4200" b="1">
                <a:solidFill>
                  <a:srgbClr val="D2A8FF"/>
                </a:solidFill>
                <a:latin typeface="Segoe UI Light"/>
              </a:defRPr>
            </a:pPr>
            <a:r>
              <a:t>04</a:t>
            </a:r>
          </a:p>
        </p:txBody>
      </p:sp>
      <p:sp>
        <p:nvSpPr>
          <p:cNvPr id="21" name="TextBox 20"/>
          <p:cNvSpPr txBox="1"/>
          <p:nvPr/>
        </p:nvSpPr>
        <p:spPr>
          <a:xfrm>
            <a:off x="9372600" y="2651760"/>
            <a:ext cx="2011680" cy="548640"/>
          </a:xfrm>
          <a:prstGeom prst="rect">
            <a:avLst/>
          </a:prstGeom>
          <a:noFill/>
        </p:spPr>
        <p:txBody>
          <a:bodyPr wrap="square">
            <a:spAutoFit/>
          </a:bodyPr>
          <a:lstStyle/>
          <a:p>
            <a:pPr algn="l">
              <a:defRPr sz="1800" b="1">
                <a:solidFill>
                  <a:srgbClr val="FFFFFF"/>
                </a:solidFill>
                <a:latin typeface="Segoe UI"/>
              </a:defRPr>
            </a:pPr>
            <a:r>
              <a:t>Exercicio Pratico</a:t>
            </a:r>
          </a:p>
        </p:txBody>
      </p:sp>
      <p:sp>
        <p:nvSpPr>
          <p:cNvPr id="22" name="TextBox 21"/>
          <p:cNvSpPr txBox="1"/>
          <p:nvPr/>
        </p:nvSpPr>
        <p:spPr>
          <a:xfrm>
            <a:off x="9372600" y="3291840"/>
            <a:ext cx="2011680" cy="1097280"/>
          </a:xfrm>
          <a:prstGeom prst="rect">
            <a:avLst/>
          </a:prstGeom>
          <a:noFill/>
        </p:spPr>
        <p:txBody>
          <a:bodyPr wrap="square">
            <a:spAutoFit/>
          </a:bodyPr>
          <a:lstStyle/>
          <a:p>
            <a:pPr algn="l">
              <a:defRPr sz="1400" b="0">
                <a:solidFill>
                  <a:srgbClr val="B0B8C4"/>
                </a:solidFill>
                <a:latin typeface="Segoe UI"/>
              </a:defRPr>
            </a:pPr>
            <a:r>
              <a:t>Codigo A-Frame guiado,</a:t>
            </a:r>
            <a:br/>
            <a:r>
              <a:t>testar em VR no Quest</a:t>
            </a:r>
          </a:p>
        </p:txBody>
      </p:sp>
      <p:sp>
        <p:nvSpPr>
          <p:cNvPr id="23" name="TextBox 22"/>
          <p:cNvSpPr txBox="1"/>
          <p:nvPr/>
        </p:nvSpPr>
        <p:spPr>
          <a:xfrm>
            <a:off x="9372600" y="4846320"/>
            <a:ext cx="2011680" cy="365760"/>
          </a:xfrm>
          <a:prstGeom prst="rect">
            <a:avLst/>
          </a:prstGeom>
          <a:noFill/>
        </p:spPr>
        <p:txBody>
          <a:bodyPr wrap="square">
            <a:spAutoFit/>
          </a:bodyPr>
          <a:lstStyle/>
          <a:p>
            <a:pPr algn="l">
              <a:defRPr sz="1400" b="1">
                <a:solidFill>
                  <a:srgbClr val="D2A8FF"/>
                </a:solidFill>
                <a:latin typeface="Segoe UI"/>
              </a:defRPr>
            </a:pPr>
            <a:r>
              <a:t>50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828800" cy="1828800"/>
          </a:xfrm>
          <a:prstGeom prst="rect">
            <a:avLst/>
          </a:prstGeom>
          <a:noFill/>
        </p:spPr>
        <p:txBody>
          <a:bodyPr wrap="square">
            <a:spAutoFit/>
          </a:bodyPr>
          <a:lstStyle/>
          <a:p>
            <a:pPr algn="l">
              <a:defRPr sz="9600" b="1">
                <a:solidFill>
                  <a:srgbClr val="58A6FF"/>
                </a:solidFill>
                <a:latin typeface="Segoe UI Light"/>
              </a:defRPr>
            </a:pPr>
            <a:r>
              <a:t>01</a:t>
            </a:r>
          </a:p>
        </p:txBody>
      </p:sp>
      <p:sp>
        <p:nvSpPr>
          <p:cNvPr id="3" name="Rectangle 2"/>
          <p:cNvSpPr/>
          <p:nvPr/>
        </p:nvSpPr>
        <p:spPr>
          <a:xfrm>
            <a:off x="914400" y="3383280"/>
            <a:ext cx="137160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058400" cy="1097280"/>
          </a:xfrm>
          <a:prstGeom prst="rect">
            <a:avLst/>
          </a:prstGeom>
          <a:noFill/>
        </p:spPr>
        <p:txBody>
          <a:bodyPr wrap="square">
            <a:spAutoFit/>
          </a:bodyPr>
          <a:lstStyle/>
          <a:p>
            <a:pPr algn="l">
              <a:defRPr sz="3600" b="1">
                <a:solidFill>
                  <a:srgbClr val="FFFFFF"/>
                </a:solidFill>
                <a:latin typeface="Segoe UI Semibold"/>
              </a:defRPr>
            </a:pPr>
            <a:r>
              <a:t>Fundamentos de XR e Imersao</a:t>
            </a:r>
          </a:p>
        </p:txBody>
      </p:sp>
      <p:sp>
        <p:nvSpPr>
          <p:cNvPr id="5" name="TextBox 4"/>
          <p:cNvSpPr txBox="1"/>
          <p:nvPr/>
        </p:nvSpPr>
        <p:spPr>
          <a:xfrm>
            <a:off x="914400" y="4754880"/>
            <a:ext cx="9144000" cy="914400"/>
          </a:xfrm>
          <a:prstGeom prst="rect">
            <a:avLst/>
          </a:prstGeom>
          <a:noFill/>
        </p:spPr>
        <p:txBody>
          <a:bodyPr wrap="square">
            <a:spAutoFit/>
          </a:bodyPr>
          <a:lstStyle/>
          <a:p>
            <a:pPr algn="l">
              <a:defRPr sz="2000" b="0">
                <a:solidFill>
                  <a:srgbClr val="B0B8C4"/>
                </a:solidFill>
                <a:latin typeface="Segoe UI"/>
              </a:defRPr>
            </a:pPr>
            <a:r>
              <a:t>Realidade Estendida, ciencia da imersao, requisitos tecnicos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O que e Realidade Estendida (XR)?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6400800" cy="3200400"/>
          </a:xfrm>
          <a:prstGeom prst="rect">
            <a:avLst/>
          </a:prstGeom>
          <a:noFill/>
        </p:spPr>
        <p:txBody>
          <a:bodyPr wrap="square">
            <a:spAutoFit/>
          </a:bodyPr>
          <a:lstStyle/>
          <a:p>
            <a:pPr algn="l">
              <a:defRPr sz="1700" b="0">
                <a:solidFill>
                  <a:srgbClr val="B0B8C4"/>
                </a:solidFill>
                <a:latin typeface="Segoe UI"/>
              </a:defRPr>
            </a:pPr>
            <a:r>
              <a:t>• AR (Augmented Reality / Realidade Aumentada) — sobrepoe informacao digital ao mundo real</a:t>
            </a:r>
          </a:p>
          <a:p>
            <a:pPr algn="l">
              <a:spcBef>
                <a:spcPts val="800"/>
              </a:spcBef>
              <a:defRPr sz="1700" b="0" i="0">
                <a:solidFill>
                  <a:srgbClr val="B0B8C4"/>
                </a:solidFill>
                <a:latin typeface="Segoe UI"/>
              </a:defRPr>
            </a:pPr>
            <a:r>
              <a:t>• MR (Mixed Reality / Realidade Mista) — objetos digitais interagem com o mundo real</a:t>
            </a:r>
          </a:p>
          <a:p>
            <a:pPr algn="l">
              <a:spcBef>
                <a:spcPts val="800"/>
              </a:spcBef>
              <a:defRPr sz="1700" b="0" i="0">
                <a:solidFill>
                  <a:srgbClr val="B0B8C4"/>
                </a:solidFill>
                <a:latin typeface="Segoe UI"/>
              </a:defRPr>
            </a:pPr>
            <a:r>
              <a:t>• VR (Virtual Reality / Realidade Virtual) — substitui totalmente o ambiente por um digital</a:t>
            </a:r>
          </a:p>
          <a:p>
            <a:pPr algn="l">
              <a:spcBef>
                <a:spcPts val="800"/>
              </a:spcBef>
              <a:defRPr sz="1700" b="0" i="0">
                <a:solidFill>
                  <a:srgbClr val="B0B8C4"/>
                </a:solidFill>
                <a:latin typeface="Segoe UI"/>
              </a:defRPr>
            </a:pPr>
            <a:r>
              <a:t>• XR (Extended Reality / Realidade Estendida) — termo guarda-chuva: AR + MR + VR</a:t>
            </a:r>
          </a:p>
        </p:txBody>
      </p:sp>
      <p:sp>
        <p:nvSpPr>
          <p:cNvPr id="5" name="Rounded Rectangle 4"/>
          <p:cNvSpPr/>
          <p:nvPr/>
        </p:nvSpPr>
        <p:spPr>
          <a:xfrm>
            <a:off x="7772400" y="1463040"/>
            <a:ext cx="3840480" cy="45720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0" y="1737360"/>
            <a:ext cx="3200400" cy="365760"/>
          </a:xfrm>
          <a:prstGeom prst="rect">
            <a:avLst/>
          </a:prstGeom>
          <a:noFill/>
        </p:spPr>
        <p:txBody>
          <a:bodyPr wrap="square">
            <a:spAutoFit/>
          </a:bodyPr>
          <a:lstStyle/>
          <a:p>
            <a:pPr algn="l">
              <a:defRPr sz="2000" b="1">
                <a:solidFill>
                  <a:srgbClr val="6E7681"/>
                </a:solidFill>
                <a:latin typeface="Segoe UI"/>
              </a:defRPr>
            </a:pPr>
            <a:r>
              <a:t>Mundo Real</a:t>
            </a:r>
          </a:p>
        </p:txBody>
      </p:sp>
      <p:sp>
        <p:nvSpPr>
          <p:cNvPr id="7" name="TextBox 6"/>
          <p:cNvSpPr txBox="1"/>
          <p:nvPr/>
        </p:nvSpPr>
        <p:spPr>
          <a:xfrm>
            <a:off x="8229600" y="2057400"/>
            <a:ext cx="3200400" cy="365760"/>
          </a:xfrm>
          <a:prstGeom prst="rect">
            <a:avLst/>
          </a:prstGeom>
          <a:noFill/>
        </p:spPr>
        <p:txBody>
          <a:bodyPr wrap="square">
            <a:spAutoFit/>
          </a:bodyPr>
          <a:lstStyle/>
          <a:p>
            <a:pPr algn="l">
              <a:defRPr sz="1400" b="0">
                <a:solidFill>
                  <a:srgbClr val="B0B8C4"/>
                </a:solidFill>
                <a:latin typeface="Segoe UI"/>
              </a:defRPr>
            </a:pPr>
            <a:r>
              <a:t>100% fisico</a:t>
            </a:r>
          </a:p>
        </p:txBody>
      </p:sp>
      <p:sp>
        <p:nvSpPr>
          <p:cNvPr id="8" name="TextBox 7"/>
          <p:cNvSpPr txBox="1"/>
          <p:nvPr/>
        </p:nvSpPr>
        <p:spPr>
          <a:xfrm>
            <a:off x="8229600" y="2743200"/>
            <a:ext cx="3200400" cy="365760"/>
          </a:xfrm>
          <a:prstGeom prst="rect">
            <a:avLst/>
          </a:prstGeom>
          <a:noFill/>
        </p:spPr>
        <p:txBody>
          <a:bodyPr wrap="square">
            <a:spAutoFit/>
          </a:bodyPr>
          <a:lstStyle/>
          <a:p>
            <a:pPr algn="l">
              <a:defRPr sz="2000" b="1">
                <a:solidFill>
                  <a:srgbClr val="3FB950"/>
                </a:solidFill>
                <a:latin typeface="Segoe UI"/>
              </a:defRPr>
            </a:pPr>
            <a:r>
              <a:t>AR</a:t>
            </a:r>
          </a:p>
        </p:txBody>
      </p:sp>
      <p:sp>
        <p:nvSpPr>
          <p:cNvPr id="9" name="TextBox 8"/>
          <p:cNvSpPr txBox="1"/>
          <p:nvPr/>
        </p:nvSpPr>
        <p:spPr>
          <a:xfrm>
            <a:off x="8229600" y="3063240"/>
            <a:ext cx="3200400" cy="365760"/>
          </a:xfrm>
          <a:prstGeom prst="rect">
            <a:avLst/>
          </a:prstGeom>
          <a:noFill/>
        </p:spPr>
        <p:txBody>
          <a:bodyPr wrap="square">
            <a:spAutoFit/>
          </a:bodyPr>
          <a:lstStyle/>
          <a:p>
            <a:pPr algn="l">
              <a:defRPr sz="1400" b="0">
                <a:solidFill>
                  <a:srgbClr val="B0B8C4"/>
                </a:solidFill>
                <a:latin typeface="Segoe UI"/>
              </a:defRPr>
            </a:pPr>
            <a:r>
              <a:t>Digital SOBRE real</a:t>
            </a:r>
          </a:p>
        </p:txBody>
      </p:sp>
      <p:sp>
        <p:nvSpPr>
          <p:cNvPr id="10" name="TextBox 9"/>
          <p:cNvSpPr txBox="1"/>
          <p:nvPr/>
        </p:nvSpPr>
        <p:spPr>
          <a:xfrm>
            <a:off x="8229600" y="3749039"/>
            <a:ext cx="3200400" cy="365760"/>
          </a:xfrm>
          <a:prstGeom prst="rect">
            <a:avLst/>
          </a:prstGeom>
          <a:noFill/>
        </p:spPr>
        <p:txBody>
          <a:bodyPr wrap="square">
            <a:spAutoFit/>
          </a:bodyPr>
          <a:lstStyle/>
          <a:p>
            <a:pPr algn="l">
              <a:defRPr sz="2000" b="1">
                <a:solidFill>
                  <a:srgbClr val="F78166"/>
                </a:solidFill>
                <a:latin typeface="Segoe UI"/>
              </a:defRPr>
            </a:pPr>
            <a:r>
              <a:t>MR</a:t>
            </a:r>
          </a:p>
        </p:txBody>
      </p:sp>
      <p:sp>
        <p:nvSpPr>
          <p:cNvPr id="11" name="TextBox 10"/>
          <p:cNvSpPr txBox="1"/>
          <p:nvPr/>
        </p:nvSpPr>
        <p:spPr>
          <a:xfrm>
            <a:off x="8229600" y="4069079"/>
            <a:ext cx="3200400" cy="365760"/>
          </a:xfrm>
          <a:prstGeom prst="rect">
            <a:avLst/>
          </a:prstGeom>
          <a:noFill/>
        </p:spPr>
        <p:txBody>
          <a:bodyPr wrap="square">
            <a:spAutoFit/>
          </a:bodyPr>
          <a:lstStyle/>
          <a:p>
            <a:pPr algn="l">
              <a:defRPr sz="1400" b="0">
                <a:solidFill>
                  <a:srgbClr val="B0B8C4"/>
                </a:solidFill>
                <a:latin typeface="Segoe UI"/>
              </a:defRPr>
            </a:pPr>
            <a:r>
              <a:t>Digital + real INTERAGEM</a:t>
            </a:r>
          </a:p>
        </p:txBody>
      </p:sp>
      <p:sp>
        <p:nvSpPr>
          <p:cNvPr id="12" name="TextBox 11"/>
          <p:cNvSpPr txBox="1"/>
          <p:nvPr/>
        </p:nvSpPr>
        <p:spPr>
          <a:xfrm>
            <a:off x="8229600" y="4754880"/>
            <a:ext cx="3200400" cy="365760"/>
          </a:xfrm>
          <a:prstGeom prst="rect">
            <a:avLst/>
          </a:prstGeom>
          <a:noFill/>
        </p:spPr>
        <p:txBody>
          <a:bodyPr wrap="square">
            <a:spAutoFit/>
          </a:bodyPr>
          <a:lstStyle/>
          <a:p>
            <a:pPr algn="l">
              <a:defRPr sz="2000" b="1">
                <a:solidFill>
                  <a:srgbClr val="58A6FF"/>
                </a:solidFill>
                <a:latin typeface="Segoe UI"/>
              </a:defRPr>
            </a:pPr>
            <a:r>
              <a:t>VR</a:t>
            </a:r>
          </a:p>
        </p:txBody>
      </p:sp>
      <p:sp>
        <p:nvSpPr>
          <p:cNvPr id="13" name="TextBox 12"/>
          <p:cNvSpPr txBox="1"/>
          <p:nvPr/>
        </p:nvSpPr>
        <p:spPr>
          <a:xfrm>
            <a:off x="8229600" y="5074920"/>
            <a:ext cx="3200400" cy="365760"/>
          </a:xfrm>
          <a:prstGeom prst="rect">
            <a:avLst/>
          </a:prstGeom>
          <a:noFill/>
        </p:spPr>
        <p:txBody>
          <a:bodyPr wrap="square">
            <a:spAutoFit/>
          </a:bodyPr>
          <a:lstStyle/>
          <a:p>
            <a:pPr algn="l">
              <a:defRPr sz="1400" b="0">
                <a:solidFill>
                  <a:srgbClr val="B0B8C4"/>
                </a:solidFill>
                <a:latin typeface="Segoe UI"/>
              </a:defRPr>
            </a:pPr>
            <a:r>
              <a:t>100% digital (imersao total)</a:t>
            </a:r>
          </a:p>
        </p:txBody>
      </p:sp>
      <p:sp>
        <p:nvSpPr>
          <p:cNvPr id="14" name="TextBox 13"/>
          <p:cNvSpPr txBox="1"/>
          <p:nvPr/>
        </p:nvSpPr>
        <p:spPr>
          <a:xfrm>
            <a:off x="731520" y="5029200"/>
            <a:ext cx="6400800" cy="1371600"/>
          </a:xfrm>
          <a:prstGeom prst="rect">
            <a:avLst/>
          </a:prstGeom>
          <a:noFill/>
        </p:spPr>
        <p:txBody>
          <a:bodyPr wrap="square">
            <a:spAutoFit/>
          </a:bodyPr>
          <a:lstStyle/>
          <a:p>
            <a:pPr algn="l">
              <a:defRPr sz="1400" b="1">
                <a:solidFill>
                  <a:srgbClr val="58A6FF"/>
                </a:solidFill>
                <a:latin typeface="Segoe UI"/>
              </a:defRPr>
            </a:pPr>
            <a:r>
              <a:t>Definicao tecnica (IEEE):</a:t>
            </a:r>
          </a:p>
          <a:p>
            <a:pPr algn="l">
              <a:spcBef>
                <a:spcPts val="600"/>
              </a:spcBef>
              <a:defRPr sz="1200" b="0" i="1">
                <a:solidFill>
                  <a:srgbClr val="555F6B"/>
                </a:solidFill>
                <a:latin typeface="Segoe UI"/>
              </a:defRPr>
            </a:pPr>
            <a:r>
              <a:t>"XR refers to all real-and-virtual combined environments and human-machine</a:t>
            </a:r>
          </a:p>
          <a:p>
            <a:pPr algn="l">
              <a:spcBef>
                <a:spcPts val="600"/>
              </a:spcBef>
              <a:defRPr sz="1200" b="0" i="1">
                <a:solidFill>
                  <a:srgbClr val="555F6B"/>
                </a:solidFill>
                <a:latin typeface="Segoe UI"/>
              </a:defRPr>
            </a:pPr>
            <a:r>
              <a:t>interactions generated by computer technology and wearables." — IEEE Std 2048-2020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Ferramentas AR e VR Faceis de Usar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5303520" cy="47548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4846320" cy="457200"/>
          </a:xfrm>
          <a:prstGeom prst="rect">
            <a:avLst/>
          </a:prstGeom>
          <a:noFill/>
        </p:spPr>
        <p:txBody>
          <a:bodyPr wrap="square">
            <a:spAutoFit/>
          </a:bodyPr>
          <a:lstStyle/>
          <a:p>
            <a:pPr algn="l">
              <a:defRPr sz="2000" b="1">
                <a:solidFill>
                  <a:srgbClr val="58A6FF"/>
                </a:solidFill>
                <a:latin typeface="Segoe UI"/>
              </a:defRPr>
            </a:pPr>
            <a:r>
              <a:t>AR — Realidade Aumentada</a:t>
            </a:r>
          </a:p>
          <a:p>
            <a:pPr algn="l">
              <a:spcBef>
                <a:spcPts val="500"/>
              </a:spcBef>
              <a:defRPr sz="1400" b="0" i="0">
                <a:solidFill>
                  <a:srgbClr val="B0B8C4"/>
                </a:solidFill>
                <a:latin typeface="Segoe UI"/>
              </a:defRPr>
            </a:pPr>
            <a:r>
              <a:t>• Adobe Aero — criar AR sem codigo (drag &amp; drop)</a:t>
            </a:r>
          </a:p>
          <a:p>
            <a:pPr algn="l">
              <a:spcBef>
                <a:spcPts val="500"/>
              </a:spcBef>
              <a:defRPr sz="1400" b="0" i="0">
                <a:solidFill>
                  <a:srgbClr val="B0B8C4"/>
                </a:solidFill>
                <a:latin typeface="Segoe UI"/>
              </a:defRPr>
            </a:pPr>
            <a:r>
              <a:t>• Zappar — AR web-based, criacao visual</a:t>
            </a:r>
          </a:p>
          <a:p>
            <a:pPr algn="l">
              <a:spcBef>
                <a:spcPts val="500"/>
              </a:spcBef>
              <a:defRPr sz="1400" b="0" i="0">
                <a:solidFill>
                  <a:srgbClr val="B0B8C4"/>
                </a:solidFill>
                <a:latin typeface="Segoe UI"/>
              </a:defRPr>
            </a:pPr>
            <a:r>
              <a:t>• Assemblr Studio — AR educativo, interface simples</a:t>
            </a:r>
          </a:p>
          <a:p>
            <a:pPr algn="l">
              <a:spcBef>
                <a:spcPts val="500"/>
              </a:spcBef>
              <a:defRPr sz="1400" b="0" i="0">
                <a:solidFill>
                  <a:srgbClr val="B0B8C4"/>
                </a:solidFill>
                <a:latin typeface="Segoe UI"/>
              </a:defRPr>
            </a:pPr>
            <a:r>
              <a:t>• Reality Composer (Apple) — AR para iOS nativo</a:t>
            </a:r>
          </a:p>
          <a:p>
            <a:pPr algn="l">
              <a:spcBef>
                <a:spcPts val="500"/>
              </a:spcBef>
              <a:defRPr sz="1400" b="0" i="0">
                <a:solidFill>
                  <a:srgbClr val="B0B8C4"/>
                </a:solidFill>
                <a:latin typeface="Segoe UI"/>
              </a:defRPr>
            </a:pPr>
            <a:r>
              <a:t>• Instagram / TikTok Filters — AR social (Spark AR, Lens Studio)</a:t>
            </a:r>
          </a:p>
          <a:p>
            <a:pPr algn="l">
              <a:spcBef>
                <a:spcPts val="500"/>
              </a:spcBef>
              <a:defRPr sz="1400" b="0" i="0">
                <a:solidFill>
                  <a:srgbClr val="B0B8C4"/>
                </a:solidFill>
                <a:latin typeface="Segoe UI"/>
              </a:defRPr>
            </a:pPr>
            <a:r>
              <a:t>• Google ARCore Geospatial — AR com geolocalizacao</a:t>
            </a:r>
          </a:p>
          <a:p>
            <a:pPr algn="l">
              <a:spcBef>
                <a:spcPts val="500"/>
              </a:spcBef>
              <a:defRPr sz="1400" b="0" i="0">
                <a:solidFill>
                  <a:srgbClr val="B0B8C4"/>
                </a:solidFill>
                <a:latin typeface="Segoe UI"/>
              </a:defRPr>
            </a:pPr>
            <a:r>
              <a:t>• Merge EDU — cubos AR para educacao medica</a:t>
            </a:r>
          </a:p>
        </p:txBody>
      </p:sp>
      <p:sp>
        <p:nvSpPr>
          <p:cNvPr id="6" name="Rounded Rectangle 5"/>
          <p:cNvSpPr/>
          <p:nvPr/>
        </p:nvSpPr>
        <p:spPr>
          <a:xfrm>
            <a:off x="6492240" y="1463040"/>
            <a:ext cx="5303520" cy="475488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766560" y="1645920"/>
            <a:ext cx="4846320" cy="457200"/>
          </a:xfrm>
          <a:prstGeom prst="rect">
            <a:avLst/>
          </a:prstGeom>
          <a:noFill/>
        </p:spPr>
        <p:txBody>
          <a:bodyPr wrap="square">
            <a:spAutoFit/>
          </a:bodyPr>
          <a:lstStyle/>
          <a:p>
            <a:pPr algn="l">
              <a:defRPr sz="2000" b="1">
                <a:solidFill>
                  <a:srgbClr val="3FB950"/>
                </a:solidFill>
                <a:latin typeface="Segoe UI"/>
              </a:defRPr>
            </a:pPr>
            <a:r>
              <a:t>VR — Realidade Virtual</a:t>
            </a:r>
          </a:p>
          <a:p>
            <a:pPr algn="l">
              <a:spcBef>
                <a:spcPts val="500"/>
              </a:spcBef>
              <a:defRPr sz="1400" b="0" i="0">
                <a:solidFill>
                  <a:srgbClr val="B0B8C4"/>
                </a:solidFill>
                <a:latin typeface="Segoe UI"/>
              </a:defRPr>
            </a:pPr>
            <a:r>
              <a:t>• A-Frame — VR com HTML no browser (usamos hoje!)</a:t>
            </a:r>
          </a:p>
          <a:p>
            <a:pPr algn="l">
              <a:spcBef>
                <a:spcPts val="500"/>
              </a:spcBef>
              <a:defRPr sz="1400" b="0" i="0">
                <a:solidFill>
                  <a:srgbClr val="B0B8C4"/>
                </a:solidFill>
                <a:latin typeface="Segoe UI"/>
              </a:defRPr>
            </a:pPr>
            <a:r>
              <a:t>• CoSpaces Edu — VR educativo drag &amp; drop</a:t>
            </a:r>
          </a:p>
          <a:p>
            <a:pPr algn="l">
              <a:spcBef>
                <a:spcPts val="500"/>
              </a:spcBef>
              <a:defRPr sz="1400" b="0" i="0">
                <a:solidFill>
                  <a:srgbClr val="B0B8C4"/>
                </a:solidFill>
                <a:latin typeface="Segoe UI"/>
              </a:defRPr>
            </a:pPr>
            <a:r>
              <a:t>• Mozilla Hubs — salas VR sociais, sem instalar</a:t>
            </a:r>
          </a:p>
          <a:p>
            <a:pPr algn="l">
              <a:spcBef>
                <a:spcPts val="500"/>
              </a:spcBef>
              <a:defRPr sz="1400" b="0" i="0">
                <a:solidFill>
                  <a:srgbClr val="B0B8C4"/>
                </a:solidFill>
                <a:latin typeface="Segoe UI"/>
              </a:defRPr>
            </a:pPr>
            <a:r>
              <a:t>• Spatial.io — espacos VR colaborativos</a:t>
            </a:r>
          </a:p>
          <a:p>
            <a:pPr algn="l">
              <a:spcBef>
                <a:spcPts val="500"/>
              </a:spcBef>
              <a:defRPr sz="1400" b="0" i="0">
                <a:solidFill>
                  <a:srgbClr val="B0B8C4"/>
                </a:solidFill>
                <a:latin typeface="Segoe UI"/>
              </a:defRPr>
            </a:pPr>
            <a:r>
              <a:t>• Gravity Sketch — modelacao 3D DENTRO do VR</a:t>
            </a:r>
          </a:p>
          <a:p>
            <a:pPr algn="l">
              <a:spcBef>
                <a:spcPts val="500"/>
              </a:spcBef>
              <a:defRPr sz="1400" b="0" i="0">
                <a:solidFill>
                  <a:srgbClr val="B0B8C4"/>
                </a:solidFill>
                <a:latin typeface="Segoe UI"/>
              </a:defRPr>
            </a:pPr>
            <a:r>
              <a:t>• Tilt Brush / Open Brush — pintar em 3D no VR</a:t>
            </a:r>
          </a:p>
          <a:p>
            <a:pPr algn="l">
              <a:spcBef>
                <a:spcPts val="500"/>
              </a:spcBef>
              <a:defRPr sz="1400" b="0" i="0">
                <a:solidFill>
                  <a:srgbClr val="B0B8C4"/>
                </a:solidFill>
                <a:latin typeface="Segoe UI"/>
              </a:defRPr>
            </a:pPr>
            <a:r>
              <a:t>• Shapes XR — prototipagem VR dentro do headset</a:t>
            </a:r>
          </a:p>
          <a:p>
            <a:pPr algn="l">
              <a:spcBef>
                <a:spcPts val="500"/>
              </a:spcBef>
              <a:defRPr sz="1400" b="0" i="0">
                <a:solidFill>
                  <a:srgbClr val="B0B8C4"/>
                </a:solidFill>
                <a:latin typeface="Segoe UI"/>
              </a:defRPr>
            </a:pPr>
            <a:r>
              <a:t>• Meta Horizon Worlds — criar mundos VR sem codigo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Porque Importa na Saude?</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3200400" cy="18288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2743200" cy="914400"/>
          </a:xfrm>
          <a:prstGeom prst="rect">
            <a:avLst/>
          </a:prstGeom>
          <a:noFill/>
        </p:spPr>
        <p:txBody>
          <a:bodyPr wrap="square">
            <a:spAutoFit/>
          </a:bodyPr>
          <a:lstStyle/>
          <a:p>
            <a:pPr algn="l">
              <a:defRPr sz="4400" b="1">
                <a:solidFill>
                  <a:srgbClr val="58A6FF"/>
                </a:solidFill>
                <a:latin typeface="Segoe UI"/>
              </a:defRPr>
            </a:pPr>
            <a:r>
              <a:t>$2.1B</a:t>
            </a:r>
          </a:p>
        </p:txBody>
      </p:sp>
      <p:sp>
        <p:nvSpPr>
          <p:cNvPr id="6" name="TextBox 5"/>
          <p:cNvSpPr txBox="1"/>
          <p:nvPr/>
        </p:nvSpPr>
        <p:spPr>
          <a:xfrm>
            <a:off x="1005840" y="2560320"/>
            <a:ext cx="2743200" cy="457200"/>
          </a:xfrm>
          <a:prstGeom prst="rect">
            <a:avLst/>
          </a:prstGeom>
          <a:noFill/>
        </p:spPr>
        <p:txBody>
          <a:bodyPr wrap="square">
            <a:spAutoFit/>
          </a:bodyPr>
          <a:lstStyle/>
          <a:p>
            <a:pPr algn="l">
              <a:defRPr sz="1600" b="0">
                <a:solidFill>
                  <a:srgbClr val="B0B8C4"/>
                </a:solidFill>
                <a:latin typeface="Segoe UI"/>
              </a:defRPr>
            </a:pPr>
            <a:r>
              <a:t>2019</a:t>
            </a:r>
          </a:p>
        </p:txBody>
      </p:sp>
      <p:sp>
        <p:nvSpPr>
          <p:cNvPr id="7" name="Rounded Rectangle 6"/>
          <p:cNvSpPr/>
          <p:nvPr/>
        </p:nvSpPr>
        <p:spPr>
          <a:xfrm>
            <a:off x="4389120" y="1463040"/>
            <a:ext cx="3200400" cy="18288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1645920"/>
            <a:ext cx="2743200" cy="914400"/>
          </a:xfrm>
          <a:prstGeom prst="rect">
            <a:avLst/>
          </a:prstGeom>
          <a:noFill/>
        </p:spPr>
        <p:txBody>
          <a:bodyPr wrap="square">
            <a:spAutoFit/>
          </a:bodyPr>
          <a:lstStyle/>
          <a:p>
            <a:pPr algn="l">
              <a:defRPr sz="4400" b="1">
                <a:solidFill>
                  <a:srgbClr val="58A6FF"/>
                </a:solidFill>
                <a:latin typeface="Segoe UI"/>
              </a:defRPr>
            </a:pPr>
            <a:r>
              <a:t>$30.4B</a:t>
            </a:r>
          </a:p>
        </p:txBody>
      </p:sp>
      <p:sp>
        <p:nvSpPr>
          <p:cNvPr id="9" name="TextBox 8"/>
          <p:cNvSpPr txBox="1"/>
          <p:nvPr/>
        </p:nvSpPr>
        <p:spPr>
          <a:xfrm>
            <a:off x="4663440" y="2560320"/>
            <a:ext cx="2743200" cy="457200"/>
          </a:xfrm>
          <a:prstGeom prst="rect">
            <a:avLst/>
          </a:prstGeom>
          <a:noFill/>
        </p:spPr>
        <p:txBody>
          <a:bodyPr wrap="square">
            <a:spAutoFit/>
          </a:bodyPr>
          <a:lstStyle/>
          <a:p>
            <a:pPr algn="l">
              <a:defRPr sz="1600" b="0">
                <a:solidFill>
                  <a:srgbClr val="B0B8C4"/>
                </a:solidFill>
                <a:latin typeface="Segoe UI"/>
              </a:defRPr>
            </a:pPr>
            <a:r>
              <a:t>2026 (previsao)</a:t>
            </a:r>
          </a:p>
        </p:txBody>
      </p:sp>
      <p:sp>
        <p:nvSpPr>
          <p:cNvPr id="10" name="Rounded Rectangle 9"/>
          <p:cNvSpPr/>
          <p:nvPr/>
        </p:nvSpPr>
        <p:spPr>
          <a:xfrm>
            <a:off x="8046720" y="1463040"/>
            <a:ext cx="3200400" cy="18288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645920"/>
            <a:ext cx="2743200" cy="914400"/>
          </a:xfrm>
          <a:prstGeom prst="rect">
            <a:avLst/>
          </a:prstGeom>
          <a:noFill/>
        </p:spPr>
        <p:txBody>
          <a:bodyPr wrap="square">
            <a:spAutoFit/>
          </a:bodyPr>
          <a:lstStyle/>
          <a:p>
            <a:pPr algn="l">
              <a:defRPr sz="4400" b="1">
                <a:solidFill>
                  <a:srgbClr val="58A6FF"/>
                </a:solidFill>
                <a:latin typeface="Segoe UI"/>
              </a:defRPr>
            </a:pPr>
            <a:r>
              <a:t>42.4%</a:t>
            </a:r>
          </a:p>
        </p:txBody>
      </p:sp>
      <p:sp>
        <p:nvSpPr>
          <p:cNvPr id="12" name="TextBox 11"/>
          <p:cNvSpPr txBox="1"/>
          <p:nvPr/>
        </p:nvSpPr>
        <p:spPr>
          <a:xfrm>
            <a:off x="8321040" y="2560320"/>
            <a:ext cx="2743200" cy="457200"/>
          </a:xfrm>
          <a:prstGeom prst="rect">
            <a:avLst/>
          </a:prstGeom>
          <a:noFill/>
        </p:spPr>
        <p:txBody>
          <a:bodyPr wrap="square">
            <a:spAutoFit/>
          </a:bodyPr>
          <a:lstStyle/>
          <a:p>
            <a:pPr algn="l">
              <a:defRPr sz="1600" b="0">
                <a:solidFill>
                  <a:srgbClr val="B0B8C4"/>
                </a:solidFill>
                <a:latin typeface="Segoe UI"/>
              </a:defRPr>
            </a:pPr>
            <a:r>
              <a:t>CAGR</a:t>
            </a:r>
          </a:p>
        </p:txBody>
      </p:sp>
      <p:sp>
        <p:nvSpPr>
          <p:cNvPr id="13" name="TextBox 12"/>
          <p:cNvSpPr txBox="1"/>
          <p:nvPr/>
        </p:nvSpPr>
        <p:spPr>
          <a:xfrm>
            <a:off x="731520" y="3657600"/>
            <a:ext cx="10058400" cy="2286000"/>
          </a:xfrm>
          <a:prstGeom prst="rect">
            <a:avLst/>
          </a:prstGeom>
          <a:noFill/>
        </p:spPr>
        <p:txBody>
          <a:bodyPr wrap="square">
            <a:spAutoFit/>
          </a:bodyPr>
          <a:lstStyle/>
          <a:p>
            <a:pPr algn="l">
              <a:defRPr sz="2000" b="1">
                <a:solidFill>
                  <a:srgbClr val="FFFFFF"/>
                </a:solidFill>
                <a:latin typeface="Segoe UI"/>
              </a:defRPr>
            </a:pPr>
            <a:r>
              <a:t>Mercado global de VR em saude (Healthcare VR Market)</a:t>
            </a:r>
          </a:p>
          <a:p>
            <a:pPr algn="l">
              <a:spcBef>
                <a:spcPts val="600"/>
              </a:spcBef>
              <a:defRPr sz="1600" b="0" i="0">
                <a:solidFill>
                  <a:srgbClr val="B0B8C4"/>
                </a:solidFill>
                <a:latin typeface="Segoe UI"/>
              </a:defRPr>
            </a:pPr>
            <a:r>
              <a:t>• Treino cirurgico com simulacao haptica e feedback em tempo real</a:t>
            </a:r>
          </a:p>
          <a:p>
            <a:pPr algn="l">
              <a:spcBef>
                <a:spcPts val="600"/>
              </a:spcBef>
              <a:defRPr sz="1600" b="0" i="0">
                <a:solidFill>
                  <a:srgbClr val="B0B8C4"/>
                </a:solidFill>
                <a:latin typeface="Segoe UI"/>
              </a:defRPr>
            </a:pPr>
            <a:r>
              <a:t>• Educacao anatomica imersiva (modelos 3D interativos)</a:t>
            </a:r>
          </a:p>
          <a:p>
            <a:pPr algn="l">
              <a:spcBef>
                <a:spcPts val="600"/>
              </a:spcBef>
              <a:defRPr sz="1600" b="0" i="0">
                <a:solidFill>
                  <a:srgbClr val="B0B8C4"/>
                </a:solidFill>
                <a:latin typeface="Segoe UI"/>
              </a:defRPr>
            </a:pPr>
            <a:r>
              <a:t>• Terapia da dor: RelieVRx — 1.o dispositivo VR aprovado pela FDA (2021)</a:t>
            </a:r>
          </a:p>
          <a:p>
            <a:pPr algn="l">
              <a:spcBef>
                <a:spcPts val="600"/>
              </a:spcBef>
              <a:defRPr sz="1600" b="0" i="0">
                <a:solidFill>
                  <a:srgbClr val="B0B8C4"/>
                </a:solidFill>
                <a:latin typeface="Segoe UI"/>
              </a:defRPr>
            </a:pPr>
            <a:r>
              <a:t>• Reabilitacao gamificada (neuroplasticidade + motivacao)</a:t>
            </a:r>
          </a:p>
        </p:txBody>
      </p:sp>
      <p:sp>
        <p:nvSpPr>
          <p:cNvPr id="14" name="TextBox 13"/>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Grand View Research, 2023; FDA De Novo Classification DEN200033 (RelieVRx); ITIF, 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Exemplos Clinicos: Treino Cirurgico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4572000"/>
          </a:xfrm>
          <a:prstGeom prst="rect">
            <a:avLst/>
          </a:prstGeom>
          <a:noFill/>
        </p:spPr>
        <p:txBody>
          <a:bodyPr wrap="square">
            <a:spAutoFit/>
          </a:bodyPr>
          <a:lstStyle/>
          <a:p>
            <a:pPr algn="l">
              <a:defRPr sz="2200" b="1">
                <a:solidFill>
                  <a:srgbClr val="58A6FF"/>
                </a:solidFill>
                <a:latin typeface="Segoe UI"/>
              </a:defRPr>
            </a:pPr>
            <a:r>
              <a:t>Evidencia Cientifica</a:t>
            </a:r>
          </a:p>
          <a:p>
            <a:pPr algn="l">
              <a:spcBef>
                <a:spcPts val="600"/>
              </a:spcBef>
              <a:defRPr sz="600" b="0" i="0">
                <a:solidFill>
                  <a:srgbClr val="FFFFFF"/>
                </a:solidFill>
                <a:latin typeface="Segoe UI"/>
              </a:defRPr>
            </a:pPr>
            <a:endParaRPr/>
          </a:p>
          <a:p>
            <a:pPr algn="l">
              <a:spcBef>
                <a:spcPts val="600"/>
              </a:spcBef>
              <a:defRPr sz="1800" b="1" i="0">
                <a:solidFill>
                  <a:srgbClr val="FFFFFF"/>
                </a:solidFill>
                <a:latin typeface="Segoe UI"/>
              </a:defRPr>
            </a:pPr>
            <a:r>
              <a:t>Osso VR — Treino Ortopedico (Orthopedic Surgical Simulation)</a:t>
            </a:r>
          </a:p>
          <a:p>
            <a:pPr algn="l">
              <a:spcBef>
                <a:spcPts val="600"/>
              </a:spcBef>
              <a:defRPr sz="1600" b="0" i="0">
                <a:solidFill>
                  <a:srgbClr val="B0B8C4"/>
                </a:solidFill>
                <a:latin typeface="Segoe UI"/>
              </a:defRPr>
            </a:pPr>
            <a:r>
              <a:t>  Estudo com 38 estudantes: grupo VR superou grupo tradicional</a:t>
            </a:r>
          </a:p>
          <a:p>
            <a:pPr algn="l">
              <a:spcBef>
                <a:spcPts val="600"/>
              </a:spcBef>
              <a:defRPr sz="1600" b="0" i="0">
                <a:solidFill>
                  <a:srgbClr val="B0B8C4"/>
                </a:solidFill>
                <a:latin typeface="Segoe UI"/>
              </a:defRPr>
            </a:pPr>
            <a:r>
              <a:t>  na proficiencia processual (p &lt; 0.001), percentagem de passos</a:t>
            </a:r>
          </a:p>
          <a:p>
            <a:pPr algn="l">
              <a:spcBef>
                <a:spcPts val="600"/>
              </a:spcBef>
              <a:defRPr sz="1600" b="0" i="0">
                <a:solidFill>
                  <a:srgbClr val="B0B8C4"/>
                </a:solidFill>
                <a:latin typeface="Segoe UI"/>
              </a:defRPr>
            </a:pPr>
            <a:r>
              <a:t>  corretos (p &lt; 0.002) e conhecimento de instrumentos (p &lt; 0.01)</a:t>
            </a:r>
          </a:p>
          <a:p>
            <a:pPr algn="l">
              <a:spcBef>
                <a:spcPts val="600"/>
              </a:spcBef>
              <a:defRPr sz="600" b="0" i="0">
                <a:solidFill>
                  <a:srgbClr val="FFFFFF"/>
                </a:solidFill>
                <a:latin typeface="Segoe UI"/>
              </a:defRPr>
            </a:pPr>
            <a:endParaRPr/>
          </a:p>
          <a:p>
            <a:pPr algn="l">
              <a:spcBef>
                <a:spcPts val="600"/>
              </a:spcBef>
              <a:defRPr sz="1800" b="1" i="0">
                <a:solidFill>
                  <a:srgbClr val="FFFFFF"/>
                </a:solidFill>
                <a:latin typeface="Segoe UI"/>
              </a:defRPr>
            </a:pPr>
            <a:r>
              <a:t>FundamentalVR — Simulacao Haptica</a:t>
            </a:r>
          </a:p>
          <a:p>
            <a:pPr algn="l">
              <a:spcBef>
                <a:spcPts val="600"/>
              </a:spcBef>
              <a:defRPr sz="1600" b="0" i="0">
                <a:solidFill>
                  <a:srgbClr val="B0B8C4"/>
                </a:solidFill>
                <a:latin typeface="Segoe UI"/>
              </a:defRPr>
            </a:pPr>
            <a:r>
              <a:t>  Melhoria de 44% na precisao cirurgica vs metodos tradicionais</a:t>
            </a:r>
          </a:p>
          <a:p>
            <a:pPr algn="l">
              <a:spcBef>
                <a:spcPts val="600"/>
              </a:spcBef>
              <a:defRPr sz="1600" b="0" i="0">
                <a:solidFill>
                  <a:srgbClr val="B0B8C4"/>
                </a:solidFill>
                <a:latin typeface="Segoe UI"/>
              </a:defRPr>
            </a:pPr>
            <a:r>
              <a:t>  Metricas: forca aplicada, precisao processual, eficiencia temporal</a:t>
            </a:r>
          </a:p>
          <a:p>
            <a:pPr algn="l">
              <a:spcBef>
                <a:spcPts val="600"/>
              </a:spcBef>
              <a:defRPr sz="600" b="0" i="0">
                <a:solidFill>
                  <a:srgbClr val="FFFFFF"/>
                </a:solidFill>
                <a:latin typeface="Segoe UI"/>
              </a:defRPr>
            </a:pPr>
            <a:endParaRPr/>
          </a:p>
          <a:p>
            <a:pPr algn="l">
              <a:spcBef>
                <a:spcPts val="600"/>
              </a:spcBef>
              <a:defRPr sz="1800" b="1" i="0">
                <a:solidFill>
                  <a:srgbClr val="FFFFFF"/>
                </a:solidFill>
                <a:latin typeface="Segoe UI"/>
              </a:defRPr>
            </a:pPr>
            <a:r>
              <a:t>UNC-Chapel Hill (2025) — Seguranca no Bloco Operatorio</a:t>
            </a:r>
          </a:p>
          <a:p>
            <a:pPr algn="l">
              <a:spcBef>
                <a:spcPts val="600"/>
              </a:spcBef>
              <a:defRPr sz="1600" b="0" i="0">
                <a:solidFill>
                  <a:srgbClr val="B0B8C4"/>
                </a:solidFill>
                <a:latin typeface="Segoe UI"/>
              </a:defRPr>
            </a:pPr>
            <a:r>
              <a:t>  30 minutos de treino VR melhoraram 90% dos comportamentos de seguranca</a:t>
            </a:r>
          </a:p>
          <a:p>
            <a:pPr algn="l">
              <a:spcBef>
                <a:spcPts val="600"/>
              </a:spcBef>
              <a:defRPr sz="1600" b="0" i="0">
                <a:solidFill>
                  <a:srgbClr val="B0B8C4"/>
                </a:solidFill>
                <a:latin typeface="Segoe UI"/>
              </a:defRPr>
            </a:pPr>
            <a:r>
              <a:t>  observados (study published in peer-reviewed journal)</a:t>
            </a:r>
          </a:p>
        </p:txBody>
      </p:sp>
      <p:sp>
        <p:nvSpPr>
          <p:cNvPr id="5" name="TextBox 4"/>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Osso VR Clinical Studies (ossovr.com); FundamentalVR white papers; UNC-Chapel Hill, Jan 2026 (unc.edu/posts/2026/01/27)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Exemplos Clinicos: Dor, Fobias, Reabilitacao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3291840" cy="411480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2743200" cy="457200"/>
          </a:xfrm>
          <a:prstGeom prst="rect">
            <a:avLst/>
          </a:prstGeom>
          <a:noFill/>
        </p:spPr>
        <p:txBody>
          <a:bodyPr wrap="square">
            <a:spAutoFit/>
          </a:bodyPr>
          <a:lstStyle/>
          <a:p>
            <a:pPr algn="l">
              <a:defRPr sz="2000" b="1">
                <a:solidFill>
                  <a:srgbClr val="F78166"/>
                </a:solidFill>
                <a:latin typeface="Segoe UI"/>
              </a:defRPr>
            </a:pPr>
            <a:r>
              <a:t>Gestao da Dor</a:t>
            </a:r>
          </a:p>
          <a:p>
            <a:pPr algn="l">
              <a:spcBef>
                <a:spcPts val="1000"/>
              </a:spcBef>
              <a:defRPr sz="1400" b="1" i="0">
                <a:solidFill>
                  <a:srgbClr val="FFFFFF"/>
                </a:solidFill>
                <a:latin typeface="Segoe UI"/>
              </a:defRPr>
            </a:pPr>
            <a:r>
              <a:t>RelieVRx (AppliedVR)</a:t>
            </a:r>
          </a:p>
          <a:p>
            <a:pPr algn="l">
              <a:spcBef>
                <a:spcPts val="600"/>
              </a:spcBef>
              <a:defRPr sz="1200" b="0" i="1">
                <a:solidFill>
                  <a:srgbClr val="555F6B"/>
                </a:solidFill>
                <a:latin typeface="Segoe UI"/>
              </a:defRPr>
            </a:pPr>
            <a:r>
              <a:t>FDA De Novo: DEN200033</a:t>
            </a:r>
          </a:p>
          <a:p>
            <a:pPr algn="l">
              <a:spcBef>
                <a:spcPts val="800"/>
              </a:spcBef>
              <a:defRPr sz="1400" b="0" i="0">
                <a:solidFill>
                  <a:srgbClr val="B0B8C4"/>
                </a:solidFill>
                <a:latin typeface="Segoe UI"/>
              </a:defRPr>
            </a:pPr>
            <a:r>
              <a:t>66% reducao &gt;30% dor</a:t>
            </a:r>
          </a:p>
          <a:p>
            <a:pPr algn="l">
              <a:spcBef>
                <a:spcPts val="600"/>
              </a:spcBef>
              <a:defRPr sz="1400" b="0" i="0">
                <a:solidFill>
                  <a:srgbClr val="B0B8C4"/>
                </a:solidFill>
                <a:latin typeface="Segoe UI"/>
              </a:defRPr>
            </a:pPr>
            <a:r>
              <a:t>46% atingiram &gt;50%</a:t>
            </a:r>
          </a:p>
          <a:p>
            <a:pPr algn="l">
              <a:spcBef>
                <a:spcPts val="600"/>
              </a:spcBef>
              <a:defRPr sz="1400" b="0" i="0">
                <a:solidFill>
                  <a:srgbClr val="B0B8C4"/>
                </a:solidFill>
                <a:latin typeface="Segoe UI"/>
              </a:defRPr>
            </a:pPr>
            <a:r>
              <a:t>Efeito mantido 3 meses</a:t>
            </a:r>
          </a:p>
        </p:txBody>
      </p:sp>
      <p:sp>
        <p:nvSpPr>
          <p:cNvPr id="6" name="Rounded Rectangle 5"/>
          <p:cNvSpPr/>
          <p:nvPr/>
        </p:nvSpPr>
        <p:spPr>
          <a:xfrm>
            <a:off x="4389120" y="1463040"/>
            <a:ext cx="3291840" cy="411480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63440" y="1645920"/>
            <a:ext cx="2743200" cy="457200"/>
          </a:xfrm>
          <a:prstGeom prst="rect">
            <a:avLst/>
          </a:prstGeom>
          <a:noFill/>
        </p:spPr>
        <p:txBody>
          <a:bodyPr wrap="square">
            <a:spAutoFit/>
          </a:bodyPr>
          <a:lstStyle/>
          <a:p>
            <a:pPr algn="l">
              <a:defRPr sz="2000" b="1">
                <a:solidFill>
                  <a:srgbClr val="D2A8FF"/>
                </a:solidFill>
                <a:latin typeface="Segoe UI"/>
              </a:defRPr>
            </a:pPr>
            <a:r>
              <a:t>Fobias (VRET)</a:t>
            </a:r>
          </a:p>
          <a:p>
            <a:pPr algn="l">
              <a:spcBef>
                <a:spcPts val="1000"/>
              </a:spcBef>
              <a:defRPr sz="1400" b="1" i="0">
                <a:solidFill>
                  <a:srgbClr val="FFFFFF"/>
                </a:solidFill>
                <a:latin typeface="Segoe UI"/>
              </a:defRPr>
            </a:pPr>
            <a:r>
              <a:t>VR Exposure Therapy</a:t>
            </a:r>
          </a:p>
          <a:p>
            <a:pPr algn="l">
              <a:spcBef>
                <a:spcPts val="800"/>
              </a:spcBef>
              <a:defRPr sz="1400" b="0" i="0">
                <a:solidFill>
                  <a:srgbClr val="B0B8C4"/>
                </a:solidFill>
                <a:latin typeface="Segoe UI"/>
              </a:defRPr>
            </a:pPr>
            <a:r>
              <a:t>Taxa sucesso: 66-90%</a:t>
            </a:r>
          </a:p>
          <a:p>
            <a:pPr algn="l">
              <a:spcBef>
                <a:spcPts val="600"/>
              </a:spcBef>
              <a:defRPr sz="1400" b="0" i="0">
                <a:solidFill>
                  <a:srgbClr val="B0B8C4"/>
                </a:solidFill>
                <a:latin typeface="Segoe UI"/>
              </a:defRPr>
            </a:pPr>
            <a:r>
              <a:t>3% recusa VR vs 27% in-vivo</a:t>
            </a:r>
          </a:p>
          <a:p>
            <a:pPr algn="l">
              <a:spcBef>
                <a:spcPts val="600"/>
              </a:spcBef>
              <a:defRPr sz="1400" b="0" i="0">
                <a:solidFill>
                  <a:srgbClr val="B0B8C4"/>
                </a:solidFill>
                <a:latin typeface="Segoe UI"/>
              </a:defRPr>
            </a:pPr>
            <a:r>
              <a:t>Dropout: 16% &lt; CBT</a:t>
            </a:r>
          </a:p>
          <a:p>
            <a:pPr algn="l">
              <a:spcBef>
                <a:spcPts val="600"/>
              </a:spcBef>
              <a:defRPr sz="1400" b="0" i="0">
                <a:solidFill>
                  <a:srgbClr val="B0B8C4"/>
                </a:solidFill>
                <a:latin typeface="Segoe UI"/>
              </a:defRPr>
            </a:pPr>
            <a:r>
              <a:t>Alturas: -68% medo medio</a:t>
            </a:r>
          </a:p>
        </p:txBody>
      </p:sp>
      <p:sp>
        <p:nvSpPr>
          <p:cNvPr id="8" name="Rounded Rectangle 7"/>
          <p:cNvSpPr/>
          <p:nvPr/>
        </p:nvSpPr>
        <p:spPr>
          <a:xfrm>
            <a:off x="8046720" y="1463040"/>
            <a:ext cx="3291840" cy="41148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0" y="1645920"/>
            <a:ext cx="2743200" cy="457200"/>
          </a:xfrm>
          <a:prstGeom prst="rect">
            <a:avLst/>
          </a:prstGeom>
          <a:noFill/>
        </p:spPr>
        <p:txBody>
          <a:bodyPr wrap="square">
            <a:spAutoFit/>
          </a:bodyPr>
          <a:lstStyle/>
          <a:p>
            <a:pPr algn="l">
              <a:defRPr sz="2000" b="1">
                <a:solidFill>
                  <a:srgbClr val="3FB950"/>
                </a:solidFill>
                <a:latin typeface="Segoe UI"/>
              </a:defRPr>
            </a:pPr>
            <a:r>
              <a:t>Reabilitacao</a:t>
            </a:r>
          </a:p>
          <a:p>
            <a:pPr algn="l">
              <a:spcBef>
                <a:spcPts val="1000"/>
              </a:spcBef>
              <a:defRPr sz="1400" b="1" i="0">
                <a:solidFill>
                  <a:srgbClr val="FFFFFF"/>
                </a:solidFill>
                <a:latin typeface="Segoe UI"/>
              </a:defRPr>
            </a:pPr>
            <a:r>
              <a:t>Cochrane Review 2025</a:t>
            </a:r>
          </a:p>
          <a:p>
            <a:pPr algn="l">
              <a:spcBef>
                <a:spcPts val="800"/>
              </a:spcBef>
              <a:defRPr sz="1400" b="0" i="0">
                <a:solidFill>
                  <a:srgbClr val="B0B8C4"/>
                </a:solidFill>
                <a:latin typeface="Segoe UI"/>
              </a:defRPr>
            </a:pPr>
            <a:r>
              <a:t>Membro sup.: SMD=0.42</a:t>
            </a:r>
          </a:p>
          <a:p>
            <a:pPr algn="l">
              <a:spcBef>
                <a:spcPts val="600"/>
              </a:spcBef>
              <a:defRPr sz="1400" b="0" i="0">
                <a:solidFill>
                  <a:srgbClr val="B0B8C4"/>
                </a:solidFill>
                <a:latin typeface="Segoe UI"/>
              </a:defRPr>
            </a:pPr>
            <a:r>
              <a:t>Equilibrio: SMD=0.68</a:t>
            </a:r>
          </a:p>
          <a:p>
            <a:pPr algn="l">
              <a:spcBef>
                <a:spcPts val="600"/>
              </a:spcBef>
              <a:defRPr sz="1400" b="0" i="0">
                <a:solidFill>
                  <a:srgbClr val="B0B8C4"/>
                </a:solidFill>
                <a:latin typeface="Segoe UI"/>
              </a:defRPr>
            </a:pPr>
            <a:r>
              <a:t>So 31% cumprem fisioterapia</a:t>
            </a:r>
          </a:p>
          <a:p>
            <a:pPr algn="l">
              <a:spcBef>
                <a:spcPts val="600"/>
              </a:spcBef>
              <a:defRPr sz="1400" b="0" i="0">
                <a:solidFill>
                  <a:srgbClr val="B0B8C4"/>
                </a:solidFill>
                <a:latin typeface="Segoe UI"/>
              </a:defRPr>
            </a:pPr>
            <a:r>
              <a:t>VR gamificada resolve adesao</a:t>
            </a:r>
          </a:p>
        </p:txBody>
      </p:sp>
      <p:sp>
        <p:nvSpPr>
          <p:cNvPr id="10" name="TextBox 9"/>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Frontiers in VR 2025 (RelieVRx); Frontiers in Psychology 2019 (VRET meta-analysis); Cochrane Library CD008349.pub5 (2025)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Educacao Anatomica em VR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3200400" cy="32004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737360"/>
            <a:ext cx="2743200" cy="914400"/>
          </a:xfrm>
          <a:prstGeom prst="rect">
            <a:avLst/>
          </a:prstGeom>
          <a:noFill/>
        </p:spPr>
        <p:txBody>
          <a:bodyPr wrap="square">
            <a:spAutoFit/>
          </a:bodyPr>
          <a:lstStyle/>
          <a:p>
            <a:pPr algn="ctr">
              <a:defRPr sz="5200" b="1">
                <a:solidFill>
                  <a:srgbClr val="58A6FF"/>
                </a:solidFill>
                <a:latin typeface="Segoe UI"/>
              </a:defRPr>
            </a:pPr>
            <a:r>
              <a:t>75%</a:t>
            </a:r>
          </a:p>
        </p:txBody>
      </p:sp>
      <p:sp>
        <p:nvSpPr>
          <p:cNvPr id="6" name="TextBox 5"/>
          <p:cNvSpPr txBox="1"/>
          <p:nvPr/>
        </p:nvSpPr>
        <p:spPr>
          <a:xfrm>
            <a:off x="1005840" y="2834640"/>
            <a:ext cx="2743200" cy="1371600"/>
          </a:xfrm>
          <a:prstGeom prst="rect">
            <a:avLst/>
          </a:prstGeom>
          <a:noFill/>
        </p:spPr>
        <p:txBody>
          <a:bodyPr wrap="square">
            <a:spAutoFit/>
          </a:bodyPr>
          <a:lstStyle/>
          <a:p>
            <a:pPr algn="ctr">
              <a:defRPr sz="1400" b="0">
                <a:solidFill>
                  <a:srgbClr val="B0B8C4"/>
                </a:solidFill>
                <a:latin typeface="Segoe UI"/>
              </a:defRPr>
            </a:pPr>
            <a:r>
              <a:t>dos estudos comparativos:</a:t>
            </a:r>
            <a:br/>
            <a:r>
              <a:t>VR superou metodos</a:t>
            </a:r>
            <a:br/>
            <a:r>
              <a:t>tradicionais (cadaveres,</a:t>
            </a:r>
            <a:br/>
            <a:r>
              <a:t>aulas, modelos 2D)</a:t>
            </a:r>
          </a:p>
        </p:txBody>
      </p:sp>
      <p:sp>
        <p:nvSpPr>
          <p:cNvPr id="7" name="Rounded Rectangle 6"/>
          <p:cNvSpPr/>
          <p:nvPr/>
        </p:nvSpPr>
        <p:spPr>
          <a:xfrm>
            <a:off x="4389120" y="1463040"/>
            <a:ext cx="3200400" cy="32004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1737360"/>
            <a:ext cx="2743200" cy="914400"/>
          </a:xfrm>
          <a:prstGeom prst="rect">
            <a:avLst/>
          </a:prstGeom>
          <a:noFill/>
        </p:spPr>
        <p:txBody>
          <a:bodyPr wrap="square">
            <a:spAutoFit/>
          </a:bodyPr>
          <a:lstStyle/>
          <a:p>
            <a:pPr algn="ctr">
              <a:defRPr sz="5200" b="1">
                <a:solidFill>
                  <a:srgbClr val="58A6FF"/>
                </a:solidFill>
                <a:latin typeface="Segoe UI"/>
              </a:defRPr>
            </a:pPr>
            <a:r>
              <a:t>71%</a:t>
            </a:r>
          </a:p>
        </p:txBody>
      </p:sp>
      <p:sp>
        <p:nvSpPr>
          <p:cNvPr id="9" name="TextBox 8"/>
          <p:cNvSpPr txBox="1"/>
          <p:nvPr/>
        </p:nvSpPr>
        <p:spPr>
          <a:xfrm>
            <a:off x="4663440" y="2834640"/>
            <a:ext cx="2743200" cy="1371600"/>
          </a:xfrm>
          <a:prstGeom prst="rect">
            <a:avLst/>
          </a:prstGeom>
          <a:noFill/>
        </p:spPr>
        <p:txBody>
          <a:bodyPr wrap="square">
            <a:spAutoFit/>
          </a:bodyPr>
          <a:lstStyle/>
          <a:p>
            <a:pPr algn="ctr">
              <a:defRPr sz="1400" b="0">
                <a:solidFill>
                  <a:srgbClr val="B0B8C4"/>
                </a:solidFill>
                <a:latin typeface="Segoe UI"/>
              </a:defRPr>
            </a:pPr>
            <a:r>
              <a:t>dos estudos mostram</a:t>
            </a:r>
            <a:br/>
            <a:r>
              <a:t>melhoria estatisticamente</a:t>
            </a:r>
            <a:br/>
            <a:r>
              <a:t>significativa na</a:t>
            </a:r>
            <a:br/>
            <a:r>
              <a:t>aprendizagem</a:t>
            </a:r>
          </a:p>
        </p:txBody>
      </p:sp>
      <p:sp>
        <p:nvSpPr>
          <p:cNvPr id="10" name="Rounded Rectangle 9"/>
          <p:cNvSpPr/>
          <p:nvPr/>
        </p:nvSpPr>
        <p:spPr>
          <a:xfrm>
            <a:off x="8046720" y="1463040"/>
            <a:ext cx="3200400" cy="32004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21040" y="1737360"/>
            <a:ext cx="2743200" cy="914400"/>
          </a:xfrm>
          <a:prstGeom prst="rect">
            <a:avLst/>
          </a:prstGeom>
          <a:noFill/>
        </p:spPr>
        <p:txBody>
          <a:bodyPr wrap="square">
            <a:spAutoFit/>
          </a:bodyPr>
          <a:lstStyle/>
          <a:p>
            <a:pPr algn="ctr">
              <a:defRPr sz="5200" b="1">
                <a:solidFill>
                  <a:srgbClr val="58A6FF"/>
                </a:solidFill>
                <a:latin typeface="Segoe UI"/>
              </a:defRPr>
            </a:pPr>
            <a:r>
              <a:t>100%</a:t>
            </a:r>
          </a:p>
        </p:txBody>
      </p:sp>
      <p:sp>
        <p:nvSpPr>
          <p:cNvPr id="12" name="TextBox 11"/>
          <p:cNvSpPr txBox="1"/>
          <p:nvPr/>
        </p:nvSpPr>
        <p:spPr>
          <a:xfrm>
            <a:off x="8321040" y="2834640"/>
            <a:ext cx="2743200" cy="1371600"/>
          </a:xfrm>
          <a:prstGeom prst="rect">
            <a:avLst/>
          </a:prstGeom>
          <a:noFill/>
        </p:spPr>
        <p:txBody>
          <a:bodyPr wrap="square">
            <a:spAutoFit/>
          </a:bodyPr>
          <a:lstStyle/>
          <a:p>
            <a:pPr algn="ctr">
              <a:defRPr sz="1400" b="0">
                <a:solidFill>
                  <a:srgbClr val="B0B8C4"/>
                </a:solidFill>
                <a:latin typeface="Segoe UI"/>
              </a:defRPr>
            </a:pPr>
            <a:r>
              <a:t>dos estudos de</a:t>
            </a:r>
            <a:br/>
            <a:r>
              <a:t>percecao: satisfacao</a:t>
            </a:r>
            <a:br/>
            <a:r>
              <a:t>unanimemente</a:t>
            </a:r>
            <a:br/>
            <a:r>
              <a:t>favoravel</a:t>
            </a:r>
          </a:p>
        </p:txBody>
      </p:sp>
      <p:sp>
        <p:nvSpPr>
          <p:cNvPr id="13" name="TextBox 12"/>
          <p:cNvSpPr txBox="1"/>
          <p:nvPr/>
        </p:nvSpPr>
        <p:spPr>
          <a:xfrm>
            <a:off x="731520" y="5029200"/>
            <a:ext cx="10058400" cy="731520"/>
          </a:xfrm>
          <a:prstGeom prst="rect">
            <a:avLst/>
          </a:prstGeom>
          <a:noFill/>
        </p:spPr>
        <p:txBody>
          <a:bodyPr wrap="square">
            <a:spAutoFit/>
          </a:bodyPr>
          <a:lstStyle/>
          <a:p>
            <a:pPr algn="l">
              <a:defRPr sz="1600" b="0">
                <a:solidFill>
                  <a:srgbClr val="6E7681"/>
                </a:solidFill>
                <a:latin typeface="Segoe UI"/>
              </a:defRPr>
            </a:pPr>
            <a:r>
              <a:t>Particularmente eficaz: neuroanatomia, sistema musculoesqueletico, anatomia cardiaca</a:t>
            </a:r>
          </a:p>
        </p:txBody>
      </p:sp>
      <p:sp>
        <p:nvSpPr>
          <p:cNvPr id="14" name="TextBox 13"/>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Adnan et al., BMC Medical Education (2025); Systematic Review PMC12051093 (2025); JMIR Medical Education e62803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 Ciencia da Imersao: Porque Funciona?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486400" cy="5029200"/>
          </a:xfrm>
          <a:prstGeom prst="rect">
            <a:avLst/>
          </a:prstGeom>
          <a:noFill/>
        </p:spPr>
        <p:txBody>
          <a:bodyPr wrap="square">
            <a:spAutoFit/>
          </a:bodyPr>
          <a:lstStyle/>
          <a:p>
            <a:pPr algn="l">
              <a:defRPr sz="2000" b="1">
                <a:solidFill>
                  <a:srgbClr val="58A6FF"/>
                </a:solidFill>
                <a:latin typeface="Segoe UI"/>
              </a:defRPr>
            </a:pPr>
            <a:r>
              <a:t>Tres pilares neurocientificos</a:t>
            </a:r>
          </a:p>
          <a:p>
            <a:pPr algn="l">
              <a:spcBef>
                <a:spcPts val="600"/>
              </a:spcBef>
              <a:defRPr sz="600" b="0" i="0">
                <a:solidFill>
                  <a:srgbClr val="FFFFFF"/>
                </a:solidFill>
                <a:latin typeface="Segoe UI"/>
              </a:defRPr>
            </a:pPr>
            <a:endParaRPr/>
          </a:p>
          <a:p>
            <a:pPr algn="l">
              <a:spcBef>
                <a:spcPts val="600"/>
              </a:spcBef>
              <a:defRPr sz="1800" b="1" i="0">
                <a:solidFill>
                  <a:srgbClr val="FFFFFF"/>
                </a:solidFill>
                <a:latin typeface="Segoe UI"/>
              </a:defRPr>
            </a:pPr>
            <a:r>
              <a:t>1. PRESENCA (Presence)</a:t>
            </a:r>
          </a:p>
          <a:p>
            <a:pPr algn="l">
              <a:spcBef>
                <a:spcPts val="600"/>
              </a:spcBef>
              <a:defRPr sz="1500" b="0" i="0">
                <a:solidFill>
                  <a:srgbClr val="B0B8C4"/>
                </a:solidFill>
                <a:latin typeface="Segoe UI"/>
              </a:defRPr>
            </a:pPr>
            <a:r>
              <a:t>   Sensacao psicologica de 'estar la'. O cerebro aceita o ambiente</a:t>
            </a:r>
          </a:p>
          <a:p>
            <a:pPr algn="l">
              <a:spcBef>
                <a:spcPts val="600"/>
              </a:spcBef>
              <a:defRPr sz="1500" b="0" i="0">
                <a:solidFill>
                  <a:srgbClr val="B0B8C4"/>
                </a:solidFill>
                <a:latin typeface="Segoe UI"/>
              </a:defRPr>
            </a:pPr>
            <a:r>
              <a:t>   virtual como real. Mediada pelo cortex parietal posterior e</a:t>
            </a:r>
          </a:p>
          <a:p>
            <a:pPr algn="l">
              <a:spcBef>
                <a:spcPts val="600"/>
              </a:spcBef>
              <a:defRPr sz="1500" b="0" i="0">
                <a:solidFill>
                  <a:srgbClr val="B0B8C4"/>
                </a:solidFill>
                <a:latin typeface="Segoe UI"/>
              </a:defRPr>
            </a:pPr>
            <a:r>
              <a:t>   insula anterior. Mensuravel por questionarios (IPQ, SUS).</a:t>
            </a:r>
          </a:p>
          <a:p>
            <a:pPr algn="l">
              <a:spcBef>
                <a:spcPts val="600"/>
              </a:spcBef>
              <a:defRPr sz="600" b="0" i="0">
                <a:solidFill>
                  <a:srgbClr val="FFFFFF"/>
                </a:solidFill>
                <a:latin typeface="Segoe UI"/>
              </a:defRPr>
            </a:pPr>
            <a:endParaRPr/>
          </a:p>
          <a:p>
            <a:pPr algn="l">
              <a:spcBef>
                <a:spcPts val="600"/>
              </a:spcBef>
              <a:defRPr sz="1800" b="1" i="0">
                <a:solidFill>
                  <a:srgbClr val="FFFFFF"/>
                </a:solidFill>
                <a:latin typeface="Segoe UI"/>
              </a:defRPr>
            </a:pPr>
            <a:r>
              <a:t>2. IMERSAO (Immersion)</a:t>
            </a:r>
          </a:p>
          <a:p>
            <a:pPr algn="l">
              <a:spcBef>
                <a:spcPts val="600"/>
              </a:spcBef>
              <a:defRPr sz="1500" b="0" i="0">
                <a:solidFill>
                  <a:srgbClr val="B0B8C4"/>
                </a:solidFill>
                <a:latin typeface="Segoe UI"/>
              </a:defRPr>
            </a:pPr>
            <a:r>
              <a:t>   Capacidade tecnica do sistema de estimular os sentidos:</a:t>
            </a:r>
          </a:p>
          <a:p>
            <a:pPr algn="l">
              <a:spcBef>
                <a:spcPts val="600"/>
              </a:spcBef>
              <a:defRPr sz="1500" b="0" i="0">
                <a:solidFill>
                  <a:srgbClr val="B0B8C4"/>
                </a:solidFill>
                <a:latin typeface="Segoe UI"/>
              </a:defRPr>
            </a:pPr>
            <a:r>
              <a:t>   • Visual: estereoscopia, FOV (field of view), resolucao</a:t>
            </a:r>
          </a:p>
          <a:p>
            <a:pPr algn="l">
              <a:spcBef>
                <a:spcPts val="600"/>
              </a:spcBef>
              <a:defRPr sz="1500" b="0" i="0">
                <a:solidFill>
                  <a:srgbClr val="B0B8C4"/>
                </a:solidFill>
                <a:latin typeface="Segoe UI"/>
              </a:defRPr>
            </a:pPr>
            <a:r>
              <a:t>   • Auditivo: audio espacial (HRTF), ambisonics</a:t>
            </a:r>
          </a:p>
          <a:p>
            <a:pPr algn="l">
              <a:spcBef>
                <a:spcPts val="600"/>
              </a:spcBef>
              <a:defRPr sz="1500" b="0" i="0">
                <a:solidFill>
                  <a:srgbClr val="B0B8C4"/>
                </a:solidFill>
                <a:latin typeface="Segoe UI"/>
              </a:defRPr>
            </a:pPr>
            <a:r>
              <a:t>   • Haptico: feedback tatil (controladores, luvas)</a:t>
            </a:r>
          </a:p>
          <a:p>
            <a:pPr algn="l">
              <a:spcBef>
                <a:spcPts val="600"/>
              </a:spcBef>
              <a:defRPr sz="1500" b="0" i="0">
                <a:solidFill>
                  <a:srgbClr val="B0B8C4"/>
                </a:solidFill>
                <a:latin typeface="Segoe UI"/>
              </a:defRPr>
            </a:pPr>
            <a:r>
              <a:t>   • Propriocetivo: hand tracking, body tracking</a:t>
            </a:r>
          </a:p>
          <a:p>
            <a:pPr algn="l">
              <a:spcBef>
                <a:spcPts val="600"/>
              </a:spcBef>
              <a:defRPr sz="600" b="0" i="0">
                <a:solidFill>
                  <a:srgbClr val="FFFFFF"/>
                </a:solidFill>
                <a:latin typeface="Segoe UI"/>
              </a:defRPr>
            </a:pPr>
            <a:endParaRPr/>
          </a:p>
          <a:p>
            <a:pPr algn="l">
              <a:spcBef>
                <a:spcPts val="600"/>
              </a:spcBef>
              <a:defRPr sz="1800" b="1" i="0">
                <a:solidFill>
                  <a:srgbClr val="FFFFFF"/>
                </a:solidFill>
                <a:latin typeface="Segoe UI"/>
              </a:defRPr>
            </a:pPr>
            <a:r>
              <a:t>3. AGENCIA (Agency)</a:t>
            </a:r>
          </a:p>
          <a:p>
            <a:pPr algn="l">
              <a:spcBef>
                <a:spcPts val="600"/>
              </a:spcBef>
              <a:defRPr sz="1500" b="0" i="0">
                <a:solidFill>
                  <a:srgbClr val="B0B8C4"/>
                </a:solidFill>
                <a:latin typeface="Segoe UI"/>
              </a:defRPr>
            </a:pPr>
            <a:r>
              <a:t>   Capacidade de agir e ver consequencias no mundo virtual.</a:t>
            </a:r>
          </a:p>
          <a:p>
            <a:pPr algn="l">
              <a:spcBef>
                <a:spcPts val="600"/>
              </a:spcBef>
              <a:defRPr sz="1500" b="0" i="0">
                <a:solidFill>
                  <a:srgbClr val="B0B8C4"/>
                </a:solidFill>
                <a:latin typeface="Segoe UI"/>
              </a:defRPr>
            </a:pPr>
            <a:r>
              <a:t>   Ativa o loop sensorio-motor: acao → feedback → aprendizagem.</a:t>
            </a:r>
          </a:p>
        </p:txBody>
      </p:sp>
      <p:sp>
        <p:nvSpPr>
          <p:cNvPr id="5" name="Rounded Rectangle 4"/>
          <p:cNvSpPr/>
          <p:nvPr/>
        </p:nvSpPr>
        <p:spPr>
          <a:xfrm>
            <a:off x="6858000" y="1463040"/>
            <a:ext cx="4754880" cy="47548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800" b="1">
                <a:solidFill>
                  <a:srgbClr val="58A6FF"/>
                </a:solidFill>
                <a:latin typeface="Segoe UI"/>
              </a:defRPr>
            </a:pPr>
            <a:r>
              <a:t>O que faz funcionar?</a:t>
            </a:r>
          </a:p>
          <a:p>
            <a:pPr algn="l">
              <a:spcBef>
                <a:spcPts val="600"/>
              </a:spcBef>
              <a:defRPr sz="1300" b="0" i="0">
                <a:solidFill>
                  <a:srgbClr val="B0B8C4"/>
                </a:solidFill>
                <a:latin typeface="Segoe UI"/>
              </a:defRPr>
            </a:pPr>
            <a:r>
              <a:t>• Embodiment: sensacao de ter um corpo virtual (rubber hand illusion)</a:t>
            </a:r>
          </a:p>
          <a:p>
            <a:pPr algn="l">
              <a:spcBef>
                <a:spcPts val="600"/>
              </a:spcBef>
              <a:defRPr sz="1300" b="0" i="0">
                <a:solidFill>
                  <a:srgbClr val="B0B8C4"/>
                </a:solidFill>
                <a:latin typeface="Segoe UI"/>
              </a:defRPr>
            </a:pPr>
            <a:r>
              <a:t>• Congruencia multisensorial: visao + audio + tato alinhados</a:t>
            </a:r>
          </a:p>
          <a:p>
            <a:pPr algn="l">
              <a:spcBef>
                <a:spcPts val="600"/>
              </a:spcBef>
              <a:defRPr sz="1300" b="0" i="0">
                <a:solidFill>
                  <a:srgbClr val="B0B8C4"/>
                </a:solidFill>
                <a:latin typeface="Segoe UI"/>
              </a:defRPr>
            </a:pPr>
            <a:r>
              <a:t>• Affordances: objetos virtuais 'convidam' a acao</a:t>
            </a:r>
          </a:p>
          <a:p>
            <a:pPr algn="l">
              <a:spcBef>
                <a:spcPts val="600"/>
              </a:spcBef>
              <a:defRPr sz="1300" b="0" i="0">
                <a:solidFill>
                  <a:srgbClr val="B0B8C4"/>
                </a:solidFill>
                <a:latin typeface="Segoe UI"/>
              </a:defRPr>
            </a:pPr>
            <a:r>
              <a:t>• Emotional engagement: reacoes emocionais reais a estimulos virtuais</a:t>
            </a:r>
          </a:p>
          <a:p>
            <a:pPr algn="l">
              <a:spcBef>
                <a:spcPts val="600"/>
              </a:spcBef>
              <a:defRPr sz="1300" b="0" i="0">
                <a:solidFill>
                  <a:srgbClr val="B0B8C4"/>
                </a:solidFill>
                <a:latin typeface="Segoe UI"/>
              </a:defRPr>
            </a:pPr>
            <a:r>
              <a:t>• Flow state: imersao total na tarefa (Csikszentmihalyi)</a:t>
            </a:r>
          </a:p>
          <a:p>
            <a:pPr algn="l">
              <a:spcBef>
                <a:spcPts val="600"/>
              </a:spcBef>
              <a:defRPr sz="1300" b="0" i="0">
                <a:solidFill>
                  <a:srgbClr val="B0B8C4"/>
                </a:solidFill>
                <a:latin typeface="Segoe UI"/>
              </a:defRPr>
            </a:pPr>
            <a:r>
              <a:t>• Memoria espacial: retencao superior com contexto 3D vs 2D</a:t>
            </a:r>
          </a:p>
        </p:txBody>
      </p:sp>
      <p:sp>
        <p:nvSpPr>
          <p:cNvPr id="7" name="TextBox 6"/>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Slater &amp; Sanchez-Vives, 2016 (Enhancing Our Lives with Immersive VR); Riva et al., 2007 (Affective Interactions Using VR)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Cybersickness: O Conflito Sensorial</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47831" y="1286082"/>
            <a:ext cx="7363609" cy="4985980"/>
          </a:xfrm>
          <a:prstGeom prst="rect">
            <a:avLst/>
          </a:prstGeom>
          <a:noFill/>
        </p:spPr>
        <p:txBody>
          <a:bodyPr wrap="square">
            <a:spAutoFit/>
          </a:bodyPr>
          <a:lstStyle/>
          <a:p>
            <a:pPr algn="l">
              <a:defRPr sz="1800" b="1">
                <a:solidFill>
                  <a:srgbClr val="58A6FF"/>
                </a:solidFill>
                <a:latin typeface="Segoe UI"/>
              </a:defRPr>
            </a:pPr>
            <a:r>
              <a:rPr dirty="0" err="1"/>
              <a:t>Etiologia</a:t>
            </a:r>
            <a:r>
              <a:rPr dirty="0"/>
              <a:t>: Sensory Conflict Theory (Reason &amp; Brand, 1975)</a:t>
            </a:r>
          </a:p>
          <a:p>
            <a:pPr algn="l">
              <a:spcBef>
                <a:spcPts val="600"/>
              </a:spcBef>
              <a:defRPr sz="600" b="0" i="0">
                <a:solidFill>
                  <a:srgbClr val="FFFFFF"/>
                </a:solidFill>
                <a:latin typeface="Segoe UI"/>
              </a:defRPr>
            </a:pPr>
            <a:endParaRPr dirty="0"/>
          </a:p>
          <a:p>
            <a:pPr algn="l">
              <a:spcBef>
                <a:spcPts val="600"/>
              </a:spcBef>
              <a:defRPr sz="1600" b="1" i="0">
                <a:solidFill>
                  <a:srgbClr val="FFFFFF"/>
                </a:solidFill>
                <a:latin typeface="Segoe UI"/>
              </a:defRPr>
            </a:pPr>
            <a:r>
              <a:rPr dirty="0" err="1"/>
              <a:t>Conflito</a:t>
            </a:r>
            <a:r>
              <a:rPr dirty="0"/>
              <a:t> </a:t>
            </a:r>
            <a:r>
              <a:rPr dirty="0" err="1"/>
              <a:t>Vestibulo</a:t>
            </a:r>
            <a:r>
              <a:rPr dirty="0"/>
              <a:t>-Ocular (inter-sensorial):</a:t>
            </a:r>
          </a:p>
          <a:p>
            <a:pPr algn="l">
              <a:spcBef>
                <a:spcPts val="600"/>
              </a:spcBef>
              <a:defRPr sz="1500" b="0" i="0">
                <a:solidFill>
                  <a:srgbClr val="B0B8C4"/>
                </a:solidFill>
                <a:latin typeface="Segoe UI"/>
              </a:defRPr>
            </a:pPr>
            <a:r>
              <a:rPr dirty="0" err="1"/>
              <a:t>Os</a:t>
            </a:r>
            <a:r>
              <a:rPr dirty="0"/>
              <a:t> </a:t>
            </a:r>
            <a:r>
              <a:rPr dirty="0" err="1"/>
              <a:t>olhos</a:t>
            </a:r>
            <a:r>
              <a:rPr dirty="0"/>
              <a:t> </a:t>
            </a:r>
            <a:r>
              <a:rPr dirty="0" err="1"/>
              <a:t>reportam</a:t>
            </a:r>
            <a:r>
              <a:rPr dirty="0"/>
              <a:t> </a:t>
            </a:r>
            <a:r>
              <a:rPr dirty="0" err="1"/>
              <a:t>movimento</a:t>
            </a:r>
            <a:r>
              <a:rPr dirty="0"/>
              <a:t> (</a:t>
            </a:r>
            <a:r>
              <a:rPr dirty="0" err="1"/>
              <a:t>fluxo</a:t>
            </a:r>
            <a:r>
              <a:rPr dirty="0"/>
              <a:t> </a:t>
            </a:r>
            <a:r>
              <a:rPr dirty="0" err="1"/>
              <a:t>optico</a:t>
            </a:r>
            <a:r>
              <a:rPr dirty="0"/>
              <a:t>), mas o </a:t>
            </a:r>
            <a:r>
              <a:rPr dirty="0" err="1"/>
              <a:t>sistema</a:t>
            </a:r>
            <a:endParaRPr dirty="0"/>
          </a:p>
          <a:p>
            <a:pPr algn="l">
              <a:spcBef>
                <a:spcPts val="600"/>
              </a:spcBef>
              <a:defRPr sz="1500" b="0" i="0">
                <a:solidFill>
                  <a:srgbClr val="B0B8C4"/>
                </a:solidFill>
                <a:latin typeface="Segoe UI"/>
              </a:defRPr>
            </a:pPr>
            <a:r>
              <a:rPr dirty="0"/>
              <a:t>vestibular (</a:t>
            </a:r>
            <a:r>
              <a:rPr dirty="0" err="1"/>
              <a:t>canais</a:t>
            </a:r>
            <a:r>
              <a:rPr dirty="0"/>
              <a:t> </a:t>
            </a:r>
            <a:r>
              <a:rPr dirty="0" err="1"/>
              <a:t>semicirculares</a:t>
            </a:r>
            <a:r>
              <a:rPr dirty="0"/>
              <a:t> + </a:t>
            </a:r>
            <a:r>
              <a:rPr dirty="0" err="1"/>
              <a:t>otolitos</a:t>
            </a:r>
            <a:r>
              <a:rPr dirty="0"/>
              <a:t>) </a:t>
            </a:r>
            <a:r>
              <a:rPr dirty="0" err="1"/>
              <a:t>reporta</a:t>
            </a:r>
            <a:r>
              <a:rPr dirty="0"/>
              <a:t> </a:t>
            </a:r>
            <a:r>
              <a:rPr dirty="0" err="1"/>
              <a:t>ausencia</a:t>
            </a:r>
            <a:endParaRPr dirty="0"/>
          </a:p>
          <a:p>
            <a:pPr algn="l">
              <a:spcBef>
                <a:spcPts val="600"/>
              </a:spcBef>
              <a:defRPr sz="1500" b="0" i="0">
                <a:solidFill>
                  <a:srgbClr val="B0B8C4"/>
                </a:solidFill>
                <a:latin typeface="Segoe UI"/>
              </a:defRPr>
            </a:pPr>
            <a:r>
              <a:rPr dirty="0"/>
              <a:t>de </a:t>
            </a:r>
            <a:r>
              <a:rPr dirty="0" err="1"/>
              <a:t>movimento</a:t>
            </a:r>
            <a:r>
              <a:rPr dirty="0"/>
              <a:t>. O </a:t>
            </a:r>
            <a:r>
              <a:rPr dirty="0" err="1"/>
              <a:t>cerebro</a:t>
            </a:r>
            <a:r>
              <a:rPr dirty="0"/>
              <a:t> </a:t>
            </a:r>
            <a:r>
              <a:rPr dirty="0" err="1"/>
              <a:t>interpreta</a:t>
            </a:r>
            <a:r>
              <a:rPr dirty="0"/>
              <a:t> </a:t>
            </a:r>
            <a:r>
              <a:rPr dirty="0" err="1"/>
              <a:t>como</a:t>
            </a:r>
            <a:r>
              <a:rPr dirty="0"/>
              <a:t> </a:t>
            </a:r>
            <a:r>
              <a:rPr dirty="0" err="1"/>
              <a:t>intoxicacao</a:t>
            </a:r>
            <a:r>
              <a:rPr dirty="0"/>
              <a:t> → nausea.</a:t>
            </a:r>
          </a:p>
          <a:p>
            <a:pPr algn="l">
              <a:spcBef>
                <a:spcPts val="600"/>
              </a:spcBef>
              <a:defRPr sz="800" b="0" i="0">
                <a:solidFill>
                  <a:srgbClr val="FFFFFF"/>
                </a:solidFill>
                <a:latin typeface="Segoe UI"/>
              </a:defRPr>
            </a:pPr>
            <a:endParaRPr dirty="0"/>
          </a:p>
          <a:p>
            <a:pPr algn="l">
              <a:spcBef>
                <a:spcPts val="600"/>
              </a:spcBef>
              <a:defRPr sz="1600" b="1" i="0">
                <a:solidFill>
                  <a:srgbClr val="FFFFFF"/>
                </a:solidFill>
                <a:latin typeface="Segoe UI"/>
              </a:defRPr>
            </a:pPr>
            <a:r>
              <a:rPr dirty="0" err="1"/>
              <a:t>Sintomas</a:t>
            </a:r>
            <a:r>
              <a:rPr dirty="0"/>
              <a:t> (SSQ — Simulator Sickness Questionnaire):</a:t>
            </a:r>
          </a:p>
          <a:p>
            <a:pPr algn="l">
              <a:spcBef>
                <a:spcPts val="600"/>
              </a:spcBef>
              <a:defRPr sz="1500" b="0" i="0">
                <a:solidFill>
                  <a:srgbClr val="B0B8C4"/>
                </a:solidFill>
                <a:latin typeface="Segoe UI"/>
              </a:defRPr>
            </a:pPr>
            <a:r>
              <a:rPr dirty="0"/>
              <a:t>• Nausea, </a:t>
            </a:r>
            <a:r>
              <a:rPr dirty="0" err="1"/>
              <a:t>tonturas</a:t>
            </a:r>
            <a:r>
              <a:rPr dirty="0"/>
              <a:t>, </a:t>
            </a:r>
            <a:r>
              <a:rPr dirty="0" err="1"/>
              <a:t>desorientacao</a:t>
            </a:r>
            <a:endParaRPr dirty="0"/>
          </a:p>
          <a:p>
            <a:pPr algn="l">
              <a:spcBef>
                <a:spcPts val="600"/>
              </a:spcBef>
              <a:defRPr sz="1500" b="0" i="0">
                <a:solidFill>
                  <a:srgbClr val="B0B8C4"/>
                </a:solidFill>
                <a:latin typeface="Segoe UI"/>
              </a:defRPr>
            </a:pPr>
            <a:r>
              <a:rPr dirty="0"/>
              <a:t>• Fadiga ocular (oculomotor strain)</a:t>
            </a:r>
          </a:p>
          <a:p>
            <a:pPr algn="l">
              <a:spcBef>
                <a:spcPts val="600"/>
              </a:spcBef>
              <a:defRPr sz="1500" b="0" i="0">
                <a:solidFill>
                  <a:srgbClr val="B0B8C4"/>
                </a:solidFill>
                <a:latin typeface="Segoe UI"/>
              </a:defRPr>
            </a:pPr>
            <a:r>
              <a:rPr dirty="0"/>
              <a:t>• </a:t>
            </a:r>
            <a:r>
              <a:rPr dirty="0" err="1"/>
              <a:t>Sudorese</a:t>
            </a:r>
            <a:r>
              <a:rPr dirty="0"/>
              <a:t>, </a:t>
            </a:r>
            <a:r>
              <a:rPr dirty="0" err="1"/>
              <a:t>cefaleia</a:t>
            </a:r>
            <a:endParaRPr dirty="0"/>
          </a:p>
          <a:p>
            <a:pPr algn="l">
              <a:spcBef>
                <a:spcPts val="600"/>
              </a:spcBef>
              <a:defRPr sz="1500" b="0" i="0">
                <a:solidFill>
                  <a:srgbClr val="B0B8C4"/>
                </a:solidFill>
                <a:latin typeface="Segoe UI"/>
              </a:defRPr>
            </a:pPr>
            <a:r>
              <a:rPr dirty="0"/>
              <a:t>• </a:t>
            </a:r>
            <a:r>
              <a:rPr dirty="0" err="1"/>
              <a:t>Prevalencia</a:t>
            </a:r>
            <a:r>
              <a:rPr dirty="0"/>
              <a:t>: 20-80% </a:t>
            </a:r>
            <a:r>
              <a:rPr dirty="0" err="1"/>
              <a:t>dependendo</a:t>
            </a:r>
            <a:r>
              <a:rPr dirty="0"/>
              <a:t> do </a:t>
            </a:r>
            <a:r>
              <a:rPr dirty="0" err="1"/>
              <a:t>conteudo</a:t>
            </a:r>
            <a:endParaRPr dirty="0"/>
          </a:p>
          <a:p>
            <a:pPr algn="l">
              <a:spcBef>
                <a:spcPts val="600"/>
              </a:spcBef>
              <a:defRPr sz="800" b="0" i="0">
                <a:solidFill>
                  <a:srgbClr val="FFFFFF"/>
                </a:solidFill>
                <a:latin typeface="Segoe UI"/>
              </a:defRPr>
            </a:pPr>
            <a:endParaRPr dirty="0"/>
          </a:p>
          <a:p>
            <a:pPr algn="l">
              <a:spcBef>
                <a:spcPts val="600"/>
              </a:spcBef>
              <a:defRPr sz="1600" b="1" i="0">
                <a:solidFill>
                  <a:srgbClr val="F78166"/>
                </a:solidFill>
                <a:latin typeface="Segoe UI"/>
              </a:defRPr>
            </a:pPr>
            <a:r>
              <a:rPr dirty="0" err="1"/>
              <a:t>Claustrofobia</a:t>
            </a:r>
            <a:r>
              <a:rPr dirty="0"/>
              <a:t> e VR:</a:t>
            </a:r>
          </a:p>
          <a:p>
            <a:pPr algn="l">
              <a:spcBef>
                <a:spcPts val="600"/>
              </a:spcBef>
              <a:defRPr sz="1500" b="0" i="0">
                <a:solidFill>
                  <a:srgbClr val="B0B8C4"/>
                </a:solidFill>
                <a:latin typeface="Segoe UI"/>
              </a:defRPr>
            </a:pPr>
            <a:r>
              <a:rPr dirty="0"/>
              <a:t>Headsets </a:t>
            </a:r>
            <a:r>
              <a:rPr dirty="0" err="1"/>
              <a:t>cobrem</a:t>
            </a:r>
            <a:r>
              <a:rPr dirty="0"/>
              <a:t> o campo visual → </a:t>
            </a:r>
            <a:r>
              <a:rPr dirty="0" err="1"/>
              <a:t>pode</a:t>
            </a:r>
            <a:r>
              <a:rPr dirty="0"/>
              <a:t> </a:t>
            </a:r>
            <a:r>
              <a:rPr dirty="0" err="1"/>
              <a:t>desencadear</a:t>
            </a:r>
            <a:endParaRPr dirty="0"/>
          </a:p>
          <a:p>
            <a:pPr algn="l">
              <a:spcBef>
                <a:spcPts val="600"/>
              </a:spcBef>
              <a:defRPr sz="1500" b="0" i="0">
                <a:solidFill>
                  <a:srgbClr val="B0B8C4"/>
                </a:solidFill>
                <a:latin typeface="Segoe UI"/>
              </a:defRPr>
            </a:pPr>
            <a:r>
              <a:rPr dirty="0" err="1"/>
              <a:t>claustrofobia</a:t>
            </a:r>
            <a:r>
              <a:rPr dirty="0"/>
              <a:t>. </a:t>
            </a:r>
            <a:r>
              <a:rPr dirty="0" err="1"/>
              <a:t>Solucao</a:t>
            </a:r>
            <a:r>
              <a:rPr dirty="0"/>
              <a:t>: passthrough mode, </a:t>
            </a:r>
            <a:r>
              <a:rPr dirty="0" err="1"/>
              <a:t>sessoes</a:t>
            </a:r>
            <a:r>
              <a:rPr dirty="0"/>
              <a:t> </a:t>
            </a:r>
            <a:r>
              <a:rPr dirty="0" err="1"/>
              <a:t>curtas</a:t>
            </a:r>
            <a:r>
              <a:rPr dirty="0"/>
              <a:t>,</a:t>
            </a:r>
          </a:p>
          <a:p>
            <a:pPr algn="l">
              <a:spcBef>
                <a:spcPts val="600"/>
              </a:spcBef>
              <a:defRPr sz="1500" b="0" i="0">
                <a:solidFill>
                  <a:srgbClr val="B0B8C4"/>
                </a:solidFill>
                <a:latin typeface="Segoe UI"/>
              </a:defRPr>
            </a:pPr>
            <a:r>
              <a:rPr dirty="0"/>
              <a:t>ambientes </a:t>
            </a:r>
            <a:r>
              <a:rPr dirty="0" err="1"/>
              <a:t>abertos</a:t>
            </a:r>
            <a:r>
              <a:rPr dirty="0"/>
              <a:t>, </a:t>
            </a:r>
            <a:r>
              <a:rPr dirty="0" err="1"/>
              <a:t>permitir</a:t>
            </a:r>
            <a:r>
              <a:rPr dirty="0"/>
              <a:t> remover headset a </a:t>
            </a:r>
            <a:r>
              <a:rPr dirty="0" err="1"/>
              <a:t>qualquer</a:t>
            </a:r>
            <a:r>
              <a:rPr dirty="0"/>
              <a:t> </a:t>
            </a:r>
            <a:r>
              <a:rPr dirty="0" err="1"/>
              <a:t>momento</a:t>
            </a:r>
            <a:r>
              <a:rPr dirty="0"/>
              <a:t>.</a:t>
            </a:r>
          </a:p>
        </p:txBody>
      </p:sp>
      <p:sp>
        <p:nvSpPr>
          <p:cNvPr id="5" name="Rounded Rectangle 4"/>
          <p:cNvSpPr/>
          <p:nvPr/>
        </p:nvSpPr>
        <p:spPr>
          <a:xfrm>
            <a:off x="6979920" y="1293702"/>
            <a:ext cx="4754880" cy="457200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11440" y="1645920"/>
            <a:ext cx="4206240" cy="457200"/>
          </a:xfrm>
          <a:prstGeom prst="rect">
            <a:avLst/>
          </a:prstGeom>
          <a:noFill/>
        </p:spPr>
        <p:txBody>
          <a:bodyPr wrap="square">
            <a:spAutoFit/>
          </a:bodyPr>
          <a:lstStyle/>
          <a:p>
            <a:pPr algn="l">
              <a:defRPr sz="1800" b="1">
                <a:solidFill>
                  <a:srgbClr val="F78166"/>
                </a:solidFill>
                <a:latin typeface="Segoe UI"/>
              </a:defRPr>
            </a:pPr>
            <a:r>
              <a:rPr dirty="0" err="1"/>
              <a:t>Estrategias</a:t>
            </a:r>
            <a:r>
              <a:rPr dirty="0"/>
              <a:t> de </a:t>
            </a:r>
            <a:r>
              <a:rPr dirty="0" err="1"/>
              <a:t>Mitigacao</a:t>
            </a:r>
            <a:endParaRPr dirty="0"/>
          </a:p>
          <a:p>
            <a:pPr algn="l">
              <a:spcBef>
                <a:spcPts val="400"/>
              </a:spcBef>
              <a:defRPr sz="1300" b="0" i="0">
                <a:solidFill>
                  <a:srgbClr val="B0B8C4"/>
                </a:solidFill>
                <a:latin typeface="Segoe UI"/>
              </a:defRPr>
            </a:pPr>
            <a:r>
              <a:rPr dirty="0"/>
              <a:t>• 90+ fps (</a:t>
            </a:r>
            <a:r>
              <a:rPr dirty="0" err="1"/>
              <a:t>ver</a:t>
            </a:r>
            <a:r>
              <a:rPr dirty="0"/>
              <a:t> </a:t>
            </a:r>
            <a:r>
              <a:rPr dirty="0" err="1"/>
              <a:t>requisitos</a:t>
            </a:r>
            <a:r>
              <a:rPr dirty="0"/>
              <a:t> </a:t>
            </a:r>
            <a:r>
              <a:rPr dirty="0" err="1"/>
              <a:t>tecnicos</a:t>
            </a:r>
            <a:r>
              <a:rPr dirty="0"/>
              <a:t>)</a:t>
            </a:r>
          </a:p>
          <a:p>
            <a:pPr algn="l">
              <a:spcBef>
                <a:spcPts val="400"/>
              </a:spcBef>
              <a:defRPr sz="1300" b="0" i="0">
                <a:solidFill>
                  <a:srgbClr val="B0B8C4"/>
                </a:solidFill>
                <a:latin typeface="Segoe UI"/>
              </a:defRPr>
            </a:pPr>
            <a:r>
              <a:rPr dirty="0"/>
              <a:t>• Motion-to-photon &lt; 20ms</a:t>
            </a:r>
          </a:p>
          <a:p>
            <a:pPr algn="l">
              <a:spcBef>
                <a:spcPts val="400"/>
              </a:spcBef>
              <a:defRPr sz="1300" b="0" i="0">
                <a:solidFill>
                  <a:srgbClr val="B0B8C4"/>
                </a:solidFill>
                <a:latin typeface="Segoe UI"/>
              </a:defRPr>
            </a:pPr>
            <a:r>
              <a:rPr dirty="0"/>
              <a:t>• </a:t>
            </a:r>
            <a:r>
              <a:rPr dirty="0" err="1"/>
              <a:t>Vinheta</a:t>
            </a:r>
            <a:r>
              <a:rPr dirty="0"/>
              <a:t> (FOV restriction) </a:t>
            </a:r>
            <a:r>
              <a:rPr dirty="0" err="1"/>
              <a:t>em</a:t>
            </a:r>
            <a:r>
              <a:rPr dirty="0"/>
              <a:t> </a:t>
            </a:r>
            <a:r>
              <a:rPr dirty="0" err="1"/>
              <a:t>locomocao</a:t>
            </a:r>
            <a:endParaRPr dirty="0"/>
          </a:p>
          <a:p>
            <a:pPr algn="l">
              <a:spcBef>
                <a:spcPts val="400"/>
              </a:spcBef>
              <a:defRPr sz="1300" b="0" i="0">
                <a:solidFill>
                  <a:srgbClr val="B0B8C4"/>
                </a:solidFill>
                <a:latin typeface="Segoe UI"/>
              </a:defRPr>
            </a:pPr>
            <a:r>
              <a:rPr dirty="0"/>
              <a:t>• </a:t>
            </a:r>
            <a:r>
              <a:rPr dirty="0" err="1"/>
              <a:t>Teletransporte</a:t>
            </a:r>
            <a:r>
              <a:rPr dirty="0"/>
              <a:t> vs </a:t>
            </a:r>
            <a:r>
              <a:rPr dirty="0" err="1"/>
              <a:t>locomocao</a:t>
            </a:r>
            <a:r>
              <a:rPr dirty="0"/>
              <a:t> continua</a:t>
            </a:r>
          </a:p>
          <a:p>
            <a:pPr algn="l">
              <a:spcBef>
                <a:spcPts val="400"/>
              </a:spcBef>
              <a:defRPr sz="1300" b="0" i="0">
                <a:solidFill>
                  <a:srgbClr val="B0B8C4"/>
                </a:solidFill>
                <a:latin typeface="Segoe UI"/>
              </a:defRPr>
            </a:pPr>
            <a:r>
              <a:rPr dirty="0"/>
              <a:t>• </a:t>
            </a:r>
            <a:r>
              <a:rPr dirty="0" err="1"/>
              <a:t>Pontos</a:t>
            </a:r>
            <a:r>
              <a:rPr dirty="0"/>
              <a:t> </a:t>
            </a:r>
            <a:r>
              <a:rPr dirty="0" err="1"/>
              <a:t>referencia</a:t>
            </a:r>
            <a:r>
              <a:rPr dirty="0"/>
              <a:t> </a:t>
            </a:r>
            <a:r>
              <a:rPr dirty="0" err="1"/>
              <a:t>fixos</a:t>
            </a:r>
            <a:r>
              <a:rPr dirty="0"/>
              <a:t> (cockpit, </a:t>
            </a:r>
            <a:r>
              <a:rPr dirty="0" err="1"/>
              <a:t>nariz</a:t>
            </a:r>
            <a:r>
              <a:rPr dirty="0"/>
              <a:t>)</a:t>
            </a:r>
          </a:p>
          <a:p>
            <a:pPr algn="l">
              <a:spcBef>
                <a:spcPts val="400"/>
              </a:spcBef>
              <a:defRPr sz="1300" b="0" i="0">
                <a:solidFill>
                  <a:srgbClr val="B0B8C4"/>
                </a:solidFill>
                <a:latin typeface="Segoe UI"/>
              </a:defRPr>
            </a:pPr>
            <a:r>
              <a:rPr dirty="0"/>
              <a:t>• </a:t>
            </a:r>
            <a:r>
              <a:rPr dirty="0" err="1"/>
              <a:t>Sessoes</a:t>
            </a:r>
            <a:r>
              <a:rPr dirty="0"/>
              <a:t>: </a:t>
            </a:r>
            <a:r>
              <a:rPr dirty="0" err="1"/>
              <a:t>iniciar</a:t>
            </a:r>
            <a:r>
              <a:rPr dirty="0"/>
              <a:t> 5-10 min, </a:t>
            </a:r>
            <a:r>
              <a:rPr dirty="0" err="1"/>
              <a:t>aumentar</a:t>
            </a:r>
            <a:endParaRPr dirty="0"/>
          </a:p>
          <a:p>
            <a:pPr algn="l">
              <a:spcBef>
                <a:spcPts val="400"/>
              </a:spcBef>
              <a:defRPr sz="1300" b="0" i="0">
                <a:solidFill>
                  <a:srgbClr val="B0B8C4"/>
                </a:solidFill>
                <a:latin typeface="Segoe UI"/>
              </a:defRPr>
            </a:pPr>
            <a:r>
              <a:rPr dirty="0"/>
              <a:t>• </a:t>
            </a:r>
            <a:r>
              <a:rPr dirty="0" err="1"/>
              <a:t>Posicao</a:t>
            </a:r>
            <a:r>
              <a:rPr dirty="0"/>
              <a:t> </a:t>
            </a:r>
            <a:r>
              <a:rPr dirty="0" err="1"/>
              <a:t>sentada</a:t>
            </a:r>
            <a:r>
              <a:rPr dirty="0"/>
              <a:t> </a:t>
            </a:r>
            <a:r>
              <a:rPr dirty="0" err="1"/>
              <a:t>reduz</a:t>
            </a:r>
            <a:r>
              <a:rPr dirty="0"/>
              <a:t> </a:t>
            </a:r>
            <a:r>
              <a:rPr dirty="0" err="1"/>
              <a:t>conflito</a:t>
            </a:r>
            <a:endParaRPr dirty="0"/>
          </a:p>
          <a:p>
            <a:pPr algn="l">
              <a:spcBef>
                <a:spcPts val="400"/>
              </a:spcBef>
              <a:defRPr sz="1300" b="0" i="0">
                <a:solidFill>
                  <a:srgbClr val="B0B8C4"/>
                </a:solidFill>
                <a:latin typeface="Segoe UI"/>
              </a:defRPr>
            </a:pPr>
            <a:r>
              <a:rPr dirty="0"/>
              <a:t>• NUNCA </a:t>
            </a:r>
            <a:r>
              <a:rPr dirty="0" err="1"/>
              <a:t>tirar</a:t>
            </a:r>
            <a:r>
              <a:rPr dirty="0"/>
              <a:t> </a:t>
            </a:r>
            <a:r>
              <a:rPr dirty="0" err="1"/>
              <a:t>controlo</a:t>
            </a:r>
            <a:r>
              <a:rPr dirty="0"/>
              <a:t> da camara</a:t>
            </a:r>
          </a:p>
          <a:p>
            <a:pPr algn="l">
              <a:spcBef>
                <a:spcPts val="400"/>
              </a:spcBef>
              <a:defRPr sz="1300" b="0" i="0">
                <a:solidFill>
                  <a:srgbClr val="B0B8C4"/>
                </a:solidFill>
                <a:latin typeface="Segoe UI"/>
              </a:defRPr>
            </a:pPr>
            <a:r>
              <a:rPr dirty="0"/>
              <a:t>• Rest frames (</a:t>
            </a:r>
            <a:r>
              <a:rPr dirty="0" err="1"/>
              <a:t>elementos</a:t>
            </a:r>
            <a:r>
              <a:rPr dirty="0"/>
              <a:t> </a:t>
            </a:r>
            <a:r>
              <a:rPr dirty="0" err="1"/>
              <a:t>estaticos</a:t>
            </a:r>
            <a:r>
              <a:rPr dirty="0"/>
              <a:t>)</a:t>
            </a:r>
          </a:p>
          <a:p>
            <a:pPr algn="l">
              <a:spcBef>
                <a:spcPts val="400"/>
              </a:spcBef>
              <a:defRPr sz="1300" b="0" i="0">
                <a:solidFill>
                  <a:srgbClr val="B0B8C4"/>
                </a:solidFill>
                <a:latin typeface="Segoe UI"/>
              </a:defRPr>
            </a:pPr>
            <a:r>
              <a:rPr dirty="0"/>
              <a:t>• Vergence-accommodation: </a:t>
            </a:r>
            <a:r>
              <a:rPr dirty="0" err="1"/>
              <a:t>distancia</a:t>
            </a:r>
            <a:r>
              <a:rPr dirty="0"/>
              <a:t> </a:t>
            </a:r>
            <a:r>
              <a:rPr dirty="0" err="1"/>
              <a:t>fixa</a:t>
            </a:r>
            <a:endParaRPr dirty="0"/>
          </a:p>
          <a:p>
            <a:pPr algn="l">
              <a:spcBef>
                <a:spcPts val="400"/>
              </a:spcBef>
              <a:defRPr sz="1300" b="0" i="0">
                <a:solidFill>
                  <a:srgbClr val="B0B8C4"/>
                </a:solidFill>
                <a:latin typeface="Segoe UI"/>
              </a:defRPr>
            </a:pPr>
            <a:r>
              <a:rPr dirty="0"/>
              <a:t>• Comfort ratings: Meta/Oculus </a:t>
            </a:r>
            <a:r>
              <a:rPr dirty="0" err="1"/>
              <a:t>classifica</a:t>
            </a:r>
            <a:endParaRPr dirty="0"/>
          </a:p>
          <a:p>
            <a:pPr algn="l">
              <a:spcBef>
                <a:spcPts val="400"/>
              </a:spcBef>
              <a:defRPr sz="1300" b="0" i="0">
                <a:solidFill>
                  <a:srgbClr val="B0B8C4"/>
                </a:solidFill>
                <a:latin typeface="Segoe UI"/>
              </a:defRPr>
            </a:pPr>
            <a:r>
              <a:rPr dirty="0"/>
              <a:t>•   apps de Comfortable a Intense</a:t>
            </a:r>
          </a:p>
        </p:txBody>
      </p:sp>
      <p:sp>
        <p:nvSpPr>
          <p:cNvPr id="7" name="TextBox 6"/>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Reason &amp; Brand, 1975; Kennedy SSQ; LaViola, 2000 (Cybersickness in VR); Frontiers in VR 2024 (1478106)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Requisitos Tecnicos Minimos para VR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42062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26720">
                <a:tc>
                  <a:txBody>
                    <a:bodyPr/>
                    <a:lstStyle/>
                    <a:p>
                      <a:pPr>
                        <a:defRPr sz="1400" b="1">
                          <a:solidFill>
                            <a:srgbClr val="FFFFFF"/>
                          </a:solidFill>
                          <a:latin typeface="Segoe UI"/>
                        </a:defRPr>
                      </a:pPr>
                      <a:r>
                        <a:t>Parametro</a:t>
                      </a:r>
                    </a:p>
                  </a:txBody>
                  <a:tcPr>
                    <a:solidFill>
                      <a:srgbClr val="1A2A3A"/>
                    </a:solidFill>
                  </a:tcPr>
                </a:tc>
                <a:tc>
                  <a:txBody>
                    <a:bodyPr/>
                    <a:lstStyle/>
                    <a:p>
                      <a:pPr>
                        <a:defRPr sz="1400" b="1">
                          <a:solidFill>
                            <a:srgbClr val="FFFFFF"/>
                          </a:solidFill>
                          <a:latin typeface="Segoe UI"/>
                        </a:defRPr>
                      </a:pPr>
                      <a:r>
                        <a:t>Minimo</a:t>
                      </a:r>
                    </a:p>
                  </a:txBody>
                  <a:tcPr>
                    <a:solidFill>
                      <a:srgbClr val="1A2A3A"/>
                    </a:solidFill>
                  </a:tcPr>
                </a:tc>
                <a:tc>
                  <a:txBody>
                    <a:bodyPr/>
                    <a:lstStyle/>
                    <a:p>
                      <a:pPr>
                        <a:defRPr sz="1400" b="1">
                          <a:solidFill>
                            <a:srgbClr val="FFFFFF"/>
                          </a:solidFill>
                          <a:latin typeface="Segoe UI"/>
                        </a:defRPr>
                      </a:pPr>
                      <a:r>
                        <a:t>Recomendado</a:t>
                      </a:r>
                    </a:p>
                  </a:txBody>
                  <a:tcPr>
                    <a:solidFill>
                      <a:srgbClr val="1A2A3A"/>
                    </a:solidFill>
                  </a:tcPr>
                </a:tc>
                <a:tc>
                  <a:txBody>
                    <a:bodyPr/>
                    <a:lstStyle/>
                    <a:p>
                      <a:pPr>
                        <a:defRPr sz="1400" b="1">
                          <a:solidFill>
                            <a:srgbClr val="FFFFFF"/>
                          </a:solidFill>
                          <a:latin typeface="Segoe UI"/>
                        </a:defRPr>
                      </a:pPr>
                      <a:r>
                        <a:t>Porque importa</a:t>
                      </a:r>
                    </a:p>
                  </a:txBody>
                  <a:tcPr>
                    <a:solidFill>
                      <a:srgbClr val="1A2A3A"/>
                    </a:solidFill>
                  </a:tcPr>
                </a:tc>
                <a:extLst>
                  <a:ext uri="{0D108BD9-81ED-4DB2-BD59-A6C34878D82A}">
                    <a16:rowId xmlns:a16="http://schemas.microsoft.com/office/drawing/2014/main" val="10000"/>
                  </a:ext>
                </a:extLst>
              </a:tr>
              <a:tr h="426720">
                <a:tc>
                  <a:txBody>
                    <a:bodyPr/>
                    <a:lstStyle/>
                    <a:p>
                      <a:pPr>
                        <a:defRPr sz="1300">
                          <a:solidFill>
                            <a:srgbClr val="B0B8C4"/>
                          </a:solidFill>
                          <a:latin typeface="Segoe UI"/>
                        </a:defRPr>
                      </a:pPr>
                      <a:r>
                        <a:t>Frame rate</a:t>
                      </a:r>
                    </a:p>
                  </a:txBody>
                  <a:tcPr>
                    <a:solidFill>
                      <a:srgbClr val="121820"/>
                    </a:solidFill>
                  </a:tcPr>
                </a:tc>
                <a:tc>
                  <a:txBody>
                    <a:bodyPr/>
                    <a:lstStyle/>
                    <a:p>
                      <a:pPr>
                        <a:defRPr sz="1300">
                          <a:solidFill>
                            <a:srgbClr val="B0B8C4"/>
                          </a:solidFill>
                          <a:latin typeface="Segoe UI"/>
                        </a:defRPr>
                      </a:pPr>
                      <a:r>
                        <a:t>60 fps</a:t>
                      </a:r>
                    </a:p>
                  </a:txBody>
                  <a:tcPr>
                    <a:solidFill>
                      <a:srgbClr val="121820"/>
                    </a:solidFill>
                  </a:tcPr>
                </a:tc>
                <a:tc>
                  <a:txBody>
                    <a:bodyPr/>
                    <a:lstStyle/>
                    <a:p>
                      <a:pPr>
                        <a:defRPr sz="1300">
                          <a:solidFill>
                            <a:srgbClr val="B0B8C4"/>
                          </a:solidFill>
                          <a:latin typeface="Segoe UI"/>
                        </a:defRPr>
                      </a:pPr>
                      <a:r>
                        <a:t>90-120 fps</a:t>
                      </a:r>
                    </a:p>
                  </a:txBody>
                  <a:tcPr>
                    <a:solidFill>
                      <a:srgbClr val="121820"/>
                    </a:solidFill>
                  </a:tcPr>
                </a:tc>
                <a:tc>
                  <a:txBody>
                    <a:bodyPr/>
                    <a:lstStyle/>
                    <a:p>
                      <a:pPr>
                        <a:defRPr sz="1300">
                          <a:solidFill>
                            <a:srgbClr val="B0B8C4"/>
                          </a:solidFill>
                          <a:latin typeface="Segoe UI"/>
                        </a:defRPr>
                      </a:pPr>
                      <a:r>
                        <a:t>Abaixo: nausea (flicker percebido)</a:t>
                      </a:r>
                    </a:p>
                  </a:txBody>
                  <a:tcPr>
                    <a:solidFill>
                      <a:srgbClr val="121820"/>
                    </a:solidFill>
                  </a:tcPr>
                </a:tc>
                <a:extLst>
                  <a:ext uri="{0D108BD9-81ED-4DB2-BD59-A6C34878D82A}">
                    <a16:rowId xmlns:a16="http://schemas.microsoft.com/office/drawing/2014/main" val="10001"/>
                  </a:ext>
                </a:extLst>
              </a:tr>
              <a:tr h="426720">
                <a:tc>
                  <a:txBody>
                    <a:bodyPr/>
                    <a:lstStyle/>
                    <a:p>
                      <a:pPr>
                        <a:defRPr sz="1300">
                          <a:solidFill>
                            <a:srgbClr val="B0B8C4"/>
                          </a:solidFill>
                          <a:latin typeface="Segoe UI"/>
                        </a:defRPr>
                      </a:pPr>
                      <a:r>
                        <a:t>Latencia (MTP)</a:t>
                      </a:r>
                    </a:p>
                  </a:txBody>
                  <a:tcPr>
                    <a:solidFill>
                      <a:srgbClr val="161E28"/>
                    </a:solidFill>
                  </a:tcPr>
                </a:tc>
                <a:tc>
                  <a:txBody>
                    <a:bodyPr/>
                    <a:lstStyle/>
                    <a:p>
                      <a:pPr>
                        <a:defRPr sz="1300">
                          <a:solidFill>
                            <a:srgbClr val="B0B8C4"/>
                          </a:solidFill>
                          <a:latin typeface="Segoe UI"/>
                        </a:defRPr>
                      </a:pPr>
                      <a:r>
                        <a:t>&lt; 20 ms</a:t>
                      </a:r>
                    </a:p>
                  </a:txBody>
                  <a:tcPr>
                    <a:solidFill>
                      <a:srgbClr val="161E28"/>
                    </a:solidFill>
                  </a:tcPr>
                </a:tc>
                <a:tc>
                  <a:txBody>
                    <a:bodyPr/>
                    <a:lstStyle/>
                    <a:p>
                      <a:pPr>
                        <a:defRPr sz="1300">
                          <a:solidFill>
                            <a:srgbClr val="B0B8C4"/>
                          </a:solidFill>
                          <a:latin typeface="Segoe UI"/>
                        </a:defRPr>
                      </a:pPr>
                      <a:r>
                        <a:t>&lt; 12 ms</a:t>
                      </a:r>
                    </a:p>
                  </a:txBody>
                  <a:tcPr>
                    <a:solidFill>
                      <a:srgbClr val="161E28"/>
                    </a:solidFill>
                  </a:tcPr>
                </a:tc>
                <a:tc>
                  <a:txBody>
                    <a:bodyPr/>
                    <a:lstStyle/>
                    <a:p>
                      <a:pPr>
                        <a:defRPr sz="1300">
                          <a:solidFill>
                            <a:srgbClr val="B0B8C4"/>
                          </a:solidFill>
                          <a:latin typeface="Segoe UI"/>
                        </a:defRPr>
                      </a:pPr>
                      <a:r>
                        <a:t>Atraso entre mover cabeca e imagem atualizar</a:t>
                      </a:r>
                    </a:p>
                  </a:txBody>
                  <a:tcPr>
                    <a:solidFill>
                      <a:srgbClr val="161E28"/>
                    </a:solidFill>
                  </a:tcPr>
                </a:tc>
                <a:extLst>
                  <a:ext uri="{0D108BD9-81ED-4DB2-BD59-A6C34878D82A}">
                    <a16:rowId xmlns:a16="http://schemas.microsoft.com/office/drawing/2014/main" val="10002"/>
                  </a:ext>
                </a:extLst>
              </a:tr>
              <a:tr h="426720">
                <a:tc>
                  <a:txBody>
                    <a:bodyPr/>
                    <a:lstStyle/>
                    <a:p>
                      <a:pPr>
                        <a:defRPr sz="1300">
                          <a:solidFill>
                            <a:srgbClr val="B0B8C4"/>
                          </a:solidFill>
                          <a:latin typeface="Segoe UI"/>
                        </a:defRPr>
                      </a:pPr>
                      <a:r>
                        <a:t>Resolucao (por olho)</a:t>
                      </a:r>
                    </a:p>
                  </a:txBody>
                  <a:tcPr>
                    <a:solidFill>
                      <a:srgbClr val="121820"/>
                    </a:solidFill>
                  </a:tcPr>
                </a:tc>
                <a:tc>
                  <a:txBody>
                    <a:bodyPr/>
                    <a:lstStyle/>
                    <a:p>
                      <a:pPr>
                        <a:defRPr sz="1300">
                          <a:solidFill>
                            <a:srgbClr val="B0B8C4"/>
                          </a:solidFill>
                          <a:latin typeface="Segoe UI"/>
                        </a:defRPr>
                      </a:pPr>
                      <a:r>
                        <a:t>1440x1600</a:t>
                      </a:r>
                    </a:p>
                  </a:txBody>
                  <a:tcPr>
                    <a:solidFill>
                      <a:srgbClr val="121820"/>
                    </a:solidFill>
                  </a:tcPr>
                </a:tc>
                <a:tc>
                  <a:txBody>
                    <a:bodyPr/>
                    <a:lstStyle/>
                    <a:p>
                      <a:pPr>
                        <a:defRPr sz="1300">
                          <a:solidFill>
                            <a:srgbClr val="B0B8C4"/>
                          </a:solidFill>
                          <a:latin typeface="Segoe UI"/>
                        </a:defRPr>
                      </a:pPr>
                      <a:r>
                        <a:t>2064x2208+</a:t>
                      </a:r>
                    </a:p>
                  </a:txBody>
                  <a:tcPr>
                    <a:solidFill>
                      <a:srgbClr val="121820"/>
                    </a:solidFill>
                  </a:tcPr>
                </a:tc>
                <a:tc>
                  <a:txBody>
                    <a:bodyPr/>
                    <a:lstStyle/>
                    <a:p>
                      <a:pPr>
                        <a:defRPr sz="1300">
                          <a:solidFill>
                            <a:srgbClr val="B0B8C4"/>
                          </a:solidFill>
                          <a:latin typeface="Segoe UI"/>
                        </a:defRPr>
                      </a:pPr>
                      <a:r>
                        <a:t>Reduz screen-door effect</a:t>
                      </a:r>
                    </a:p>
                  </a:txBody>
                  <a:tcPr>
                    <a:solidFill>
                      <a:srgbClr val="121820"/>
                    </a:solidFill>
                  </a:tcPr>
                </a:tc>
                <a:extLst>
                  <a:ext uri="{0D108BD9-81ED-4DB2-BD59-A6C34878D82A}">
                    <a16:rowId xmlns:a16="http://schemas.microsoft.com/office/drawing/2014/main" val="10003"/>
                  </a:ext>
                </a:extLst>
              </a:tr>
              <a:tr h="426720">
                <a:tc>
                  <a:txBody>
                    <a:bodyPr/>
                    <a:lstStyle/>
                    <a:p>
                      <a:pPr>
                        <a:defRPr sz="1300">
                          <a:solidFill>
                            <a:srgbClr val="B0B8C4"/>
                          </a:solidFill>
                          <a:latin typeface="Segoe UI"/>
                        </a:defRPr>
                      </a:pPr>
                      <a:r>
                        <a:t>Field of View (FOV)</a:t>
                      </a:r>
                    </a:p>
                  </a:txBody>
                  <a:tcPr>
                    <a:solidFill>
                      <a:srgbClr val="161E28"/>
                    </a:solidFill>
                  </a:tcPr>
                </a:tc>
                <a:tc>
                  <a:txBody>
                    <a:bodyPr/>
                    <a:lstStyle/>
                    <a:p>
                      <a:pPr>
                        <a:defRPr sz="1300">
                          <a:solidFill>
                            <a:srgbClr val="B0B8C4"/>
                          </a:solidFill>
                          <a:latin typeface="Segoe UI"/>
                        </a:defRPr>
                      </a:pPr>
                      <a:r>
                        <a:t>90 graus</a:t>
                      </a:r>
                    </a:p>
                  </a:txBody>
                  <a:tcPr>
                    <a:solidFill>
                      <a:srgbClr val="161E28"/>
                    </a:solidFill>
                  </a:tcPr>
                </a:tc>
                <a:tc>
                  <a:txBody>
                    <a:bodyPr/>
                    <a:lstStyle/>
                    <a:p>
                      <a:pPr>
                        <a:defRPr sz="1300">
                          <a:solidFill>
                            <a:srgbClr val="B0B8C4"/>
                          </a:solidFill>
                          <a:latin typeface="Segoe UI"/>
                        </a:defRPr>
                      </a:pPr>
                      <a:r>
                        <a:t>110+ graus</a:t>
                      </a:r>
                    </a:p>
                  </a:txBody>
                  <a:tcPr>
                    <a:solidFill>
                      <a:srgbClr val="161E28"/>
                    </a:solidFill>
                  </a:tcPr>
                </a:tc>
                <a:tc>
                  <a:txBody>
                    <a:bodyPr/>
                    <a:lstStyle/>
                    <a:p>
                      <a:pPr>
                        <a:defRPr sz="1300">
                          <a:solidFill>
                            <a:srgbClr val="B0B8C4"/>
                          </a:solidFill>
                          <a:latin typeface="Segoe UI"/>
                        </a:defRPr>
                      </a:pPr>
                      <a:r>
                        <a:t>FOV estreito = visao tunel, quebra imersao</a:t>
                      </a:r>
                    </a:p>
                  </a:txBody>
                  <a:tcPr>
                    <a:solidFill>
                      <a:srgbClr val="161E28"/>
                    </a:solidFill>
                  </a:tcPr>
                </a:tc>
                <a:extLst>
                  <a:ext uri="{0D108BD9-81ED-4DB2-BD59-A6C34878D82A}">
                    <a16:rowId xmlns:a16="http://schemas.microsoft.com/office/drawing/2014/main" val="10004"/>
                  </a:ext>
                </a:extLst>
              </a:tr>
              <a:tr h="426720">
                <a:tc>
                  <a:txBody>
                    <a:bodyPr/>
                    <a:lstStyle/>
                    <a:p>
                      <a:pPr>
                        <a:defRPr sz="1300">
                          <a:solidFill>
                            <a:srgbClr val="B0B8C4"/>
                          </a:solidFill>
                          <a:latin typeface="Segoe UI"/>
                        </a:defRPr>
                      </a:pPr>
                      <a:r>
                        <a:t>Refresh rate</a:t>
                      </a:r>
                    </a:p>
                  </a:txBody>
                  <a:tcPr>
                    <a:solidFill>
                      <a:srgbClr val="121820"/>
                    </a:solidFill>
                  </a:tcPr>
                </a:tc>
                <a:tc>
                  <a:txBody>
                    <a:bodyPr/>
                    <a:lstStyle/>
                    <a:p>
                      <a:pPr>
                        <a:defRPr sz="1300">
                          <a:solidFill>
                            <a:srgbClr val="B0B8C4"/>
                          </a:solidFill>
                          <a:latin typeface="Segoe UI"/>
                        </a:defRPr>
                      </a:pPr>
                      <a:r>
                        <a:t>72 Hz</a:t>
                      </a:r>
                    </a:p>
                  </a:txBody>
                  <a:tcPr>
                    <a:solidFill>
                      <a:srgbClr val="121820"/>
                    </a:solidFill>
                  </a:tcPr>
                </a:tc>
                <a:tc>
                  <a:txBody>
                    <a:bodyPr/>
                    <a:lstStyle/>
                    <a:p>
                      <a:pPr>
                        <a:defRPr sz="1300">
                          <a:solidFill>
                            <a:srgbClr val="B0B8C4"/>
                          </a:solidFill>
                          <a:latin typeface="Segoe UI"/>
                        </a:defRPr>
                      </a:pPr>
                      <a:r>
                        <a:t>90-120 Hz</a:t>
                      </a:r>
                    </a:p>
                  </a:txBody>
                  <a:tcPr>
                    <a:solidFill>
                      <a:srgbClr val="121820"/>
                    </a:solidFill>
                  </a:tcPr>
                </a:tc>
                <a:tc>
                  <a:txBody>
                    <a:bodyPr/>
                    <a:lstStyle/>
                    <a:p>
                      <a:pPr>
                        <a:defRPr sz="1300">
                          <a:solidFill>
                            <a:srgbClr val="B0B8C4"/>
                          </a:solidFill>
                          <a:latin typeface="Segoe UI"/>
                        </a:defRPr>
                      </a:pPr>
                      <a:r>
                        <a:t>Hz = quantas vezes o ecra atualiza por segundo</a:t>
                      </a:r>
                    </a:p>
                  </a:txBody>
                  <a:tcPr>
                    <a:solidFill>
                      <a:srgbClr val="121820"/>
                    </a:solidFill>
                  </a:tcPr>
                </a:tc>
                <a:extLst>
                  <a:ext uri="{0D108BD9-81ED-4DB2-BD59-A6C34878D82A}">
                    <a16:rowId xmlns:a16="http://schemas.microsoft.com/office/drawing/2014/main" val="10005"/>
                  </a:ext>
                </a:extLst>
              </a:tr>
              <a:tr h="426720">
                <a:tc>
                  <a:txBody>
                    <a:bodyPr/>
                    <a:lstStyle/>
                    <a:p>
                      <a:pPr>
                        <a:defRPr sz="1300">
                          <a:solidFill>
                            <a:srgbClr val="B0B8C4"/>
                          </a:solidFill>
                          <a:latin typeface="Segoe UI"/>
                        </a:defRPr>
                      </a:pPr>
                      <a:r>
                        <a:t>Tracking</a:t>
                      </a:r>
                    </a:p>
                  </a:txBody>
                  <a:tcPr>
                    <a:solidFill>
                      <a:srgbClr val="161E28"/>
                    </a:solidFill>
                  </a:tcPr>
                </a:tc>
                <a:tc>
                  <a:txBody>
                    <a:bodyPr/>
                    <a:lstStyle/>
                    <a:p>
                      <a:pPr>
                        <a:defRPr sz="1300">
                          <a:solidFill>
                            <a:srgbClr val="B0B8C4"/>
                          </a:solidFill>
                          <a:latin typeface="Segoe UI"/>
                        </a:defRPr>
                      </a:pPr>
                      <a:r>
                        <a:t>3-DOF (rotacao)</a:t>
                      </a:r>
                    </a:p>
                  </a:txBody>
                  <a:tcPr>
                    <a:solidFill>
                      <a:srgbClr val="161E28"/>
                    </a:solidFill>
                  </a:tcPr>
                </a:tc>
                <a:tc>
                  <a:txBody>
                    <a:bodyPr/>
                    <a:lstStyle/>
                    <a:p>
                      <a:pPr>
                        <a:defRPr sz="1300">
                          <a:solidFill>
                            <a:srgbClr val="B0B8C4"/>
                          </a:solidFill>
                          <a:latin typeface="Segoe UI"/>
                        </a:defRPr>
                      </a:pPr>
                      <a:r>
                        <a:t>6-DOF (rot.+pos.)</a:t>
                      </a:r>
                    </a:p>
                  </a:txBody>
                  <a:tcPr>
                    <a:solidFill>
                      <a:srgbClr val="161E28"/>
                    </a:solidFill>
                  </a:tcPr>
                </a:tc>
                <a:tc>
                  <a:txBody>
                    <a:bodyPr/>
                    <a:lstStyle/>
                    <a:p>
                      <a:pPr>
                        <a:defRPr sz="1300">
                          <a:solidFill>
                            <a:srgbClr val="B0B8C4"/>
                          </a:solidFill>
                          <a:latin typeface="Segoe UI"/>
                        </a:defRPr>
                      </a:pPr>
                      <a:r>
                        <a:t>6-DOF permite andar; 3-DOF so olhar</a:t>
                      </a:r>
                    </a:p>
                  </a:txBody>
                  <a:tcPr>
                    <a:solidFill>
                      <a:srgbClr val="161E28"/>
                    </a:solidFill>
                  </a:tcPr>
                </a:tc>
                <a:extLst>
                  <a:ext uri="{0D108BD9-81ED-4DB2-BD59-A6C34878D82A}">
                    <a16:rowId xmlns:a16="http://schemas.microsoft.com/office/drawing/2014/main" val="10006"/>
                  </a:ext>
                </a:extLst>
              </a:tr>
              <a:tr h="426720">
                <a:tc>
                  <a:txBody>
                    <a:bodyPr/>
                    <a:lstStyle/>
                    <a:p>
                      <a:pPr>
                        <a:defRPr sz="1300">
                          <a:solidFill>
                            <a:srgbClr val="B0B8C4"/>
                          </a:solidFill>
                          <a:latin typeface="Segoe UI"/>
                        </a:defRPr>
                      </a:pPr>
                      <a:r>
                        <a:t>IPD adjustment</a:t>
                      </a:r>
                    </a:p>
                  </a:txBody>
                  <a:tcPr>
                    <a:solidFill>
                      <a:srgbClr val="121820"/>
                    </a:solidFill>
                  </a:tcPr>
                </a:tc>
                <a:tc>
                  <a:txBody>
                    <a:bodyPr/>
                    <a:lstStyle/>
                    <a:p>
                      <a:pPr>
                        <a:defRPr sz="1300">
                          <a:solidFill>
                            <a:srgbClr val="B0B8C4"/>
                          </a:solidFill>
                          <a:latin typeface="Segoe UI"/>
                        </a:defRPr>
                      </a:pPr>
                      <a:r>
                        <a:t>Fixo</a:t>
                      </a:r>
                    </a:p>
                  </a:txBody>
                  <a:tcPr>
                    <a:solidFill>
                      <a:srgbClr val="121820"/>
                    </a:solidFill>
                  </a:tcPr>
                </a:tc>
                <a:tc>
                  <a:txBody>
                    <a:bodyPr/>
                    <a:lstStyle/>
                    <a:p>
                      <a:pPr>
                        <a:defRPr sz="1300">
                          <a:solidFill>
                            <a:srgbClr val="B0B8C4"/>
                          </a:solidFill>
                          <a:latin typeface="Segoe UI"/>
                        </a:defRPr>
                      </a:pPr>
                      <a:r>
                        <a:t>Ajustavel</a:t>
                      </a:r>
                    </a:p>
                  </a:txBody>
                  <a:tcPr>
                    <a:solidFill>
                      <a:srgbClr val="121820"/>
                    </a:solidFill>
                  </a:tcPr>
                </a:tc>
                <a:tc>
                  <a:txBody>
                    <a:bodyPr/>
                    <a:lstStyle/>
                    <a:p>
                      <a:pPr>
                        <a:defRPr sz="1300">
                          <a:solidFill>
                            <a:srgbClr val="B0B8C4"/>
                          </a:solidFill>
                          <a:latin typeface="Segoe UI"/>
                        </a:defRPr>
                      </a:pPr>
                      <a:r>
                        <a:t>Distancia inter-pupilar: errado = fadiga ocular</a:t>
                      </a:r>
                    </a:p>
                  </a:txBody>
                  <a:tcPr>
                    <a:solidFill>
                      <a:srgbClr val="121820"/>
                    </a:solidFill>
                  </a:tcPr>
                </a:tc>
                <a:extLst>
                  <a:ext uri="{0D108BD9-81ED-4DB2-BD59-A6C34878D82A}">
                    <a16:rowId xmlns:a16="http://schemas.microsoft.com/office/drawing/2014/main" val="10007"/>
                  </a:ext>
                </a:extLst>
              </a:tr>
              <a:tr h="426720">
                <a:tc>
                  <a:txBody>
                    <a:bodyPr/>
                    <a:lstStyle/>
                    <a:p>
                      <a:pPr>
                        <a:defRPr sz="1300">
                          <a:solidFill>
                            <a:srgbClr val="B0B8C4"/>
                          </a:solidFill>
                          <a:latin typeface="Segoe UI"/>
                        </a:defRPr>
                      </a:pPr>
                      <a:r>
                        <a:t>Audio</a:t>
                      </a:r>
                    </a:p>
                  </a:txBody>
                  <a:tcPr>
                    <a:solidFill>
                      <a:srgbClr val="161E28"/>
                    </a:solidFill>
                  </a:tcPr>
                </a:tc>
                <a:tc>
                  <a:txBody>
                    <a:bodyPr/>
                    <a:lstStyle/>
                    <a:p>
                      <a:pPr>
                        <a:defRPr sz="1300">
                          <a:solidFill>
                            <a:srgbClr val="B0B8C4"/>
                          </a:solidFill>
                          <a:latin typeface="Segoe UI"/>
                        </a:defRPr>
                      </a:pPr>
                      <a:r>
                        <a:t>Stereo</a:t>
                      </a:r>
                    </a:p>
                  </a:txBody>
                  <a:tcPr>
                    <a:solidFill>
                      <a:srgbClr val="161E28"/>
                    </a:solidFill>
                  </a:tcPr>
                </a:tc>
                <a:tc>
                  <a:txBody>
                    <a:bodyPr/>
                    <a:lstStyle/>
                    <a:p>
                      <a:pPr>
                        <a:defRPr sz="1300">
                          <a:solidFill>
                            <a:srgbClr val="B0B8C4"/>
                          </a:solidFill>
                          <a:latin typeface="Segoe UI"/>
                        </a:defRPr>
                      </a:pPr>
                      <a:r>
                        <a:t>Espacial HRTF</a:t>
                      </a:r>
                    </a:p>
                  </a:txBody>
                  <a:tcPr>
                    <a:solidFill>
                      <a:srgbClr val="161E28"/>
                    </a:solidFill>
                  </a:tcPr>
                </a:tc>
                <a:tc>
                  <a:txBody>
                    <a:bodyPr/>
                    <a:lstStyle/>
                    <a:p>
                      <a:pPr>
                        <a:defRPr sz="1300">
                          <a:solidFill>
                            <a:srgbClr val="B0B8C4"/>
                          </a:solidFill>
                          <a:latin typeface="Segoe UI"/>
                        </a:defRPr>
                      </a:pPr>
                      <a:r>
                        <a:t>Audio 3D: som vem da direcao correta</a:t>
                      </a:r>
                    </a:p>
                  </a:txBody>
                  <a:tcPr>
                    <a:solidFill>
                      <a:srgbClr val="161E28"/>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731520" y="5779546"/>
            <a:ext cx="10058400" cy="914400"/>
          </a:xfrm>
          <a:prstGeom prst="rect">
            <a:avLst/>
          </a:prstGeom>
          <a:noFill/>
        </p:spPr>
        <p:txBody>
          <a:bodyPr wrap="square">
            <a:spAutoFit/>
          </a:bodyPr>
          <a:lstStyle/>
          <a:p>
            <a:pPr algn="l">
              <a:defRPr sz="1400" b="1">
                <a:solidFill>
                  <a:srgbClr val="58A6FF"/>
                </a:solidFill>
                <a:latin typeface="Segoe UI"/>
              </a:defRPr>
            </a:pPr>
            <a:r>
              <a:rPr dirty="0" err="1"/>
              <a:t>Glossario</a:t>
            </a:r>
            <a:r>
              <a:rPr dirty="0"/>
              <a:t> </a:t>
            </a:r>
            <a:r>
              <a:rPr dirty="0" err="1"/>
              <a:t>rapido</a:t>
            </a:r>
            <a:r>
              <a:rPr dirty="0"/>
              <a:t>:</a:t>
            </a:r>
          </a:p>
          <a:p>
            <a:pPr algn="l">
              <a:spcBef>
                <a:spcPts val="600"/>
              </a:spcBef>
              <a:defRPr sz="1200" b="0" i="0">
                <a:solidFill>
                  <a:srgbClr val="555F6B"/>
                </a:solidFill>
                <a:latin typeface="Segoe UI"/>
              </a:defRPr>
            </a:pPr>
            <a:r>
              <a:rPr dirty="0"/>
              <a:t>fps = frames per second | MTP = motion-to-photon latency | DOF = degrees of freedom | FOV = field of view | IPD = inter-pupillary distance | HRTF = head-related transfer function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Frame Rate: Cinema vs VR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292608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18011">
                <a:tc>
                  <a:txBody>
                    <a:bodyPr/>
                    <a:lstStyle/>
                    <a:p>
                      <a:pPr>
                        <a:defRPr sz="1400" b="1">
                          <a:solidFill>
                            <a:srgbClr val="FFFFFF"/>
                          </a:solidFill>
                          <a:latin typeface="Segoe UI"/>
                        </a:defRPr>
                      </a:pPr>
                      <a:r>
                        <a:t>Frame Rate</a:t>
                      </a:r>
                    </a:p>
                  </a:txBody>
                  <a:tcPr>
                    <a:solidFill>
                      <a:srgbClr val="1A2A3A"/>
                    </a:solidFill>
                  </a:tcPr>
                </a:tc>
                <a:tc>
                  <a:txBody>
                    <a:bodyPr/>
                    <a:lstStyle/>
                    <a:p>
                      <a:pPr>
                        <a:defRPr sz="1400" b="1">
                          <a:solidFill>
                            <a:srgbClr val="FFFFFF"/>
                          </a:solidFill>
                          <a:latin typeface="Segoe UI"/>
                        </a:defRPr>
                      </a:pPr>
                      <a:r>
                        <a:t>Contexto</a:t>
                      </a:r>
                    </a:p>
                  </a:txBody>
                  <a:tcPr>
                    <a:solidFill>
                      <a:srgbClr val="1A2A3A"/>
                    </a:solidFill>
                  </a:tcPr>
                </a:tc>
                <a:tc>
                  <a:txBody>
                    <a:bodyPr/>
                    <a:lstStyle/>
                    <a:p>
                      <a:pPr>
                        <a:defRPr sz="1400" b="1">
                          <a:solidFill>
                            <a:srgbClr val="FFFFFF"/>
                          </a:solidFill>
                          <a:latin typeface="Segoe UI"/>
                        </a:defRPr>
                      </a:pPr>
                      <a:r>
                        <a:t>Em VR</a:t>
                      </a:r>
                    </a:p>
                  </a:txBody>
                  <a:tcPr>
                    <a:solidFill>
                      <a:srgbClr val="1A2A3A"/>
                    </a:solidFill>
                  </a:tcPr>
                </a:tc>
                <a:extLst>
                  <a:ext uri="{0D108BD9-81ED-4DB2-BD59-A6C34878D82A}">
                    <a16:rowId xmlns:a16="http://schemas.microsoft.com/office/drawing/2014/main" val="10000"/>
                  </a:ext>
                </a:extLst>
              </a:tr>
              <a:tr h="418011">
                <a:tc>
                  <a:txBody>
                    <a:bodyPr/>
                    <a:lstStyle/>
                    <a:p>
                      <a:pPr>
                        <a:defRPr sz="1300">
                          <a:solidFill>
                            <a:srgbClr val="B0B8C4"/>
                          </a:solidFill>
                          <a:latin typeface="Segoe UI"/>
                        </a:defRPr>
                      </a:pPr>
                      <a:r>
                        <a:t>24 fps</a:t>
                      </a:r>
                    </a:p>
                  </a:txBody>
                  <a:tcPr>
                    <a:solidFill>
                      <a:srgbClr val="121820"/>
                    </a:solidFill>
                  </a:tcPr>
                </a:tc>
                <a:tc>
                  <a:txBody>
                    <a:bodyPr/>
                    <a:lstStyle/>
                    <a:p>
                      <a:pPr>
                        <a:defRPr sz="1300">
                          <a:solidFill>
                            <a:srgbClr val="B0B8C4"/>
                          </a:solidFill>
                          <a:latin typeface="Segoe UI"/>
                        </a:defRPr>
                      </a:pPr>
                      <a:r>
                        <a:t>Cinema (standard desde 1927)</a:t>
                      </a:r>
                    </a:p>
                  </a:txBody>
                  <a:tcPr>
                    <a:solidFill>
                      <a:srgbClr val="121820"/>
                    </a:solidFill>
                  </a:tcPr>
                </a:tc>
                <a:tc>
                  <a:txBody>
                    <a:bodyPr/>
                    <a:lstStyle/>
                    <a:p>
                      <a:pPr>
                        <a:defRPr sz="1300">
                          <a:solidFill>
                            <a:srgbClr val="B0B8C4"/>
                          </a:solidFill>
                          <a:latin typeface="Segoe UI"/>
                        </a:defRPr>
                      </a:pPr>
                      <a:r>
                        <a:t>INUTILIZAVEL — nausea severa</a:t>
                      </a:r>
                    </a:p>
                  </a:txBody>
                  <a:tcPr>
                    <a:solidFill>
                      <a:srgbClr val="121820"/>
                    </a:solidFill>
                  </a:tcPr>
                </a:tc>
                <a:extLst>
                  <a:ext uri="{0D108BD9-81ED-4DB2-BD59-A6C34878D82A}">
                    <a16:rowId xmlns:a16="http://schemas.microsoft.com/office/drawing/2014/main" val="10001"/>
                  </a:ext>
                </a:extLst>
              </a:tr>
              <a:tr h="418011">
                <a:tc>
                  <a:txBody>
                    <a:bodyPr/>
                    <a:lstStyle/>
                    <a:p>
                      <a:pPr>
                        <a:defRPr sz="1300">
                          <a:solidFill>
                            <a:srgbClr val="B0B8C4"/>
                          </a:solidFill>
                          <a:latin typeface="Segoe UI"/>
                        </a:defRPr>
                      </a:pPr>
                      <a:r>
                        <a:t>30 fps</a:t>
                      </a:r>
                    </a:p>
                  </a:txBody>
                  <a:tcPr>
                    <a:solidFill>
                      <a:srgbClr val="161E28"/>
                    </a:solidFill>
                  </a:tcPr>
                </a:tc>
                <a:tc>
                  <a:txBody>
                    <a:bodyPr/>
                    <a:lstStyle/>
                    <a:p>
                      <a:pPr>
                        <a:defRPr sz="1300">
                          <a:solidFill>
                            <a:srgbClr val="B0B8C4"/>
                          </a:solidFill>
                          <a:latin typeface="Segoe UI"/>
                        </a:defRPr>
                      </a:pPr>
                      <a:r>
                        <a:t>TV / streaming video</a:t>
                      </a:r>
                    </a:p>
                  </a:txBody>
                  <a:tcPr>
                    <a:solidFill>
                      <a:srgbClr val="161E28"/>
                    </a:solidFill>
                  </a:tcPr>
                </a:tc>
                <a:tc>
                  <a:txBody>
                    <a:bodyPr/>
                    <a:lstStyle/>
                    <a:p>
                      <a:pPr>
                        <a:defRPr sz="1300">
                          <a:solidFill>
                            <a:srgbClr val="B0B8C4"/>
                          </a:solidFill>
                          <a:latin typeface="Segoe UI"/>
                        </a:defRPr>
                      </a:pPr>
                      <a:r>
                        <a:t>Nausea moderada a severa</a:t>
                      </a:r>
                    </a:p>
                  </a:txBody>
                  <a:tcPr>
                    <a:solidFill>
                      <a:srgbClr val="161E28"/>
                    </a:solidFill>
                  </a:tcPr>
                </a:tc>
                <a:extLst>
                  <a:ext uri="{0D108BD9-81ED-4DB2-BD59-A6C34878D82A}">
                    <a16:rowId xmlns:a16="http://schemas.microsoft.com/office/drawing/2014/main" val="10002"/>
                  </a:ext>
                </a:extLst>
              </a:tr>
              <a:tr h="418011">
                <a:tc>
                  <a:txBody>
                    <a:bodyPr/>
                    <a:lstStyle/>
                    <a:p>
                      <a:pPr>
                        <a:defRPr sz="1300">
                          <a:solidFill>
                            <a:srgbClr val="B0B8C4"/>
                          </a:solidFill>
                          <a:latin typeface="Segoe UI"/>
                        </a:defRPr>
                      </a:pPr>
                      <a:r>
                        <a:t>60 fps</a:t>
                      </a:r>
                    </a:p>
                  </a:txBody>
                  <a:tcPr>
                    <a:solidFill>
                      <a:srgbClr val="121820"/>
                    </a:solidFill>
                  </a:tcPr>
                </a:tc>
                <a:tc>
                  <a:txBody>
                    <a:bodyPr/>
                    <a:lstStyle/>
                    <a:p>
                      <a:pPr>
                        <a:defRPr sz="1300">
                          <a:solidFill>
                            <a:srgbClr val="B0B8C4"/>
                          </a:solidFill>
                          <a:latin typeface="Segoe UI"/>
                        </a:defRPr>
                      </a:pPr>
                      <a:r>
                        <a:t>PC gaming / minimo VR</a:t>
                      </a:r>
                    </a:p>
                  </a:txBody>
                  <a:tcPr>
                    <a:solidFill>
                      <a:srgbClr val="121820"/>
                    </a:solidFill>
                  </a:tcPr>
                </a:tc>
                <a:tc>
                  <a:txBody>
                    <a:bodyPr/>
                    <a:lstStyle/>
                    <a:p>
                      <a:pPr>
                        <a:defRPr sz="1300">
                          <a:solidFill>
                            <a:srgbClr val="B0B8C4"/>
                          </a:solidFill>
                          <a:latin typeface="Segoe UI"/>
                        </a:defRPr>
                      </a:pPr>
                      <a:r>
                        <a:t>Funcional mas desconfortavel</a:t>
                      </a:r>
                    </a:p>
                  </a:txBody>
                  <a:tcPr>
                    <a:solidFill>
                      <a:srgbClr val="121820"/>
                    </a:solidFill>
                  </a:tcPr>
                </a:tc>
                <a:extLst>
                  <a:ext uri="{0D108BD9-81ED-4DB2-BD59-A6C34878D82A}">
                    <a16:rowId xmlns:a16="http://schemas.microsoft.com/office/drawing/2014/main" val="10003"/>
                  </a:ext>
                </a:extLst>
              </a:tr>
              <a:tr h="418011">
                <a:tc>
                  <a:txBody>
                    <a:bodyPr/>
                    <a:lstStyle/>
                    <a:p>
                      <a:pPr>
                        <a:defRPr sz="1300">
                          <a:solidFill>
                            <a:srgbClr val="B0B8C4"/>
                          </a:solidFill>
                          <a:latin typeface="Segoe UI"/>
                        </a:defRPr>
                      </a:pPr>
                      <a:r>
                        <a:t>72 fps</a:t>
                      </a:r>
                    </a:p>
                  </a:txBody>
                  <a:tcPr>
                    <a:solidFill>
                      <a:srgbClr val="161E28"/>
                    </a:solidFill>
                  </a:tcPr>
                </a:tc>
                <a:tc>
                  <a:txBody>
                    <a:bodyPr/>
                    <a:lstStyle/>
                    <a:p>
                      <a:pPr>
                        <a:defRPr sz="1300">
                          <a:solidFill>
                            <a:srgbClr val="B0B8C4"/>
                          </a:solidFill>
                          <a:latin typeface="Segoe UI"/>
                        </a:defRPr>
                      </a:pPr>
                      <a:r>
                        <a:t>Meta Quest 2 (default)</a:t>
                      </a:r>
                    </a:p>
                  </a:txBody>
                  <a:tcPr>
                    <a:solidFill>
                      <a:srgbClr val="161E28"/>
                    </a:solidFill>
                  </a:tcPr>
                </a:tc>
                <a:tc>
                  <a:txBody>
                    <a:bodyPr/>
                    <a:lstStyle/>
                    <a:p>
                      <a:pPr>
                        <a:defRPr sz="1300">
                          <a:solidFill>
                            <a:srgbClr val="B0B8C4"/>
                          </a:solidFill>
                          <a:latin typeface="Segoe UI"/>
                        </a:defRPr>
                      </a:pPr>
                      <a:r>
                        <a:t>Aceitavel para a maioria</a:t>
                      </a:r>
                    </a:p>
                  </a:txBody>
                  <a:tcPr>
                    <a:solidFill>
                      <a:srgbClr val="161E28"/>
                    </a:solidFill>
                  </a:tcPr>
                </a:tc>
                <a:extLst>
                  <a:ext uri="{0D108BD9-81ED-4DB2-BD59-A6C34878D82A}">
                    <a16:rowId xmlns:a16="http://schemas.microsoft.com/office/drawing/2014/main" val="10004"/>
                  </a:ext>
                </a:extLst>
              </a:tr>
              <a:tr h="418011">
                <a:tc>
                  <a:txBody>
                    <a:bodyPr/>
                    <a:lstStyle/>
                    <a:p>
                      <a:pPr>
                        <a:defRPr sz="1300">
                          <a:solidFill>
                            <a:srgbClr val="B0B8C4"/>
                          </a:solidFill>
                          <a:latin typeface="Segoe UI"/>
                        </a:defRPr>
                      </a:pPr>
                      <a:r>
                        <a:t>90 fps</a:t>
                      </a:r>
                    </a:p>
                  </a:txBody>
                  <a:tcPr>
                    <a:solidFill>
                      <a:srgbClr val="121820"/>
                    </a:solidFill>
                  </a:tcPr>
                </a:tc>
                <a:tc>
                  <a:txBody>
                    <a:bodyPr/>
                    <a:lstStyle/>
                    <a:p>
                      <a:pPr>
                        <a:defRPr sz="1300">
                          <a:solidFill>
                            <a:srgbClr val="B0B8C4"/>
                          </a:solidFill>
                          <a:latin typeface="Segoe UI"/>
                        </a:defRPr>
                      </a:pPr>
                      <a:r>
                        <a:t>Meta Quest 3 / PCVR</a:t>
                      </a:r>
                    </a:p>
                  </a:txBody>
                  <a:tcPr>
                    <a:solidFill>
                      <a:srgbClr val="121820"/>
                    </a:solidFill>
                  </a:tcPr>
                </a:tc>
                <a:tc>
                  <a:txBody>
                    <a:bodyPr/>
                    <a:lstStyle/>
                    <a:p>
                      <a:pPr>
                        <a:defRPr sz="1300">
                          <a:solidFill>
                            <a:srgbClr val="B0B8C4"/>
                          </a:solidFill>
                          <a:latin typeface="Segoe UI"/>
                        </a:defRPr>
                      </a:pPr>
                      <a:r>
                        <a:t>Bom conforto — objetivo da industria</a:t>
                      </a:r>
                    </a:p>
                  </a:txBody>
                  <a:tcPr>
                    <a:solidFill>
                      <a:srgbClr val="121820"/>
                    </a:solidFill>
                  </a:tcPr>
                </a:tc>
                <a:extLst>
                  <a:ext uri="{0D108BD9-81ED-4DB2-BD59-A6C34878D82A}">
                    <a16:rowId xmlns:a16="http://schemas.microsoft.com/office/drawing/2014/main" val="10005"/>
                  </a:ext>
                </a:extLst>
              </a:tr>
              <a:tr h="418014">
                <a:tc>
                  <a:txBody>
                    <a:bodyPr/>
                    <a:lstStyle/>
                    <a:p>
                      <a:pPr>
                        <a:defRPr sz="1300">
                          <a:solidFill>
                            <a:srgbClr val="B0B8C4"/>
                          </a:solidFill>
                          <a:latin typeface="Segoe UI"/>
                        </a:defRPr>
                      </a:pPr>
                      <a:r>
                        <a:t>120 fps</a:t>
                      </a:r>
                    </a:p>
                  </a:txBody>
                  <a:tcPr>
                    <a:solidFill>
                      <a:srgbClr val="161E28"/>
                    </a:solidFill>
                  </a:tcPr>
                </a:tc>
                <a:tc>
                  <a:txBody>
                    <a:bodyPr/>
                    <a:lstStyle/>
                    <a:p>
                      <a:pPr>
                        <a:defRPr sz="1300">
                          <a:solidFill>
                            <a:srgbClr val="B0B8C4"/>
                          </a:solidFill>
                          <a:latin typeface="Segoe UI"/>
                        </a:defRPr>
                      </a:pPr>
                      <a:r>
                        <a:t>Quest 3 / PSVR2 / premium</a:t>
                      </a:r>
                    </a:p>
                  </a:txBody>
                  <a:tcPr>
                    <a:solidFill>
                      <a:srgbClr val="161E28"/>
                    </a:solidFill>
                  </a:tcPr>
                </a:tc>
                <a:tc>
                  <a:txBody>
                    <a:bodyPr/>
                    <a:lstStyle/>
                    <a:p>
                      <a:pPr>
                        <a:defRPr sz="1300">
                          <a:solidFill>
                            <a:srgbClr val="B0B8C4"/>
                          </a:solidFill>
                          <a:latin typeface="Segoe UI"/>
                        </a:defRPr>
                      </a:pPr>
                      <a:r>
                        <a:t>25% menos queixas vs 90fps (OLED)</a:t>
                      </a:r>
                    </a:p>
                  </a:txBody>
                  <a:tcPr>
                    <a:solidFill>
                      <a:srgbClr val="161E28"/>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731520" y="4754880"/>
            <a:ext cx="10058400" cy="1828800"/>
          </a:xfrm>
          <a:prstGeom prst="rect">
            <a:avLst/>
          </a:prstGeom>
          <a:noFill/>
        </p:spPr>
        <p:txBody>
          <a:bodyPr wrap="square">
            <a:spAutoFit/>
          </a:bodyPr>
          <a:lstStyle/>
          <a:p>
            <a:pPr algn="l">
              <a:defRPr sz="1800" b="1">
                <a:solidFill>
                  <a:srgbClr val="58A6FF"/>
                </a:solidFill>
                <a:latin typeface="Segoe UI"/>
              </a:defRPr>
            </a:pPr>
            <a:r>
              <a:t>Porque 24fps funciona no cinema mas nao em VR?</a:t>
            </a:r>
          </a:p>
          <a:p>
            <a:pPr algn="l">
              <a:spcBef>
                <a:spcPts val="600"/>
              </a:spcBef>
              <a:defRPr sz="1600" b="0" i="0">
                <a:solidFill>
                  <a:srgbClr val="B0B8C4"/>
                </a:solidFill>
                <a:latin typeface="Segoe UI"/>
              </a:defRPr>
            </a:pPr>
            <a:r>
              <a:t>No cinema, estamos FORA da imagem — o cerebro aceita 24fps num ecra plano.</a:t>
            </a:r>
          </a:p>
          <a:p>
            <a:pPr algn="l">
              <a:spcBef>
                <a:spcPts val="600"/>
              </a:spcBef>
              <a:defRPr sz="1600" b="0" i="0">
                <a:solidFill>
                  <a:srgbClr val="B0B8C4"/>
                </a:solidFill>
                <a:latin typeface="Segoe UI"/>
              </a:defRPr>
            </a:pPr>
            <a:r>
              <a:t>Em VR, estamos DENTRO — a cabeca roda, e o mundo deve responder instantaneamente.</a:t>
            </a:r>
          </a:p>
          <a:p>
            <a:pPr algn="l">
              <a:spcBef>
                <a:spcPts val="600"/>
              </a:spcBef>
              <a:defRPr sz="1600" b="0" i="0">
                <a:solidFill>
                  <a:srgbClr val="B0B8C4"/>
                </a:solidFill>
                <a:latin typeface="Segoe UI"/>
              </a:defRPr>
            </a:pPr>
            <a:r>
              <a:t>A 24fps, cada frame dura 41.7ms — o sistema vestibular deteta o atraso e entra em conflito.</a:t>
            </a:r>
          </a:p>
        </p:txBody>
      </p:sp>
      <p:sp>
        <p:nvSpPr>
          <p:cNvPr id="6" name="TextBox 5"/>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Meta Performance Guidelines (developers.meta.com); IEEE TVCG 2023 (Frame Rate Effect on VR Sickness)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Escala em VR: Porque 1:1 Importa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486400" cy="5029200"/>
          </a:xfrm>
          <a:prstGeom prst="rect">
            <a:avLst/>
          </a:prstGeom>
          <a:noFill/>
        </p:spPr>
        <p:txBody>
          <a:bodyPr wrap="square">
            <a:spAutoFit/>
          </a:bodyPr>
          <a:lstStyle/>
          <a:p>
            <a:pPr algn="l">
              <a:defRPr sz="2000" b="1">
                <a:solidFill>
                  <a:srgbClr val="58A6FF"/>
                </a:solidFill>
                <a:latin typeface="Segoe UI"/>
              </a:defRPr>
            </a:pPr>
            <a:r>
              <a:t>O problema da escala</a:t>
            </a:r>
          </a:p>
          <a:p>
            <a:pPr algn="l">
              <a:spcBef>
                <a:spcPts val="600"/>
              </a:spcBef>
              <a:defRPr sz="600" b="0" i="0">
                <a:solidFill>
                  <a:srgbClr val="FFFFFF"/>
                </a:solidFill>
                <a:latin typeface="Segoe UI"/>
              </a:defRPr>
            </a:pPr>
            <a:endParaRPr/>
          </a:p>
          <a:p>
            <a:pPr algn="l">
              <a:spcBef>
                <a:spcPts val="600"/>
              </a:spcBef>
              <a:defRPr sz="1700" b="0" i="0">
                <a:solidFill>
                  <a:srgbClr val="B0B8C4"/>
                </a:solidFill>
                <a:latin typeface="Segoe UI"/>
              </a:defRPr>
            </a:pPr>
            <a:r>
              <a:t>Em VR, 1 unidade = 1 metro (por convencao).</a:t>
            </a:r>
          </a:p>
          <a:p>
            <a:pPr algn="l">
              <a:spcBef>
                <a:spcPts val="600"/>
              </a:spcBef>
              <a:defRPr sz="600" b="0" i="0">
                <a:solidFill>
                  <a:srgbClr val="FFFFFF"/>
                </a:solidFill>
                <a:latin typeface="Segoe UI"/>
              </a:defRPr>
            </a:pPr>
            <a:endParaRPr/>
          </a:p>
          <a:p>
            <a:pPr algn="l">
              <a:spcBef>
                <a:spcPts val="600"/>
              </a:spcBef>
              <a:defRPr sz="1700" b="1" i="0">
                <a:solidFill>
                  <a:srgbClr val="FFFFFF"/>
                </a:solidFill>
                <a:latin typeface="Segoe UI"/>
              </a:defRPr>
            </a:pPr>
            <a:r>
              <a:t>Se um orgao estiver 2x maior que o real:</a:t>
            </a:r>
          </a:p>
          <a:p>
            <a:pPr algn="l">
              <a:spcBef>
                <a:spcPts val="600"/>
              </a:spcBef>
              <a:defRPr sz="1600" b="0" i="0">
                <a:solidFill>
                  <a:srgbClr val="B0B8C4"/>
                </a:solidFill>
                <a:latin typeface="Segoe UI"/>
              </a:defRPr>
            </a:pPr>
            <a:r>
              <a:t>• O cerebro estranha (uncanny valley espacial)</a:t>
            </a:r>
          </a:p>
          <a:p>
            <a:pPr algn="l">
              <a:spcBef>
                <a:spcPts val="600"/>
              </a:spcBef>
              <a:defRPr sz="1600" b="0" i="0">
                <a:solidFill>
                  <a:srgbClr val="B0B8C4"/>
                </a:solidFill>
                <a:latin typeface="Segoe UI"/>
              </a:defRPr>
            </a:pPr>
            <a:r>
              <a:t>• A aprendizagem anatomica fica comprometida</a:t>
            </a:r>
          </a:p>
          <a:p>
            <a:pPr algn="l">
              <a:spcBef>
                <a:spcPts val="600"/>
              </a:spcBef>
              <a:defRPr sz="1600" b="0" i="0">
                <a:solidFill>
                  <a:srgbClr val="B0B8C4"/>
                </a:solidFill>
                <a:latin typeface="Segoe UI"/>
              </a:defRPr>
            </a:pPr>
            <a:r>
              <a:t>• A percepcao de distancia falha</a:t>
            </a:r>
          </a:p>
          <a:p>
            <a:pPr algn="l">
              <a:spcBef>
                <a:spcPts val="600"/>
              </a:spcBef>
              <a:defRPr sz="800" b="0" i="0">
                <a:solidFill>
                  <a:srgbClr val="FFFFFF"/>
                </a:solidFill>
                <a:latin typeface="Segoe UI"/>
              </a:defRPr>
            </a:pPr>
            <a:endParaRPr/>
          </a:p>
          <a:p>
            <a:pPr algn="l">
              <a:spcBef>
                <a:spcPts val="600"/>
              </a:spcBef>
              <a:defRPr sz="1700" b="1" i="0">
                <a:solidFill>
                  <a:srgbClr val="FFFFFF"/>
                </a:solidFill>
                <a:latin typeface="Segoe UI"/>
              </a:defRPr>
            </a:pPr>
            <a:r>
              <a:t>Se uma sala estiver demasiado pequena:</a:t>
            </a:r>
          </a:p>
          <a:p>
            <a:pPr algn="l">
              <a:spcBef>
                <a:spcPts val="600"/>
              </a:spcBef>
              <a:defRPr sz="1600" b="0" i="0">
                <a:solidFill>
                  <a:srgbClr val="B0B8C4"/>
                </a:solidFill>
                <a:latin typeface="Segoe UI"/>
              </a:defRPr>
            </a:pPr>
            <a:r>
              <a:t>• Claustrofobia digital</a:t>
            </a:r>
          </a:p>
          <a:p>
            <a:pPr algn="l">
              <a:spcBef>
                <a:spcPts val="600"/>
              </a:spcBef>
              <a:defRPr sz="1600" b="0" i="0">
                <a:solidFill>
                  <a:srgbClr val="B0B8C4"/>
                </a:solidFill>
                <a:latin typeface="Segoe UI"/>
              </a:defRPr>
            </a:pPr>
            <a:r>
              <a:t>• Desconforto e ansiedade</a:t>
            </a:r>
          </a:p>
          <a:p>
            <a:pPr algn="l">
              <a:spcBef>
                <a:spcPts val="600"/>
              </a:spcBef>
              <a:defRPr sz="800" b="0" i="0">
                <a:solidFill>
                  <a:srgbClr val="FFFFFF"/>
                </a:solidFill>
                <a:latin typeface="Segoe UI"/>
              </a:defRPr>
            </a:pPr>
            <a:endParaRPr/>
          </a:p>
          <a:p>
            <a:pPr algn="l">
              <a:spcBef>
                <a:spcPts val="600"/>
              </a:spcBef>
              <a:defRPr sz="1700" b="1" i="0">
                <a:solidFill>
                  <a:srgbClr val="58A6FF"/>
                </a:solidFill>
                <a:latin typeface="Segoe UI"/>
              </a:defRPr>
            </a:pPr>
            <a:r>
              <a:t>Best practice:</a:t>
            </a:r>
          </a:p>
          <a:p>
            <a:pPr algn="l">
              <a:spcBef>
                <a:spcPts val="600"/>
              </a:spcBef>
              <a:defRPr sz="1600" b="0" i="0">
                <a:solidFill>
                  <a:srgbClr val="B0B8C4"/>
                </a:solidFill>
                <a:latin typeface="Segoe UI"/>
              </a:defRPr>
            </a:pPr>
            <a:r>
              <a:t>Medir objetos reais, replicar escala 1:1 em VR.</a:t>
            </a:r>
          </a:p>
          <a:p>
            <a:pPr algn="l">
              <a:spcBef>
                <a:spcPts val="600"/>
              </a:spcBef>
              <a:defRPr sz="1600" b="0" i="0">
                <a:solidFill>
                  <a:srgbClr val="3FB950"/>
                </a:solidFill>
                <a:latin typeface="Segoe UI"/>
              </a:defRPr>
            </a:pPr>
            <a:r>
              <a:t>Exemplo: coracao humano ≈ 12-14cm → scale="0.12"</a:t>
            </a:r>
          </a:p>
        </p:txBody>
      </p:sp>
      <p:sp>
        <p:nvSpPr>
          <p:cNvPr id="5" name="Rounded Rectangle 4"/>
          <p:cNvSpPr/>
          <p:nvPr/>
        </p:nvSpPr>
        <p:spPr>
          <a:xfrm>
            <a:off x="6858000" y="1463040"/>
            <a:ext cx="4754880" cy="47548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800" b="1">
                <a:solidFill>
                  <a:srgbClr val="58A6FF"/>
                </a:solidFill>
                <a:latin typeface="Segoe UI"/>
              </a:defRPr>
            </a:pPr>
            <a:r>
              <a:t>Construir uma cena 3D</a:t>
            </a:r>
          </a:p>
          <a:p>
            <a:pPr algn="l">
              <a:spcBef>
                <a:spcPts val="400"/>
              </a:spcBef>
              <a:defRPr sz="1400" b="0" i="0">
                <a:solidFill>
                  <a:srgbClr val="B0B8C4"/>
                </a:solidFill>
                <a:latin typeface="Segoe UI"/>
              </a:defRPr>
            </a:pPr>
            <a:r>
              <a:t>Sistema de coordenadas:</a:t>
            </a:r>
          </a:p>
          <a:p>
            <a:pPr algn="l">
              <a:spcBef>
                <a:spcPts val="400"/>
              </a:spcBef>
              <a:defRPr sz="1400" b="0" i="0">
                <a:solidFill>
                  <a:srgbClr val="B0B8C4"/>
                </a:solidFill>
                <a:latin typeface="Segoe UI"/>
              </a:defRPr>
            </a:pPr>
            <a:r>
              <a:t>  X = esquerda/direita</a:t>
            </a:r>
          </a:p>
          <a:p>
            <a:pPr algn="l">
              <a:spcBef>
                <a:spcPts val="400"/>
              </a:spcBef>
              <a:defRPr sz="1400" b="0" i="0">
                <a:solidFill>
                  <a:srgbClr val="B0B8C4"/>
                </a:solidFill>
                <a:latin typeface="Segoe UI"/>
              </a:defRPr>
            </a:pPr>
            <a:r>
              <a:t>  Y = baixo/cima</a:t>
            </a:r>
          </a:p>
          <a:p>
            <a:pPr algn="l">
              <a:spcBef>
                <a:spcPts val="400"/>
              </a:spcBef>
              <a:defRPr sz="1400" b="0" i="0">
                <a:solidFill>
                  <a:srgbClr val="B0B8C4"/>
                </a:solidFill>
                <a:latin typeface="Segoe UI"/>
              </a:defRPr>
            </a:pPr>
            <a:r>
              <a:t>  Z = frente/tras</a:t>
            </a:r>
          </a:p>
          <a:p>
            <a:pPr algn="l">
              <a:spcBef>
                <a:spcPts val="400"/>
              </a:spcBef>
              <a:defRPr sz="1400" b="0" i="0">
                <a:solidFill>
                  <a:srgbClr val="B0B8C4"/>
                </a:solidFill>
                <a:latin typeface="Segoe UI"/>
              </a:defRPr>
            </a:pPr>
            <a:endParaRPr/>
          </a:p>
          <a:p>
            <a:pPr algn="l">
              <a:spcBef>
                <a:spcPts val="400"/>
              </a:spcBef>
              <a:defRPr sz="1400" b="0" i="0">
                <a:solidFill>
                  <a:srgbClr val="B0B8C4"/>
                </a:solidFill>
                <a:latin typeface="Segoe UI"/>
              </a:defRPr>
            </a:pPr>
            <a:r>
              <a:t>Unidades: metros (A-Frame)</a:t>
            </a:r>
          </a:p>
          <a:p>
            <a:pPr algn="l">
              <a:spcBef>
                <a:spcPts val="400"/>
              </a:spcBef>
              <a:defRPr sz="1400" b="0" i="0">
                <a:solidFill>
                  <a:srgbClr val="B0B8C4"/>
                </a:solidFill>
                <a:latin typeface="Segoe UI"/>
              </a:defRPr>
            </a:pPr>
            <a:r>
              <a:t>Olhos do utilizador: Y = 1.6m</a:t>
            </a:r>
          </a:p>
          <a:p>
            <a:pPr algn="l">
              <a:spcBef>
                <a:spcPts val="400"/>
              </a:spcBef>
              <a:defRPr sz="1400" b="0" i="0">
                <a:solidFill>
                  <a:srgbClr val="B0B8C4"/>
                </a:solidFill>
                <a:latin typeface="Segoe UI"/>
              </a:defRPr>
            </a:pPr>
            <a:endParaRPr/>
          </a:p>
          <a:p>
            <a:pPr algn="l">
              <a:spcBef>
                <a:spcPts val="400"/>
              </a:spcBef>
              <a:defRPr sz="1400" b="0" i="0">
                <a:solidFill>
                  <a:srgbClr val="B0B8C4"/>
                </a:solidFill>
                <a:latin typeface="Segoe UI"/>
              </a:defRPr>
            </a:pPr>
            <a:r>
              <a:t>Boas praticas:</a:t>
            </a:r>
          </a:p>
          <a:p>
            <a:pPr algn="l">
              <a:spcBef>
                <a:spcPts val="400"/>
              </a:spcBef>
              <a:defRPr sz="1400" b="0" i="0">
                <a:solidFill>
                  <a:srgbClr val="B0B8C4"/>
                </a:solidFill>
                <a:latin typeface="Segoe UI"/>
              </a:defRPr>
            </a:pPr>
            <a:r>
              <a:t>  Objetos entre 1m e 10m de distancia</a:t>
            </a:r>
          </a:p>
          <a:p>
            <a:pPr algn="l">
              <a:spcBef>
                <a:spcPts val="400"/>
              </a:spcBef>
              <a:defRPr sz="1400" b="0" i="0">
                <a:solidFill>
                  <a:srgbClr val="B0B8C4"/>
                </a:solidFill>
                <a:latin typeface="Segoe UI"/>
              </a:defRPr>
            </a:pPr>
            <a:r>
              <a:t>  Texto legivel: &gt;0.5m de largura</a:t>
            </a:r>
          </a:p>
          <a:p>
            <a:pPr algn="l">
              <a:spcBef>
                <a:spcPts val="400"/>
              </a:spcBef>
              <a:defRPr sz="1400" b="0" i="0">
                <a:solidFill>
                  <a:srgbClr val="B0B8C4"/>
                </a:solidFill>
                <a:latin typeface="Segoe UI"/>
              </a:defRPr>
            </a:pPr>
            <a:r>
              <a:t>  Nada demasiado perto (&lt;0.5m)</a:t>
            </a:r>
          </a:p>
          <a:p>
            <a:pPr algn="l">
              <a:spcBef>
                <a:spcPts val="400"/>
              </a:spcBef>
              <a:defRPr sz="1400" b="0" i="0">
                <a:solidFill>
                  <a:srgbClr val="B0B8C4"/>
                </a:solidFill>
                <a:latin typeface="Segoe UI"/>
              </a:defRPr>
            </a:pPr>
            <a:r>
              <a:t>  Nada atras do utilizador no inicio</a:t>
            </a:r>
          </a:p>
          <a:p>
            <a:pPr algn="l">
              <a:spcBef>
                <a:spcPts val="400"/>
              </a:spcBef>
              <a:defRPr sz="1400" b="0" i="0">
                <a:solidFill>
                  <a:srgbClr val="B0B8C4"/>
                </a:solidFill>
                <a:latin typeface="Segoe UI"/>
              </a:defRPr>
            </a:pPr>
            <a:r>
              <a:t>  Iluminacao: min. 2 fontes de luz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Gaming e Saude: A Mesma Tecnologia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4754880" cy="100584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00200"/>
            <a:ext cx="4206240" cy="640080"/>
          </a:xfrm>
          <a:prstGeom prst="rect">
            <a:avLst/>
          </a:prstGeom>
          <a:noFill/>
        </p:spPr>
        <p:txBody>
          <a:bodyPr wrap="square">
            <a:spAutoFit/>
          </a:bodyPr>
          <a:lstStyle/>
          <a:p>
            <a:pPr algn="l">
              <a:defRPr sz="1600" b="1">
                <a:solidFill>
                  <a:srgbClr val="58A6FF"/>
                </a:solidFill>
                <a:latin typeface="Segoe UI"/>
              </a:defRPr>
            </a:pPr>
            <a:r>
              <a:t>GPU de jogos AAA (NVIDIA, AMD)</a:t>
            </a:r>
          </a:p>
        </p:txBody>
      </p:sp>
      <p:sp>
        <p:nvSpPr>
          <p:cNvPr id="6" name="TextBox 5"/>
          <p:cNvSpPr txBox="1"/>
          <p:nvPr/>
        </p:nvSpPr>
        <p:spPr>
          <a:xfrm>
            <a:off x="5577840" y="1600200"/>
            <a:ext cx="731520" cy="640080"/>
          </a:xfrm>
          <a:prstGeom prst="rect">
            <a:avLst/>
          </a:prstGeom>
          <a:noFill/>
        </p:spPr>
        <p:txBody>
          <a:bodyPr wrap="square">
            <a:spAutoFit/>
          </a:bodyPr>
          <a:lstStyle/>
          <a:p>
            <a:pPr algn="ctr">
              <a:defRPr sz="2400" b="0">
                <a:solidFill>
                  <a:srgbClr val="58A6FF"/>
                </a:solidFill>
                <a:latin typeface="Segoe UI"/>
              </a:defRPr>
            </a:pPr>
            <a:r>
              <a:t>➜</a:t>
            </a:r>
          </a:p>
        </p:txBody>
      </p:sp>
      <p:sp>
        <p:nvSpPr>
          <p:cNvPr id="7" name="Rounded Rectangle 6"/>
          <p:cNvSpPr/>
          <p:nvPr/>
        </p:nvSpPr>
        <p:spPr>
          <a:xfrm>
            <a:off x="6400800" y="1463040"/>
            <a:ext cx="5029200" cy="100584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0" y="1600200"/>
            <a:ext cx="4572000" cy="640080"/>
          </a:xfrm>
          <a:prstGeom prst="rect">
            <a:avLst/>
          </a:prstGeom>
          <a:noFill/>
        </p:spPr>
        <p:txBody>
          <a:bodyPr wrap="square">
            <a:spAutoFit/>
          </a:bodyPr>
          <a:lstStyle/>
          <a:p>
            <a:pPr algn="l">
              <a:defRPr sz="1600" b="0">
                <a:solidFill>
                  <a:srgbClr val="B0B8C4"/>
                </a:solidFill>
                <a:latin typeface="Segoe UI"/>
              </a:defRPr>
            </a:pPr>
            <a:r>
              <a:t>Renderiza simulacoes cirurgicas a 90fps</a:t>
            </a:r>
          </a:p>
        </p:txBody>
      </p:sp>
      <p:sp>
        <p:nvSpPr>
          <p:cNvPr id="9" name="Rounded Rectangle 8"/>
          <p:cNvSpPr/>
          <p:nvPr/>
        </p:nvSpPr>
        <p:spPr>
          <a:xfrm>
            <a:off x="731520" y="2651760"/>
            <a:ext cx="4754880" cy="100584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788920"/>
            <a:ext cx="4206240" cy="640080"/>
          </a:xfrm>
          <a:prstGeom prst="rect">
            <a:avLst/>
          </a:prstGeom>
          <a:noFill/>
        </p:spPr>
        <p:txBody>
          <a:bodyPr wrap="square">
            <a:spAutoFit/>
          </a:bodyPr>
          <a:lstStyle/>
          <a:p>
            <a:pPr algn="l">
              <a:defRPr sz="1600" b="1">
                <a:solidFill>
                  <a:srgbClr val="3FB950"/>
                </a:solidFill>
                <a:latin typeface="Segoe UI"/>
              </a:defRPr>
            </a:pPr>
            <a:r>
              <a:t>Audio espacial (Dolby Atmos, Wwise)</a:t>
            </a:r>
          </a:p>
        </p:txBody>
      </p:sp>
      <p:sp>
        <p:nvSpPr>
          <p:cNvPr id="11" name="TextBox 10"/>
          <p:cNvSpPr txBox="1"/>
          <p:nvPr/>
        </p:nvSpPr>
        <p:spPr>
          <a:xfrm>
            <a:off x="5577840" y="2788920"/>
            <a:ext cx="731520" cy="640080"/>
          </a:xfrm>
          <a:prstGeom prst="rect">
            <a:avLst/>
          </a:prstGeom>
          <a:noFill/>
        </p:spPr>
        <p:txBody>
          <a:bodyPr wrap="square">
            <a:spAutoFit/>
          </a:bodyPr>
          <a:lstStyle/>
          <a:p>
            <a:pPr algn="ctr">
              <a:defRPr sz="2400" b="0">
                <a:solidFill>
                  <a:srgbClr val="3FB950"/>
                </a:solidFill>
                <a:latin typeface="Segoe UI"/>
              </a:defRPr>
            </a:pPr>
            <a:r>
              <a:t>➜</a:t>
            </a:r>
          </a:p>
        </p:txBody>
      </p:sp>
      <p:sp>
        <p:nvSpPr>
          <p:cNvPr id="12" name="Rounded Rectangle 11"/>
          <p:cNvSpPr/>
          <p:nvPr/>
        </p:nvSpPr>
        <p:spPr>
          <a:xfrm>
            <a:off x="6400800" y="2651760"/>
            <a:ext cx="5029200" cy="100584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2788920"/>
            <a:ext cx="4572000" cy="640080"/>
          </a:xfrm>
          <a:prstGeom prst="rect">
            <a:avLst/>
          </a:prstGeom>
          <a:noFill/>
        </p:spPr>
        <p:txBody>
          <a:bodyPr wrap="square">
            <a:spAutoFit/>
          </a:bodyPr>
          <a:lstStyle/>
          <a:p>
            <a:pPr algn="l">
              <a:defRPr sz="1600" b="0">
                <a:solidFill>
                  <a:srgbClr val="B0B8C4"/>
                </a:solidFill>
                <a:latin typeface="Segoe UI"/>
              </a:defRPr>
            </a:pPr>
            <a:r>
              <a:t>Auscultacao virtual precisa</a:t>
            </a:r>
          </a:p>
        </p:txBody>
      </p:sp>
      <p:sp>
        <p:nvSpPr>
          <p:cNvPr id="14" name="Rounded Rectangle 13"/>
          <p:cNvSpPr/>
          <p:nvPr/>
        </p:nvSpPr>
        <p:spPr>
          <a:xfrm>
            <a:off x="731520" y="3840480"/>
            <a:ext cx="4754880" cy="100584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977640"/>
            <a:ext cx="4206240" cy="640080"/>
          </a:xfrm>
          <a:prstGeom prst="rect">
            <a:avLst/>
          </a:prstGeom>
          <a:noFill/>
        </p:spPr>
        <p:txBody>
          <a:bodyPr wrap="square">
            <a:spAutoFit/>
          </a:bodyPr>
          <a:lstStyle/>
          <a:p>
            <a:pPr algn="l">
              <a:defRPr sz="1600" b="1">
                <a:solidFill>
                  <a:srgbClr val="F78166"/>
                </a:solidFill>
                <a:latin typeface="Segoe UI"/>
              </a:defRPr>
            </a:pPr>
            <a:r>
              <a:t>Motion capture (Vicon, OptiTrack)</a:t>
            </a:r>
          </a:p>
        </p:txBody>
      </p:sp>
      <p:sp>
        <p:nvSpPr>
          <p:cNvPr id="16" name="TextBox 15"/>
          <p:cNvSpPr txBox="1"/>
          <p:nvPr/>
        </p:nvSpPr>
        <p:spPr>
          <a:xfrm>
            <a:off x="5577840" y="3977640"/>
            <a:ext cx="731520" cy="640080"/>
          </a:xfrm>
          <a:prstGeom prst="rect">
            <a:avLst/>
          </a:prstGeom>
          <a:noFill/>
        </p:spPr>
        <p:txBody>
          <a:bodyPr wrap="square">
            <a:spAutoFit/>
          </a:bodyPr>
          <a:lstStyle/>
          <a:p>
            <a:pPr algn="ctr">
              <a:defRPr sz="2400" b="0">
                <a:solidFill>
                  <a:srgbClr val="F78166"/>
                </a:solidFill>
                <a:latin typeface="Segoe UI"/>
              </a:defRPr>
            </a:pPr>
            <a:r>
              <a:t>➜</a:t>
            </a:r>
          </a:p>
        </p:txBody>
      </p:sp>
      <p:sp>
        <p:nvSpPr>
          <p:cNvPr id="17" name="Rounded Rectangle 16"/>
          <p:cNvSpPr/>
          <p:nvPr/>
        </p:nvSpPr>
        <p:spPr>
          <a:xfrm>
            <a:off x="6400800" y="3840480"/>
            <a:ext cx="5029200" cy="100584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3977640"/>
            <a:ext cx="4572000" cy="640080"/>
          </a:xfrm>
          <a:prstGeom prst="rect">
            <a:avLst/>
          </a:prstGeom>
          <a:noFill/>
        </p:spPr>
        <p:txBody>
          <a:bodyPr wrap="square">
            <a:spAutoFit/>
          </a:bodyPr>
          <a:lstStyle/>
          <a:p>
            <a:pPr algn="l">
              <a:defRPr sz="1600" b="0">
                <a:solidFill>
                  <a:srgbClr val="B0B8C4"/>
                </a:solidFill>
                <a:latin typeface="Segoe UI"/>
              </a:defRPr>
            </a:pPr>
            <a:r>
              <a:t>Avaliacao de reabilitacao / marcha</a:t>
            </a:r>
          </a:p>
        </p:txBody>
      </p:sp>
      <p:sp>
        <p:nvSpPr>
          <p:cNvPr id="19" name="Rounded Rectangle 18"/>
          <p:cNvSpPr/>
          <p:nvPr/>
        </p:nvSpPr>
        <p:spPr>
          <a:xfrm>
            <a:off x="731520" y="5029200"/>
            <a:ext cx="4754880" cy="100584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5166360"/>
            <a:ext cx="4206240" cy="640080"/>
          </a:xfrm>
          <a:prstGeom prst="rect">
            <a:avLst/>
          </a:prstGeom>
          <a:noFill/>
        </p:spPr>
        <p:txBody>
          <a:bodyPr wrap="square">
            <a:spAutoFit/>
          </a:bodyPr>
          <a:lstStyle/>
          <a:p>
            <a:pPr algn="l">
              <a:defRPr sz="1600" b="1">
                <a:solidFill>
                  <a:srgbClr val="D2A8FF"/>
                </a:solidFill>
                <a:latin typeface="Segoe UI"/>
              </a:defRPr>
            </a:pPr>
            <a:r>
              <a:t>3D modeling (Blender, ZBrush)</a:t>
            </a:r>
          </a:p>
        </p:txBody>
      </p:sp>
      <p:sp>
        <p:nvSpPr>
          <p:cNvPr id="21" name="TextBox 20"/>
          <p:cNvSpPr txBox="1"/>
          <p:nvPr/>
        </p:nvSpPr>
        <p:spPr>
          <a:xfrm>
            <a:off x="5577840" y="5166360"/>
            <a:ext cx="731520" cy="640080"/>
          </a:xfrm>
          <a:prstGeom prst="rect">
            <a:avLst/>
          </a:prstGeom>
          <a:noFill/>
        </p:spPr>
        <p:txBody>
          <a:bodyPr wrap="square">
            <a:spAutoFit/>
          </a:bodyPr>
          <a:lstStyle/>
          <a:p>
            <a:pPr algn="ctr">
              <a:defRPr sz="2400" b="0">
                <a:solidFill>
                  <a:srgbClr val="D2A8FF"/>
                </a:solidFill>
                <a:latin typeface="Segoe UI"/>
              </a:defRPr>
            </a:pPr>
            <a:r>
              <a:t>➜</a:t>
            </a:r>
          </a:p>
        </p:txBody>
      </p:sp>
      <p:sp>
        <p:nvSpPr>
          <p:cNvPr id="22" name="Rounded Rectangle 21"/>
          <p:cNvSpPr/>
          <p:nvPr/>
        </p:nvSpPr>
        <p:spPr>
          <a:xfrm>
            <a:off x="6400800" y="5029200"/>
            <a:ext cx="5029200" cy="100584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75120" y="5166360"/>
            <a:ext cx="4572000" cy="640080"/>
          </a:xfrm>
          <a:prstGeom prst="rect">
            <a:avLst/>
          </a:prstGeom>
          <a:noFill/>
        </p:spPr>
        <p:txBody>
          <a:bodyPr wrap="square">
            <a:spAutoFit/>
          </a:bodyPr>
          <a:lstStyle/>
          <a:p>
            <a:pPr algn="l">
              <a:defRPr sz="1600" b="0">
                <a:solidFill>
                  <a:srgbClr val="B0B8C4"/>
                </a:solidFill>
                <a:latin typeface="Segoe UI"/>
              </a:defRPr>
            </a:pPr>
            <a:r>
              <a:t>Modelos anatomicos detalhados</a:t>
            </a:r>
          </a:p>
        </p:txBody>
      </p:sp>
      <p:sp>
        <p:nvSpPr>
          <p:cNvPr id="24" name="TextBox 23"/>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A industria gaming foi avaliada em $184B (2023, Newzoo). A mesma pipeline tecnologica alimenta VR em saude.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Demo ao Vivo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828800"/>
            <a:ext cx="8229600" cy="3657600"/>
          </a:xfrm>
          <a:prstGeom prst="rect">
            <a:avLst/>
          </a:prstGeom>
          <a:noFill/>
        </p:spPr>
        <p:txBody>
          <a:bodyPr wrap="square">
            <a:spAutoFit/>
          </a:bodyPr>
          <a:lstStyle/>
          <a:p>
            <a:pPr algn="ctr">
              <a:defRPr sz="3600" b="1">
                <a:solidFill>
                  <a:srgbClr val="58A6FF"/>
                </a:solidFill>
                <a:latin typeface="Segoe UI"/>
              </a:defRPr>
            </a:pPr>
            <a:r>
              <a:t>Momento de demonstracao</a:t>
            </a:r>
          </a:p>
          <a:p>
            <a:pPr algn="l">
              <a:spcBef>
                <a:spcPts val="600"/>
              </a:spcBef>
              <a:defRPr sz="1200" b="0" i="0">
                <a:solidFill>
                  <a:srgbClr val="FFFFFF"/>
                </a:solidFill>
                <a:latin typeface="Segoe UI"/>
              </a:defRPr>
            </a:pPr>
            <a:endParaRPr/>
          </a:p>
          <a:p>
            <a:pPr algn="ctr">
              <a:spcBef>
                <a:spcPts val="600"/>
              </a:spcBef>
              <a:defRPr sz="2200" b="0" i="0">
                <a:solidFill>
                  <a:srgbClr val="FFFFFF"/>
                </a:solidFill>
                <a:latin typeface="Segoe UI"/>
              </a:defRPr>
            </a:pPr>
            <a:r>
              <a:t>Mostrar a cena VR que vamos construir hoje</a:t>
            </a:r>
          </a:p>
          <a:p>
            <a:pPr algn="ctr">
              <a:spcBef>
                <a:spcPts val="600"/>
              </a:spcBef>
              <a:defRPr sz="2200" b="0" i="0">
                <a:solidFill>
                  <a:srgbClr val="B0B8C4"/>
                </a:solidFill>
                <a:latin typeface="Segoe UI"/>
              </a:defRPr>
            </a:pPr>
            <a:r>
              <a:t>Abrir no browser + entrar em modo VR no Quest</a:t>
            </a:r>
          </a:p>
          <a:p>
            <a:pPr algn="l">
              <a:spcBef>
                <a:spcPts val="600"/>
              </a:spcBef>
              <a:defRPr sz="1200" b="0" i="0">
                <a:solidFill>
                  <a:srgbClr val="FFFFFF"/>
                </a:solidFill>
                <a:latin typeface="Segoe UI"/>
              </a:defRPr>
            </a:pPr>
            <a:endParaRPr/>
          </a:p>
          <a:p>
            <a:pPr algn="ctr">
              <a:spcBef>
                <a:spcPts val="600"/>
              </a:spcBef>
              <a:defRPr sz="2000" b="0" i="0">
                <a:solidFill>
                  <a:srgbClr val="3FB950"/>
                </a:solidFill>
                <a:latin typeface="Segoe UI"/>
              </a:defRPr>
            </a:pPr>
            <a:r>
              <a:t>Convidar 2-3 alunos a experimentar o headset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828800" cy="1828800"/>
          </a:xfrm>
          <a:prstGeom prst="rect">
            <a:avLst/>
          </a:prstGeom>
          <a:noFill/>
        </p:spPr>
        <p:txBody>
          <a:bodyPr wrap="square">
            <a:spAutoFit/>
          </a:bodyPr>
          <a:lstStyle/>
          <a:p>
            <a:pPr algn="l">
              <a:defRPr sz="9600" b="1">
                <a:solidFill>
                  <a:srgbClr val="58A6FF"/>
                </a:solidFill>
                <a:latin typeface="Segoe UI Light"/>
              </a:defRPr>
            </a:pPr>
            <a:r>
              <a:t>02</a:t>
            </a:r>
          </a:p>
        </p:txBody>
      </p:sp>
      <p:sp>
        <p:nvSpPr>
          <p:cNvPr id="3" name="Rectangle 2"/>
          <p:cNvSpPr/>
          <p:nvPr/>
        </p:nvSpPr>
        <p:spPr>
          <a:xfrm>
            <a:off x="914400" y="3383280"/>
            <a:ext cx="137160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058400" cy="1097280"/>
          </a:xfrm>
          <a:prstGeom prst="rect">
            <a:avLst/>
          </a:prstGeom>
          <a:noFill/>
        </p:spPr>
        <p:txBody>
          <a:bodyPr wrap="square">
            <a:spAutoFit/>
          </a:bodyPr>
          <a:lstStyle/>
          <a:p>
            <a:pPr algn="l">
              <a:defRPr sz="3600" b="1">
                <a:solidFill>
                  <a:srgbClr val="FFFFFF"/>
                </a:solidFill>
                <a:latin typeface="Segoe UI Semibold"/>
              </a:defRPr>
            </a:pPr>
            <a:r>
              <a:t>Ferramentas de Criacao de Conteudo</a:t>
            </a:r>
          </a:p>
        </p:txBody>
      </p:sp>
      <p:sp>
        <p:nvSpPr>
          <p:cNvPr id="5" name="TextBox 4"/>
          <p:cNvSpPr txBox="1"/>
          <p:nvPr/>
        </p:nvSpPr>
        <p:spPr>
          <a:xfrm>
            <a:off x="914400" y="4754880"/>
            <a:ext cx="9144000" cy="914400"/>
          </a:xfrm>
          <a:prstGeom prst="rect">
            <a:avLst/>
          </a:prstGeom>
          <a:noFill/>
        </p:spPr>
        <p:txBody>
          <a:bodyPr wrap="square">
            <a:spAutoFit/>
          </a:bodyPr>
          <a:lstStyle/>
          <a:p>
            <a:pPr algn="l">
              <a:defRPr sz="2000" b="0">
                <a:solidFill>
                  <a:srgbClr val="B0B8C4"/>
                </a:solidFill>
                <a:latin typeface="Segoe UI"/>
              </a:defRPr>
            </a:pPr>
            <a:r>
              <a:t>Som, imagem 360, video, 3D, Gaussian Splatting, Kiri Engine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Tipos de Conteudo VR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2560320" cy="36576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737360"/>
            <a:ext cx="2011680" cy="731520"/>
          </a:xfrm>
          <a:prstGeom prst="rect">
            <a:avLst/>
          </a:prstGeom>
          <a:noFill/>
        </p:spPr>
        <p:txBody>
          <a:bodyPr wrap="square">
            <a:spAutoFit/>
          </a:bodyPr>
          <a:lstStyle/>
          <a:p>
            <a:pPr algn="ctr">
              <a:defRPr sz="4000" b="0">
                <a:solidFill>
                  <a:srgbClr val="58A6FF"/>
                </a:solidFill>
                <a:latin typeface="Segoe UI"/>
              </a:defRPr>
            </a:pPr>
            <a:r>
              <a:t>🔊</a:t>
            </a:r>
          </a:p>
        </p:txBody>
      </p:sp>
      <p:sp>
        <p:nvSpPr>
          <p:cNvPr id="6" name="TextBox 5"/>
          <p:cNvSpPr txBox="1"/>
          <p:nvPr/>
        </p:nvSpPr>
        <p:spPr>
          <a:xfrm>
            <a:off x="1005840" y="2560320"/>
            <a:ext cx="2011680" cy="457200"/>
          </a:xfrm>
          <a:prstGeom prst="rect">
            <a:avLst/>
          </a:prstGeom>
          <a:noFill/>
        </p:spPr>
        <p:txBody>
          <a:bodyPr wrap="square">
            <a:spAutoFit/>
          </a:bodyPr>
          <a:lstStyle/>
          <a:p>
            <a:pPr algn="ctr">
              <a:defRPr sz="2200" b="1">
                <a:solidFill>
                  <a:srgbClr val="FFFFFF"/>
                </a:solidFill>
                <a:latin typeface="Segoe UI"/>
              </a:defRPr>
            </a:pPr>
            <a:r>
              <a:t>Som</a:t>
            </a:r>
          </a:p>
        </p:txBody>
      </p:sp>
      <p:sp>
        <p:nvSpPr>
          <p:cNvPr id="7" name="TextBox 6"/>
          <p:cNvSpPr txBox="1"/>
          <p:nvPr/>
        </p:nvSpPr>
        <p:spPr>
          <a:xfrm>
            <a:off x="1005840" y="3200400"/>
            <a:ext cx="2011680" cy="1371600"/>
          </a:xfrm>
          <a:prstGeom prst="rect">
            <a:avLst/>
          </a:prstGeom>
          <a:noFill/>
        </p:spPr>
        <p:txBody>
          <a:bodyPr wrap="square">
            <a:spAutoFit/>
          </a:bodyPr>
          <a:lstStyle/>
          <a:p>
            <a:pPr algn="ctr">
              <a:defRPr sz="1400" b="0">
                <a:solidFill>
                  <a:srgbClr val="B0B8C4"/>
                </a:solidFill>
                <a:latin typeface="Segoe UI"/>
              </a:defRPr>
            </a:pPr>
            <a:r>
              <a:t>Audio ambiente, espacial,</a:t>
            </a:r>
            <a:br/>
            <a:r>
              <a:t>HRTF, ambisonics</a:t>
            </a:r>
          </a:p>
        </p:txBody>
      </p:sp>
      <p:sp>
        <p:nvSpPr>
          <p:cNvPr id="8" name="Rounded Rectangle 7"/>
          <p:cNvSpPr/>
          <p:nvPr/>
        </p:nvSpPr>
        <p:spPr>
          <a:xfrm>
            <a:off x="3520439" y="1463040"/>
            <a:ext cx="2560320" cy="36576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94759" y="1737360"/>
            <a:ext cx="2011680" cy="731520"/>
          </a:xfrm>
          <a:prstGeom prst="rect">
            <a:avLst/>
          </a:prstGeom>
          <a:noFill/>
        </p:spPr>
        <p:txBody>
          <a:bodyPr wrap="square">
            <a:spAutoFit/>
          </a:bodyPr>
          <a:lstStyle/>
          <a:p>
            <a:pPr algn="ctr">
              <a:defRPr sz="4000" b="0">
                <a:solidFill>
                  <a:srgbClr val="3FB950"/>
                </a:solidFill>
                <a:latin typeface="Segoe UI"/>
              </a:defRPr>
            </a:pPr>
            <a:r>
              <a:t>🖼</a:t>
            </a:r>
          </a:p>
        </p:txBody>
      </p:sp>
      <p:sp>
        <p:nvSpPr>
          <p:cNvPr id="10" name="TextBox 9"/>
          <p:cNvSpPr txBox="1"/>
          <p:nvPr/>
        </p:nvSpPr>
        <p:spPr>
          <a:xfrm>
            <a:off x="3794759" y="2560320"/>
            <a:ext cx="2011680" cy="457200"/>
          </a:xfrm>
          <a:prstGeom prst="rect">
            <a:avLst/>
          </a:prstGeom>
          <a:noFill/>
        </p:spPr>
        <p:txBody>
          <a:bodyPr wrap="square">
            <a:spAutoFit/>
          </a:bodyPr>
          <a:lstStyle/>
          <a:p>
            <a:pPr algn="ctr">
              <a:defRPr sz="2200" b="1">
                <a:solidFill>
                  <a:srgbClr val="FFFFFF"/>
                </a:solidFill>
                <a:latin typeface="Segoe UI"/>
              </a:defRPr>
            </a:pPr>
            <a:r>
              <a:t>Imagem 360</a:t>
            </a:r>
          </a:p>
        </p:txBody>
      </p:sp>
      <p:sp>
        <p:nvSpPr>
          <p:cNvPr id="11" name="TextBox 10"/>
          <p:cNvSpPr txBox="1"/>
          <p:nvPr/>
        </p:nvSpPr>
        <p:spPr>
          <a:xfrm>
            <a:off x="3794759" y="3200400"/>
            <a:ext cx="2011680" cy="1371600"/>
          </a:xfrm>
          <a:prstGeom prst="rect">
            <a:avLst/>
          </a:prstGeom>
          <a:noFill/>
        </p:spPr>
        <p:txBody>
          <a:bodyPr wrap="square">
            <a:spAutoFit/>
          </a:bodyPr>
          <a:lstStyle/>
          <a:p>
            <a:pPr algn="ctr">
              <a:defRPr sz="1400" b="0">
                <a:solidFill>
                  <a:srgbClr val="B0B8C4"/>
                </a:solidFill>
                <a:latin typeface="Segoe UI"/>
              </a:defRPr>
            </a:pPr>
            <a:r>
              <a:t>Panoramas equiretangulares,</a:t>
            </a:r>
            <a:br/>
            <a:r>
              <a:t>fotografia imersiva</a:t>
            </a:r>
          </a:p>
        </p:txBody>
      </p:sp>
      <p:sp>
        <p:nvSpPr>
          <p:cNvPr id="12" name="Rounded Rectangle 11"/>
          <p:cNvSpPr/>
          <p:nvPr/>
        </p:nvSpPr>
        <p:spPr>
          <a:xfrm>
            <a:off x="6309359" y="1463040"/>
            <a:ext cx="2560320" cy="365760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79" y="1737360"/>
            <a:ext cx="2011680" cy="731520"/>
          </a:xfrm>
          <a:prstGeom prst="rect">
            <a:avLst/>
          </a:prstGeom>
          <a:noFill/>
        </p:spPr>
        <p:txBody>
          <a:bodyPr wrap="square">
            <a:spAutoFit/>
          </a:bodyPr>
          <a:lstStyle/>
          <a:p>
            <a:pPr algn="ctr">
              <a:defRPr sz="4000" b="0">
                <a:solidFill>
                  <a:srgbClr val="F78166"/>
                </a:solidFill>
                <a:latin typeface="Segoe UI"/>
              </a:defRPr>
            </a:pPr>
            <a:r>
              <a:t>🎬</a:t>
            </a:r>
          </a:p>
        </p:txBody>
      </p:sp>
      <p:sp>
        <p:nvSpPr>
          <p:cNvPr id="14" name="TextBox 13"/>
          <p:cNvSpPr txBox="1"/>
          <p:nvPr/>
        </p:nvSpPr>
        <p:spPr>
          <a:xfrm>
            <a:off x="6583679" y="2560320"/>
            <a:ext cx="2011680" cy="457200"/>
          </a:xfrm>
          <a:prstGeom prst="rect">
            <a:avLst/>
          </a:prstGeom>
          <a:noFill/>
        </p:spPr>
        <p:txBody>
          <a:bodyPr wrap="square">
            <a:spAutoFit/>
          </a:bodyPr>
          <a:lstStyle/>
          <a:p>
            <a:pPr algn="ctr">
              <a:defRPr sz="2200" b="1">
                <a:solidFill>
                  <a:srgbClr val="FFFFFF"/>
                </a:solidFill>
                <a:latin typeface="Segoe UI"/>
              </a:defRPr>
            </a:pPr>
            <a:r>
              <a:t>Video</a:t>
            </a:r>
          </a:p>
        </p:txBody>
      </p:sp>
      <p:sp>
        <p:nvSpPr>
          <p:cNvPr id="15" name="TextBox 14"/>
          <p:cNvSpPr txBox="1"/>
          <p:nvPr/>
        </p:nvSpPr>
        <p:spPr>
          <a:xfrm>
            <a:off x="6583679" y="3200400"/>
            <a:ext cx="2011680" cy="1371600"/>
          </a:xfrm>
          <a:prstGeom prst="rect">
            <a:avLst/>
          </a:prstGeom>
          <a:noFill/>
        </p:spPr>
        <p:txBody>
          <a:bodyPr wrap="square">
            <a:spAutoFit/>
          </a:bodyPr>
          <a:lstStyle/>
          <a:p>
            <a:pPr algn="ctr">
              <a:defRPr sz="1400" b="0">
                <a:solidFill>
                  <a:srgbClr val="B0B8C4"/>
                </a:solidFill>
                <a:latin typeface="Segoe UI"/>
              </a:defRPr>
            </a:pPr>
            <a:r>
              <a:t>360, volumetrico,</a:t>
            </a:r>
            <a:br/>
            <a:r>
              <a:t>procedimentos medicos</a:t>
            </a:r>
          </a:p>
        </p:txBody>
      </p:sp>
      <p:sp>
        <p:nvSpPr>
          <p:cNvPr id="16" name="Rounded Rectangle 15"/>
          <p:cNvSpPr/>
          <p:nvPr/>
        </p:nvSpPr>
        <p:spPr>
          <a:xfrm>
            <a:off x="9098280" y="1463040"/>
            <a:ext cx="2560320" cy="365760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72600" y="1737360"/>
            <a:ext cx="2011680" cy="731520"/>
          </a:xfrm>
          <a:prstGeom prst="rect">
            <a:avLst/>
          </a:prstGeom>
          <a:noFill/>
        </p:spPr>
        <p:txBody>
          <a:bodyPr wrap="square">
            <a:spAutoFit/>
          </a:bodyPr>
          <a:lstStyle/>
          <a:p>
            <a:pPr algn="ctr">
              <a:defRPr sz="4000" b="0">
                <a:solidFill>
                  <a:srgbClr val="D2A8FF"/>
                </a:solidFill>
                <a:latin typeface="Segoe UI"/>
              </a:defRPr>
            </a:pPr>
            <a:r>
              <a:t>💠</a:t>
            </a:r>
          </a:p>
        </p:txBody>
      </p:sp>
      <p:sp>
        <p:nvSpPr>
          <p:cNvPr id="18" name="TextBox 17"/>
          <p:cNvSpPr txBox="1"/>
          <p:nvPr/>
        </p:nvSpPr>
        <p:spPr>
          <a:xfrm>
            <a:off x="9372600" y="2560320"/>
            <a:ext cx="2011680" cy="457200"/>
          </a:xfrm>
          <a:prstGeom prst="rect">
            <a:avLst/>
          </a:prstGeom>
          <a:noFill/>
        </p:spPr>
        <p:txBody>
          <a:bodyPr wrap="square">
            <a:spAutoFit/>
          </a:bodyPr>
          <a:lstStyle/>
          <a:p>
            <a:pPr algn="ctr">
              <a:defRPr sz="2200" b="1">
                <a:solidFill>
                  <a:srgbClr val="FFFFFF"/>
                </a:solidFill>
                <a:latin typeface="Segoe UI"/>
              </a:defRPr>
            </a:pPr>
            <a:r>
              <a:t>3D</a:t>
            </a:r>
          </a:p>
        </p:txBody>
      </p:sp>
      <p:sp>
        <p:nvSpPr>
          <p:cNvPr id="19" name="TextBox 18"/>
          <p:cNvSpPr txBox="1"/>
          <p:nvPr/>
        </p:nvSpPr>
        <p:spPr>
          <a:xfrm>
            <a:off x="9372600" y="3200400"/>
            <a:ext cx="2011680" cy="1371600"/>
          </a:xfrm>
          <a:prstGeom prst="rect">
            <a:avLst/>
          </a:prstGeom>
          <a:noFill/>
        </p:spPr>
        <p:txBody>
          <a:bodyPr wrap="square">
            <a:spAutoFit/>
          </a:bodyPr>
          <a:lstStyle/>
          <a:p>
            <a:pPr algn="ctr">
              <a:defRPr sz="1400" b="0">
                <a:solidFill>
                  <a:srgbClr val="B0B8C4"/>
                </a:solidFill>
                <a:latin typeface="Segoe UI"/>
              </a:defRPr>
            </a:pPr>
            <a:r>
              <a:t>CGI, fotogrametria,</a:t>
            </a:r>
            <a:br/>
            <a:r>
              <a:t>Gaussian Splatting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39" y="365760"/>
            <a:ext cx="10058400" cy="731520"/>
          </a:xfrm>
          <a:prstGeom prst="rect">
            <a:avLst/>
          </a:prstGeom>
          <a:noFill/>
        </p:spPr>
        <p:txBody>
          <a:bodyPr wrap="square">
            <a:spAutoFit/>
          </a:bodyPr>
          <a:lstStyle/>
          <a:p>
            <a:pPr algn="l">
              <a:defRPr sz="2800" b="1">
                <a:solidFill>
                  <a:srgbClr val="FFFFFF"/>
                </a:solidFill>
                <a:latin typeface="Segoe UI Semibold"/>
              </a:defRPr>
            </a:pPr>
            <a:r>
              <a:t>Tipos de Conteudo VR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aixaDeTexto 19">
            <a:extLst>
              <a:ext uri="{FF2B5EF4-FFF2-40B4-BE49-F238E27FC236}">
                <a16:creationId xmlns:a16="http://schemas.microsoft.com/office/drawing/2014/main" id="{64B361A7-DE54-F377-9E15-0189F06FA770}"/>
              </a:ext>
            </a:extLst>
          </p:cNvPr>
          <p:cNvSpPr txBox="1"/>
          <p:nvPr/>
        </p:nvSpPr>
        <p:spPr>
          <a:xfrm>
            <a:off x="1335741" y="1819835"/>
            <a:ext cx="9499898" cy="1754326"/>
          </a:xfrm>
          <a:prstGeom prst="rect">
            <a:avLst/>
          </a:prstGeom>
          <a:noFill/>
        </p:spPr>
        <p:txBody>
          <a:bodyPr wrap="square" rtlCol="0">
            <a:spAutoFit/>
          </a:bodyPr>
          <a:lstStyle/>
          <a:p>
            <a:r>
              <a:rPr lang="pt-PT" dirty="0"/>
              <a:t>INCLUIR formatos habituais para a A-</a:t>
            </a:r>
            <a:r>
              <a:rPr lang="pt-PT" dirty="0" err="1"/>
              <a:t>frame</a:t>
            </a:r>
            <a:r>
              <a:rPr lang="pt-PT" dirty="0"/>
              <a:t> para vídeo, som e 3D (OBJ) –  e definição de gravidade</a:t>
            </a:r>
          </a:p>
          <a:p>
            <a:endParaRPr lang="pt-PT" dirty="0"/>
          </a:p>
          <a:p>
            <a:r>
              <a:rPr lang="pt-PT" dirty="0"/>
              <a:t>Criar </a:t>
            </a:r>
            <a:r>
              <a:rPr lang="pt-PT" dirty="0" err="1"/>
              <a:t>requirements</a:t>
            </a:r>
            <a:r>
              <a:rPr lang="pt-PT" dirty="0"/>
              <a:t> do exercício, para as instalações</a:t>
            </a:r>
          </a:p>
          <a:p>
            <a:endParaRPr lang="pt-PT" dirty="0"/>
          </a:p>
          <a:p>
            <a:r>
              <a:rPr lang="pt-PT" dirty="0">
                <a:hlinkClick r:id="rId2"/>
              </a:rPr>
              <a:t>https://www.youtube.com/watch?v=2RdFPqRwgRk</a:t>
            </a:r>
            <a:r>
              <a:rPr lang="pt-PT" dirty="0"/>
              <a:t> - GitHub</a:t>
            </a:r>
          </a:p>
          <a:p>
            <a:endParaRPr lang="pt-PT" dirty="0"/>
          </a:p>
        </p:txBody>
      </p:sp>
    </p:spTree>
    <p:extLst>
      <p:ext uri="{BB962C8B-B14F-4D97-AF65-F5344CB8AC3E}">
        <p14:creationId xmlns:p14="http://schemas.microsoft.com/office/powerpoint/2010/main" val="2154490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aixaDeTexto 19">
            <a:extLst>
              <a:ext uri="{FF2B5EF4-FFF2-40B4-BE49-F238E27FC236}">
                <a16:creationId xmlns:a16="http://schemas.microsoft.com/office/drawing/2014/main" id="{64B361A7-DE54-F377-9E15-0189F06FA770}"/>
              </a:ext>
            </a:extLst>
          </p:cNvPr>
          <p:cNvSpPr txBox="1"/>
          <p:nvPr/>
        </p:nvSpPr>
        <p:spPr>
          <a:xfrm>
            <a:off x="558502" y="803057"/>
            <a:ext cx="10856259" cy="4832092"/>
          </a:xfrm>
          <a:prstGeom prst="rect">
            <a:avLst/>
          </a:prstGeom>
          <a:noFill/>
        </p:spPr>
        <p:txBody>
          <a:bodyPr wrap="square" rtlCol="0">
            <a:spAutoFit/>
          </a:bodyPr>
          <a:lstStyle/>
          <a:p>
            <a:r>
              <a:rPr lang="en-US" sz="1400" dirty="0"/>
              <a:t>Create a high-quality 3D world from this panoramic image.</a:t>
            </a:r>
          </a:p>
          <a:p>
            <a:endParaRPr lang="en-US" sz="1400" dirty="0"/>
          </a:p>
          <a:p>
            <a:r>
              <a:rPr lang="en-US" sz="1400" dirty="0"/>
              <a:t>Preserve the architectural layout of the panorama exactly as it is. Preserve the clean open center, the symmetrical retro-futuristic sci-fi biomedical teaching chamber, the curved white and grey structural forms, the premium ceiling design, and the overall room proportions.</a:t>
            </a:r>
          </a:p>
          <a:p>
            <a:endParaRPr lang="en-US" sz="1400" dirty="0"/>
          </a:p>
          <a:p>
            <a:r>
              <a:rPr lang="en-US" sz="1400" dirty="0"/>
              <a:t>Increase overall visual fidelity, geometric precision, and material realism across the entire world. Improve sharpness, spatial clarity, wall depth, ceiling detail, and architectural coherence. Keep the room crisp, premium, cinematic, and fully resolved.</a:t>
            </a:r>
          </a:p>
          <a:p>
            <a:endParaRPr lang="en-US" sz="1400" dirty="0"/>
          </a:p>
          <a:p>
            <a:r>
              <a:rPr lang="en-US" sz="1400" dirty="0"/>
              <a:t>Make the side wall openings read as elegant panoramic observation windows integrated into the architecture, with deep outer space visible beyond them. Show realistic star fields outside, subtle and natural, without labels, lines, diagrams, or graphic overlays. Preserve the back observation window and keep the exterior space view cinematic, believable, and architecturally integrated.</a:t>
            </a:r>
          </a:p>
          <a:p>
            <a:endParaRPr lang="en-US" sz="1400" dirty="0"/>
          </a:p>
          <a:p>
            <a:r>
              <a:rPr lang="en-US" sz="1400" dirty="0"/>
              <a:t>Preserve the clean floor and keep reflections controlled, premium, and realistic, not watery or exaggerated. Preserve the room layout and preserve the empty central area for future interactive objects.</a:t>
            </a:r>
          </a:p>
          <a:p>
            <a:endParaRPr lang="en-US" sz="1400" dirty="0"/>
          </a:p>
          <a:p>
            <a:r>
              <a:rPr lang="en-US" sz="1400" dirty="0"/>
              <a:t>Do not add poles, rails, furniture, clutter, text, logos, posters, screens, labels, diagrams, extra structures, or random objects. Do not change the room into a corridor, lounge, or generic spaceship room.</a:t>
            </a:r>
          </a:p>
          <a:p>
            <a:endParaRPr lang="en-US" sz="1400" dirty="0"/>
          </a:p>
          <a:p>
            <a:r>
              <a:rPr lang="en-US" sz="1400" dirty="0"/>
              <a:t>Avoid blur, haze, bloom, melted geometry, washed-out lighting, seam artifacts, distorted walls, broken floor surfaces, and low-detail areas.</a:t>
            </a:r>
          </a:p>
          <a:p>
            <a:endParaRPr lang="en-US" sz="1400" dirty="0"/>
          </a:p>
          <a:p>
            <a:r>
              <a:rPr lang="en-US" sz="1400" dirty="0"/>
              <a:t>The final result should feel like a premium, high-fidelity, retro-futuristic biomedical teaching chamber in space, with windows all around, strong architectural coherence, and maximum visual quality.</a:t>
            </a:r>
            <a:endParaRPr lang="pt-PT" sz="1400" dirty="0"/>
          </a:p>
        </p:txBody>
      </p:sp>
    </p:spTree>
    <p:extLst>
      <p:ext uri="{BB962C8B-B14F-4D97-AF65-F5344CB8AC3E}">
        <p14:creationId xmlns:p14="http://schemas.microsoft.com/office/powerpoint/2010/main" val="2903579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Som em VR: 50% da Experiencia Imersiva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240792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57200">
                <a:tc>
                  <a:txBody>
                    <a:bodyPr/>
                    <a:lstStyle/>
                    <a:p>
                      <a:pPr>
                        <a:defRPr sz="1400" b="1">
                          <a:solidFill>
                            <a:srgbClr val="FFFFFF"/>
                          </a:solidFill>
                          <a:latin typeface="Segoe UI"/>
                        </a:defRPr>
                      </a:pPr>
                      <a:r>
                        <a:t>Tipo (termo tecnico)</a:t>
                      </a:r>
                    </a:p>
                  </a:txBody>
                  <a:tcPr>
                    <a:solidFill>
                      <a:srgbClr val="1A2A3A"/>
                    </a:solidFill>
                  </a:tcPr>
                </a:tc>
                <a:tc>
                  <a:txBody>
                    <a:bodyPr/>
                    <a:lstStyle/>
                    <a:p>
                      <a:pPr>
                        <a:defRPr sz="1400" b="1">
                          <a:solidFill>
                            <a:srgbClr val="FFFFFF"/>
                          </a:solidFill>
                          <a:latin typeface="Segoe UI"/>
                        </a:defRPr>
                      </a:pPr>
                      <a:r>
                        <a:t>Descricao</a:t>
                      </a:r>
                    </a:p>
                  </a:txBody>
                  <a:tcPr>
                    <a:solidFill>
                      <a:srgbClr val="1A2A3A"/>
                    </a:solidFill>
                  </a:tcPr>
                </a:tc>
                <a:tc>
                  <a:txBody>
                    <a:bodyPr/>
                    <a:lstStyle/>
                    <a:p>
                      <a:pPr>
                        <a:defRPr sz="1400" b="1">
                          <a:solidFill>
                            <a:srgbClr val="FFFFFF"/>
                          </a:solidFill>
                          <a:latin typeface="Segoe UI"/>
                        </a:defRPr>
                      </a:pPr>
                      <a:r>
                        <a:t>Exemplo clinico</a:t>
                      </a:r>
                    </a:p>
                  </a:txBody>
                  <a:tcPr>
                    <a:solidFill>
                      <a:srgbClr val="1A2A3A"/>
                    </a:solidFill>
                  </a:tcPr>
                </a:tc>
                <a:extLst>
                  <a:ext uri="{0D108BD9-81ED-4DB2-BD59-A6C34878D82A}">
                    <a16:rowId xmlns:a16="http://schemas.microsoft.com/office/drawing/2014/main" val="10000"/>
                  </a:ext>
                </a:extLst>
              </a:tr>
              <a:tr h="457200">
                <a:tc>
                  <a:txBody>
                    <a:bodyPr/>
                    <a:lstStyle/>
                    <a:p>
                      <a:pPr>
                        <a:defRPr sz="1300">
                          <a:solidFill>
                            <a:srgbClr val="B0B8C4"/>
                          </a:solidFill>
                          <a:latin typeface="Segoe UI"/>
                        </a:defRPr>
                      </a:pPr>
                      <a:r>
                        <a:t>Mono/Stereo</a:t>
                      </a:r>
                    </a:p>
                  </a:txBody>
                  <a:tcPr>
                    <a:solidFill>
                      <a:srgbClr val="121820"/>
                    </a:solidFill>
                  </a:tcPr>
                </a:tc>
                <a:tc>
                  <a:txBody>
                    <a:bodyPr/>
                    <a:lstStyle/>
                    <a:p>
                      <a:pPr>
                        <a:defRPr sz="1300">
                          <a:solidFill>
                            <a:srgbClr val="B0B8C4"/>
                          </a:solidFill>
                          <a:latin typeface="Segoe UI"/>
                        </a:defRPr>
                      </a:pPr>
                      <a:r>
                        <a:t>Audio standard, sem posicionamento espacial</a:t>
                      </a:r>
                    </a:p>
                  </a:txBody>
                  <a:tcPr>
                    <a:solidFill>
                      <a:srgbClr val="121820"/>
                    </a:solidFill>
                  </a:tcPr>
                </a:tc>
                <a:tc>
                  <a:txBody>
                    <a:bodyPr/>
                    <a:lstStyle/>
                    <a:p>
                      <a:pPr>
                        <a:defRPr sz="1300">
                          <a:solidFill>
                            <a:srgbClr val="B0B8C4"/>
                          </a:solidFill>
                          <a:latin typeface="Segoe UI"/>
                        </a:defRPr>
                      </a:pPr>
                      <a:r>
                        <a:t>Musica de fundo</a:t>
                      </a:r>
                    </a:p>
                  </a:txBody>
                  <a:tcPr>
                    <a:solidFill>
                      <a:srgbClr val="121820"/>
                    </a:solidFill>
                  </a:tcPr>
                </a:tc>
                <a:extLst>
                  <a:ext uri="{0D108BD9-81ED-4DB2-BD59-A6C34878D82A}">
                    <a16:rowId xmlns:a16="http://schemas.microsoft.com/office/drawing/2014/main" val="10001"/>
                  </a:ext>
                </a:extLst>
              </a:tr>
              <a:tr h="457200">
                <a:tc>
                  <a:txBody>
                    <a:bodyPr/>
                    <a:lstStyle/>
                    <a:p>
                      <a:pPr>
                        <a:defRPr sz="1300">
                          <a:solidFill>
                            <a:srgbClr val="B0B8C4"/>
                          </a:solidFill>
                          <a:latin typeface="Segoe UI"/>
                        </a:defRPr>
                      </a:pPr>
                      <a:r>
                        <a:t>Positional Audio (3D)</a:t>
                      </a:r>
                    </a:p>
                  </a:txBody>
                  <a:tcPr>
                    <a:solidFill>
                      <a:srgbClr val="161E28"/>
                    </a:solidFill>
                  </a:tcPr>
                </a:tc>
                <a:tc>
                  <a:txBody>
                    <a:bodyPr/>
                    <a:lstStyle/>
                    <a:p>
                      <a:pPr>
                        <a:defRPr sz="1300">
                          <a:solidFill>
                            <a:srgbClr val="B0B8C4"/>
                          </a:solidFill>
                          <a:latin typeface="Segoe UI"/>
                        </a:defRPr>
                      </a:pPr>
                      <a:r>
                        <a:t>Som posicionado no espaco 3D, atenua com distancia</a:t>
                      </a:r>
                    </a:p>
                  </a:txBody>
                  <a:tcPr>
                    <a:solidFill>
                      <a:srgbClr val="161E28"/>
                    </a:solidFill>
                  </a:tcPr>
                </a:tc>
                <a:tc>
                  <a:txBody>
                    <a:bodyPr/>
                    <a:lstStyle/>
                    <a:p>
                      <a:pPr>
                        <a:defRPr sz="1300">
                          <a:solidFill>
                            <a:srgbClr val="B0B8C4"/>
                          </a:solidFill>
                          <a:latin typeface="Segoe UI"/>
                        </a:defRPr>
                      </a:pPr>
                      <a:r>
                        <a:t>Batimento cardiaco vindo do peito virtual</a:t>
                      </a:r>
                    </a:p>
                  </a:txBody>
                  <a:tcPr>
                    <a:solidFill>
                      <a:srgbClr val="161E28"/>
                    </a:solidFill>
                  </a:tcPr>
                </a:tc>
                <a:extLst>
                  <a:ext uri="{0D108BD9-81ED-4DB2-BD59-A6C34878D82A}">
                    <a16:rowId xmlns:a16="http://schemas.microsoft.com/office/drawing/2014/main" val="10002"/>
                  </a:ext>
                </a:extLst>
              </a:tr>
              <a:tr h="457200">
                <a:tc>
                  <a:txBody>
                    <a:bodyPr/>
                    <a:lstStyle/>
                    <a:p>
                      <a:pPr>
                        <a:defRPr sz="1300">
                          <a:solidFill>
                            <a:srgbClr val="B0B8C4"/>
                          </a:solidFill>
                          <a:latin typeface="Segoe UI"/>
                        </a:defRPr>
                      </a:pPr>
                      <a:r>
                        <a:t>Ambisonics (B-format)</a:t>
                      </a:r>
                    </a:p>
                  </a:txBody>
                  <a:tcPr>
                    <a:solidFill>
                      <a:srgbClr val="121820"/>
                    </a:solidFill>
                  </a:tcPr>
                </a:tc>
                <a:tc>
                  <a:txBody>
                    <a:bodyPr/>
                    <a:lstStyle/>
                    <a:p>
                      <a:pPr>
                        <a:defRPr sz="1300">
                          <a:solidFill>
                            <a:srgbClr val="B0B8C4"/>
                          </a:solidFill>
                          <a:latin typeface="Segoe UI"/>
                        </a:defRPr>
                      </a:pPr>
                      <a:r>
                        <a:t>Captura/reproducao esferica completa do campo sonoro</a:t>
                      </a:r>
                    </a:p>
                  </a:txBody>
                  <a:tcPr>
                    <a:solidFill>
                      <a:srgbClr val="121820"/>
                    </a:solidFill>
                  </a:tcPr>
                </a:tc>
                <a:tc>
                  <a:txBody>
                    <a:bodyPr/>
                    <a:lstStyle/>
                    <a:p>
                      <a:pPr>
                        <a:defRPr sz="1300">
                          <a:solidFill>
                            <a:srgbClr val="B0B8C4"/>
                          </a:solidFill>
                          <a:latin typeface="Segoe UI"/>
                        </a:defRPr>
                      </a:pPr>
                      <a:r>
                        <a:t>Gravacao do ambiente de bloco operatorio</a:t>
                      </a:r>
                    </a:p>
                  </a:txBody>
                  <a:tcPr>
                    <a:solidFill>
                      <a:srgbClr val="121820"/>
                    </a:solidFill>
                  </a:tcPr>
                </a:tc>
                <a:extLst>
                  <a:ext uri="{0D108BD9-81ED-4DB2-BD59-A6C34878D82A}">
                    <a16:rowId xmlns:a16="http://schemas.microsoft.com/office/drawing/2014/main" val="10003"/>
                  </a:ext>
                </a:extLst>
              </a:tr>
              <a:tr h="457200">
                <a:tc>
                  <a:txBody>
                    <a:bodyPr/>
                    <a:lstStyle/>
                    <a:p>
                      <a:pPr>
                        <a:defRPr sz="1300">
                          <a:solidFill>
                            <a:srgbClr val="B0B8C4"/>
                          </a:solidFill>
                          <a:latin typeface="Segoe UI"/>
                        </a:defRPr>
                      </a:pPr>
                      <a:r>
                        <a:t>HRTF (Head-Related TF)</a:t>
                      </a:r>
                    </a:p>
                  </a:txBody>
                  <a:tcPr>
                    <a:solidFill>
                      <a:srgbClr val="161E28"/>
                    </a:solidFill>
                  </a:tcPr>
                </a:tc>
                <a:tc>
                  <a:txBody>
                    <a:bodyPr/>
                    <a:lstStyle/>
                    <a:p>
                      <a:pPr>
                        <a:defRPr sz="1300">
                          <a:solidFill>
                            <a:srgbClr val="B0B8C4"/>
                          </a:solidFill>
                          <a:latin typeface="Segoe UI"/>
                        </a:defRPr>
                      </a:pPr>
                      <a:r>
                        <a:t>Modela a interacao do som com pinnae, cabeca e torso</a:t>
                      </a:r>
                    </a:p>
                  </a:txBody>
                  <a:tcPr>
                    <a:solidFill>
                      <a:srgbClr val="161E28"/>
                    </a:solidFill>
                  </a:tcPr>
                </a:tc>
                <a:tc>
                  <a:txBody>
                    <a:bodyPr/>
                    <a:lstStyle/>
                    <a:p>
                      <a:pPr>
                        <a:defRPr sz="1300">
                          <a:solidFill>
                            <a:srgbClr val="B0B8C4"/>
                          </a:solidFill>
                          <a:latin typeface="Segoe UI"/>
                        </a:defRPr>
                      </a:pPr>
                      <a:r>
                        <a:t>Distinguir sons acima vs abaixo do doente</a:t>
                      </a:r>
                    </a:p>
                  </a:txBody>
                  <a:tcPr>
                    <a:solidFill>
                      <a:srgbClr val="161E28"/>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31520" y="4114800"/>
            <a:ext cx="10058400" cy="2286000"/>
          </a:xfrm>
          <a:prstGeom prst="rect">
            <a:avLst/>
          </a:prstGeom>
          <a:noFill/>
        </p:spPr>
        <p:txBody>
          <a:bodyPr wrap="square">
            <a:spAutoFit/>
          </a:bodyPr>
          <a:lstStyle/>
          <a:p>
            <a:pPr algn="l">
              <a:defRPr sz="1800" b="1">
                <a:solidFill>
                  <a:srgbClr val="3FB950"/>
                </a:solidFill>
                <a:latin typeface="Segoe UI"/>
              </a:defRPr>
            </a:pPr>
            <a:r>
              <a:t>Aplicacoes medicas do audio espacial:</a:t>
            </a:r>
          </a:p>
          <a:p>
            <a:pPr algn="l">
              <a:spcBef>
                <a:spcPts val="600"/>
              </a:spcBef>
              <a:defRPr sz="1600" b="0" i="0">
                <a:solidFill>
                  <a:srgbClr val="B0B8C4"/>
                </a:solidFill>
                <a:latin typeface="Segoe UI"/>
              </a:defRPr>
            </a:pPr>
            <a:r>
              <a:t>• Auscultacao virtual — som mais alto quando estetoscopio no ponto correto</a:t>
            </a:r>
          </a:p>
          <a:p>
            <a:pPr algn="l">
              <a:spcBef>
                <a:spcPts val="600"/>
              </a:spcBef>
              <a:defRPr sz="1600" b="0" i="0">
                <a:solidFill>
                  <a:srgbClr val="B0B8C4"/>
                </a:solidFill>
                <a:latin typeface="Segoe UI"/>
              </a:defRPr>
            </a:pPr>
            <a:r>
              <a:t>• Simulacao de bloco — bips de monitores, ventilador, comunicacao (stress autentico)</a:t>
            </a:r>
          </a:p>
          <a:p>
            <a:pPr algn="l">
              <a:spcBef>
                <a:spcPts val="600"/>
              </a:spcBef>
              <a:defRPr sz="1600" b="0" i="0">
                <a:solidFill>
                  <a:srgbClr val="B0B8C4"/>
                </a:solidFill>
                <a:latin typeface="Segoe UI"/>
              </a:defRPr>
            </a:pPr>
            <a:r>
              <a:t>• Terapia: paisagens sonoras 360 para gestao de dor e ansiedade</a:t>
            </a:r>
          </a:p>
          <a:p>
            <a:pPr algn="l">
              <a:spcBef>
                <a:spcPts val="600"/>
              </a:spcBef>
              <a:defRPr sz="1600" b="0" i="0">
                <a:solidFill>
                  <a:srgbClr val="B0B8C4"/>
                </a:solidFill>
                <a:latin typeface="Segoe UI"/>
              </a:defRPr>
            </a:pPr>
            <a:r>
              <a:t>• Reabilitacao: instrucoes auditivas espaciais ('alcance o som a sua direita')</a:t>
            </a:r>
          </a:p>
        </p:txBody>
      </p:sp>
      <p:sp>
        <p:nvSpPr>
          <p:cNvPr id="6" name="TextBox 5"/>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 Audio Engineering Society; Frontiers in VR 2025 (1629908) — spatial audio significantly improves immersion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Imagem 360: Projecao Equiretangular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6400800" cy="4572000"/>
          </a:xfrm>
          <a:prstGeom prst="rect">
            <a:avLst/>
          </a:prstGeom>
          <a:noFill/>
        </p:spPr>
        <p:txBody>
          <a:bodyPr wrap="square">
            <a:spAutoFit/>
          </a:bodyPr>
          <a:lstStyle/>
          <a:p>
            <a:pPr algn="l">
              <a:defRPr sz="1800" b="1">
                <a:solidFill>
                  <a:srgbClr val="58A6FF"/>
                </a:solidFill>
                <a:latin typeface="Segoe UI"/>
              </a:defRPr>
            </a:pPr>
            <a:r>
              <a:t>Projecao Equiretangular (Equirectangular Projection)</a:t>
            </a:r>
          </a:p>
          <a:p>
            <a:pPr algn="l">
              <a:spcBef>
                <a:spcPts val="600"/>
              </a:spcBef>
              <a:defRPr sz="600" b="0" i="0">
                <a:solidFill>
                  <a:srgbClr val="FFFFFF"/>
                </a:solidFill>
                <a:latin typeface="Segoe UI"/>
              </a:defRPr>
            </a:pPr>
            <a:endParaRPr/>
          </a:p>
          <a:p>
            <a:pPr algn="l">
              <a:spcBef>
                <a:spcPts val="600"/>
              </a:spcBef>
              <a:defRPr sz="1600" b="0" i="0">
                <a:solidFill>
                  <a:srgbClr val="B0B8C4"/>
                </a:solidFill>
                <a:latin typeface="Segoe UI"/>
              </a:defRPr>
            </a:pPr>
            <a:r>
              <a:t>Analogia: descascar um globo e esticar num retangulo (mapa-mundi).</a:t>
            </a:r>
          </a:p>
          <a:p>
            <a:pPr algn="l">
              <a:spcBef>
                <a:spcPts val="600"/>
              </a:spcBef>
              <a:defRPr sz="1600" b="0" i="0">
                <a:solidFill>
                  <a:srgbClr val="B0B8C4"/>
                </a:solidFill>
                <a:latin typeface="Segoe UI"/>
              </a:defRPr>
            </a:pPr>
            <a:r>
              <a:t>A imagem fica distorcida em 2D, mas quando envolvida numa</a:t>
            </a:r>
          </a:p>
          <a:p>
            <a:pPr algn="l">
              <a:spcBef>
                <a:spcPts val="600"/>
              </a:spcBef>
              <a:defRPr sz="1600" b="0" i="0">
                <a:solidFill>
                  <a:srgbClr val="B0B8C4"/>
                </a:solidFill>
                <a:latin typeface="Segoe UI"/>
              </a:defRPr>
            </a:pPr>
            <a:r>
              <a:t>esfera em VR (&lt;a-sky&gt;), parece perfeitamente natural.</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Especificacoes tecnicas:</a:t>
            </a:r>
          </a:p>
          <a:p>
            <a:pPr algn="l">
              <a:spcBef>
                <a:spcPts val="600"/>
              </a:spcBef>
              <a:defRPr sz="1500" b="0" i="0">
                <a:solidFill>
                  <a:srgbClr val="B0B8C4"/>
                </a:solidFill>
                <a:latin typeface="Segoe UI"/>
              </a:defRPr>
            </a:pPr>
            <a:r>
              <a:t>• Racio: 2:1 (ex: 4096x2048 ou 8192x4096 pixels)</a:t>
            </a:r>
          </a:p>
          <a:p>
            <a:pPr algn="l">
              <a:spcBef>
                <a:spcPts val="600"/>
              </a:spcBef>
              <a:defRPr sz="1500" b="0" i="0">
                <a:solidFill>
                  <a:srgbClr val="B0B8C4"/>
                </a:solidFill>
                <a:latin typeface="Segoe UI"/>
              </a:defRPr>
            </a:pPr>
            <a:r>
              <a:t>• Formato: JPEG ou PNG (JPEG mais leve)</a:t>
            </a:r>
          </a:p>
          <a:p>
            <a:pPr algn="l">
              <a:spcBef>
                <a:spcPts val="600"/>
              </a:spcBef>
              <a:defRPr sz="1500" b="0" i="0">
                <a:solidFill>
                  <a:srgbClr val="B0B8C4"/>
                </a:solidFill>
                <a:latin typeface="Segoe UI"/>
              </a:defRPr>
            </a:pPr>
            <a:r>
              <a:t>• Projecao: latitude-longitude mapping</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Equipamento acessivel:</a:t>
            </a:r>
          </a:p>
          <a:p>
            <a:pPr algn="l">
              <a:spcBef>
                <a:spcPts val="600"/>
              </a:spcBef>
              <a:defRPr sz="1500" b="0" i="0">
                <a:solidFill>
                  <a:srgbClr val="B0B8C4"/>
                </a:solidFill>
                <a:latin typeface="Segoe UI"/>
              </a:defRPr>
            </a:pPr>
            <a:r>
              <a:t>• Insta360 X3/X4 (~400-500 EUR)</a:t>
            </a:r>
          </a:p>
          <a:p>
            <a:pPr algn="l">
              <a:spcBef>
                <a:spcPts val="600"/>
              </a:spcBef>
              <a:defRPr sz="1500" b="0" i="0">
                <a:solidFill>
                  <a:srgbClr val="B0B8C4"/>
                </a:solidFill>
                <a:latin typeface="Segoe UI"/>
              </a:defRPr>
            </a:pPr>
            <a:r>
              <a:t>• Ricoh Theta SC2 (~300 EUR)</a:t>
            </a:r>
          </a:p>
          <a:p>
            <a:pPr algn="l">
              <a:spcBef>
                <a:spcPts val="600"/>
              </a:spcBef>
              <a:defRPr sz="1500" b="0" i="0">
                <a:solidFill>
                  <a:srgbClr val="B0B8C4"/>
                </a:solidFill>
                <a:latin typeface="Segoe UI"/>
              </a:defRPr>
            </a:pPr>
            <a:r>
              <a:t>• GoPro MAX (~400 EUR)</a:t>
            </a:r>
          </a:p>
          <a:p>
            <a:pPr algn="l">
              <a:spcBef>
                <a:spcPts val="600"/>
              </a:spcBef>
              <a:defRPr sz="1500" b="0" i="0">
                <a:solidFill>
                  <a:srgbClr val="B0B8C4"/>
                </a:solidFill>
                <a:latin typeface="Segoe UI"/>
              </a:defRPr>
            </a:pPr>
            <a:r>
              <a:t>• Smartphone apps: Google Street View, Panorama 360</a:t>
            </a:r>
          </a:p>
        </p:txBody>
      </p:sp>
      <p:sp>
        <p:nvSpPr>
          <p:cNvPr id="5" name="Rounded Rectangle 4"/>
          <p:cNvSpPr/>
          <p:nvPr/>
        </p:nvSpPr>
        <p:spPr>
          <a:xfrm>
            <a:off x="7498079" y="1463040"/>
            <a:ext cx="4114800" cy="45720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0" y="1645920"/>
            <a:ext cx="3657600" cy="457200"/>
          </a:xfrm>
          <a:prstGeom prst="rect">
            <a:avLst/>
          </a:prstGeom>
          <a:noFill/>
        </p:spPr>
        <p:txBody>
          <a:bodyPr wrap="square">
            <a:spAutoFit/>
          </a:bodyPr>
          <a:lstStyle/>
          <a:p>
            <a:pPr algn="l">
              <a:defRPr sz="1800" b="1">
                <a:solidFill>
                  <a:srgbClr val="3FB950"/>
                </a:solidFill>
                <a:latin typeface="Segoe UI"/>
              </a:defRPr>
            </a:pPr>
            <a:r>
              <a:t>Aplicacoes em Saude</a:t>
            </a:r>
          </a:p>
          <a:p>
            <a:pPr algn="l">
              <a:spcBef>
                <a:spcPts val="800"/>
              </a:spcBef>
              <a:defRPr sz="1400" b="0" i="0">
                <a:solidFill>
                  <a:srgbClr val="B0B8C4"/>
                </a:solidFill>
                <a:latin typeface="Segoe UI"/>
              </a:defRPr>
            </a:pPr>
            <a:r>
              <a:t>• Visitas virtuais ao hospital</a:t>
            </a:r>
          </a:p>
          <a:p>
            <a:pPr algn="l">
              <a:spcBef>
                <a:spcPts val="800"/>
              </a:spcBef>
              <a:defRPr sz="1400" b="0" i="0">
                <a:solidFill>
                  <a:srgbClr val="B0B8C4"/>
                </a:solidFill>
                <a:latin typeface="Segoe UI"/>
              </a:defRPr>
            </a:pPr>
            <a:r>
              <a:t>• Documentacao do bloco operatorio</a:t>
            </a:r>
          </a:p>
          <a:p>
            <a:pPr algn="l">
              <a:spcBef>
                <a:spcPts val="800"/>
              </a:spcBef>
              <a:defRPr sz="1400" b="0" i="0">
                <a:solidFill>
                  <a:srgbClr val="B0B8C4"/>
                </a:solidFill>
                <a:latin typeface="Segoe UI"/>
              </a:defRPr>
            </a:pPr>
            <a:r>
              <a:t>• Ambientes clinicos para estagios</a:t>
            </a:r>
          </a:p>
          <a:p>
            <a:pPr algn="l">
              <a:spcBef>
                <a:spcPts val="800"/>
              </a:spcBef>
              <a:defRPr sz="1400" b="0" i="0">
                <a:solidFill>
                  <a:srgbClr val="B0B8C4"/>
                </a:solidFill>
                <a:latin typeface="Segoe UI"/>
              </a:defRPr>
            </a:pPr>
            <a:r>
              <a:t>• Telemedicina: ambiente do doente</a:t>
            </a:r>
          </a:p>
          <a:p>
            <a:pPr algn="l">
              <a:spcBef>
                <a:spcPts val="800"/>
              </a:spcBef>
              <a:defRPr sz="1400" b="0" i="0">
                <a:solidFill>
                  <a:srgbClr val="B0B8C4"/>
                </a:solidFill>
                <a:latin typeface="Segoe UI"/>
              </a:defRPr>
            </a:pPr>
            <a:r>
              <a:t>• Documentacao forense 360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Video 360 vs Video Volumetrico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41148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14350">
                <a:tc>
                  <a:txBody>
                    <a:bodyPr/>
                    <a:lstStyle/>
                    <a:p>
                      <a:pPr>
                        <a:defRPr sz="1400" b="1">
                          <a:solidFill>
                            <a:srgbClr val="FFFFFF"/>
                          </a:solidFill>
                          <a:latin typeface="Segoe UI"/>
                        </a:defRPr>
                      </a:pPr>
                      <a:r>
                        <a:t>Parametro</a:t>
                      </a:r>
                    </a:p>
                  </a:txBody>
                  <a:tcPr>
                    <a:solidFill>
                      <a:srgbClr val="1A2A3A"/>
                    </a:solidFill>
                  </a:tcPr>
                </a:tc>
                <a:tc>
                  <a:txBody>
                    <a:bodyPr/>
                    <a:lstStyle/>
                    <a:p>
                      <a:pPr>
                        <a:defRPr sz="1400" b="1">
                          <a:solidFill>
                            <a:srgbClr val="FFFFFF"/>
                          </a:solidFill>
                          <a:latin typeface="Segoe UI"/>
                        </a:defRPr>
                      </a:pPr>
                      <a:r>
                        <a:t>Video 360</a:t>
                      </a:r>
                    </a:p>
                  </a:txBody>
                  <a:tcPr>
                    <a:solidFill>
                      <a:srgbClr val="1A2A3A"/>
                    </a:solidFill>
                  </a:tcPr>
                </a:tc>
                <a:tc>
                  <a:txBody>
                    <a:bodyPr/>
                    <a:lstStyle/>
                    <a:p>
                      <a:pPr>
                        <a:defRPr sz="1400" b="1">
                          <a:solidFill>
                            <a:srgbClr val="FFFFFF"/>
                          </a:solidFill>
                          <a:latin typeface="Segoe UI"/>
                        </a:defRPr>
                      </a:pPr>
                      <a:r>
                        <a:t>Video Volumetrico</a:t>
                      </a:r>
                    </a:p>
                  </a:txBody>
                  <a:tcPr>
                    <a:solidFill>
                      <a:srgbClr val="1A2A3A"/>
                    </a:solidFill>
                  </a:tcPr>
                </a:tc>
                <a:extLst>
                  <a:ext uri="{0D108BD9-81ED-4DB2-BD59-A6C34878D82A}">
                    <a16:rowId xmlns:a16="http://schemas.microsoft.com/office/drawing/2014/main" val="10000"/>
                  </a:ext>
                </a:extLst>
              </a:tr>
              <a:tr h="514350">
                <a:tc>
                  <a:txBody>
                    <a:bodyPr/>
                    <a:lstStyle/>
                    <a:p>
                      <a:pPr>
                        <a:defRPr sz="1300">
                          <a:solidFill>
                            <a:srgbClr val="B0B8C4"/>
                          </a:solidFill>
                          <a:latin typeface="Segoe UI"/>
                        </a:defRPr>
                      </a:pPr>
                      <a:r>
                        <a:t>Custo producao</a:t>
                      </a:r>
                    </a:p>
                  </a:txBody>
                  <a:tcPr>
                    <a:solidFill>
                      <a:srgbClr val="121820"/>
                    </a:solidFill>
                  </a:tcPr>
                </a:tc>
                <a:tc>
                  <a:txBody>
                    <a:bodyPr/>
                    <a:lstStyle/>
                    <a:p>
                      <a:pPr>
                        <a:defRPr sz="1300">
                          <a:solidFill>
                            <a:srgbClr val="B0B8C4"/>
                          </a:solidFill>
                          <a:latin typeface="Segoe UI"/>
                        </a:defRPr>
                      </a:pPr>
                      <a:r>
                        <a:t>Baixo-Medio (camera 360)</a:t>
                      </a:r>
                    </a:p>
                  </a:txBody>
                  <a:tcPr>
                    <a:solidFill>
                      <a:srgbClr val="121820"/>
                    </a:solidFill>
                  </a:tcPr>
                </a:tc>
                <a:tc>
                  <a:txBody>
                    <a:bodyPr/>
                    <a:lstStyle/>
                    <a:p>
                      <a:pPr>
                        <a:defRPr sz="1300">
                          <a:solidFill>
                            <a:srgbClr val="B0B8C4"/>
                          </a:solidFill>
                          <a:latin typeface="Segoe UI"/>
                        </a:defRPr>
                      </a:pPr>
                      <a:r>
                        <a:t>Alto (multi-camera studio)</a:t>
                      </a:r>
                    </a:p>
                  </a:txBody>
                  <a:tcPr>
                    <a:solidFill>
                      <a:srgbClr val="121820"/>
                    </a:solidFill>
                  </a:tcPr>
                </a:tc>
                <a:extLst>
                  <a:ext uri="{0D108BD9-81ED-4DB2-BD59-A6C34878D82A}">
                    <a16:rowId xmlns:a16="http://schemas.microsoft.com/office/drawing/2014/main" val="10001"/>
                  </a:ext>
                </a:extLst>
              </a:tr>
              <a:tr h="514350">
                <a:tc>
                  <a:txBody>
                    <a:bodyPr/>
                    <a:lstStyle/>
                    <a:p>
                      <a:pPr>
                        <a:defRPr sz="1300">
                          <a:solidFill>
                            <a:srgbClr val="B0B8C4"/>
                          </a:solidFill>
                          <a:latin typeface="Segoe UI"/>
                        </a:defRPr>
                      </a:pPr>
                      <a:r>
                        <a:t>Equipamento</a:t>
                      </a:r>
                    </a:p>
                  </a:txBody>
                  <a:tcPr>
                    <a:solidFill>
                      <a:srgbClr val="161E28"/>
                    </a:solidFill>
                  </a:tcPr>
                </a:tc>
                <a:tc>
                  <a:txBody>
                    <a:bodyPr/>
                    <a:lstStyle/>
                    <a:p>
                      <a:pPr>
                        <a:defRPr sz="1300">
                          <a:solidFill>
                            <a:srgbClr val="B0B8C4"/>
                          </a:solidFill>
                          <a:latin typeface="Segoe UI"/>
                        </a:defRPr>
                      </a:pPr>
                      <a:r>
                        <a:t>300-5.000 EUR (Insta360, Theta)</a:t>
                      </a:r>
                    </a:p>
                  </a:txBody>
                  <a:tcPr>
                    <a:solidFill>
                      <a:srgbClr val="161E28"/>
                    </a:solidFill>
                  </a:tcPr>
                </a:tc>
                <a:tc>
                  <a:txBody>
                    <a:bodyPr/>
                    <a:lstStyle/>
                    <a:p>
                      <a:pPr>
                        <a:defRPr sz="1300">
                          <a:solidFill>
                            <a:srgbClr val="B0B8C4"/>
                          </a:solidFill>
                          <a:latin typeface="Segoe UI"/>
                        </a:defRPr>
                      </a:pPr>
                      <a:r>
                        <a:t>100K+ EUR (Azure Kinect array)</a:t>
                      </a:r>
                    </a:p>
                  </a:txBody>
                  <a:tcPr>
                    <a:solidFill>
                      <a:srgbClr val="161E28"/>
                    </a:solidFill>
                  </a:tcPr>
                </a:tc>
                <a:extLst>
                  <a:ext uri="{0D108BD9-81ED-4DB2-BD59-A6C34878D82A}">
                    <a16:rowId xmlns:a16="http://schemas.microsoft.com/office/drawing/2014/main" val="10002"/>
                  </a:ext>
                </a:extLst>
              </a:tr>
              <a:tr h="514350">
                <a:tc>
                  <a:txBody>
                    <a:bodyPr/>
                    <a:lstStyle/>
                    <a:p>
                      <a:pPr>
                        <a:defRPr sz="1300">
                          <a:solidFill>
                            <a:srgbClr val="B0B8C4"/>
                          </a:solidFill>
                          <a:latin typeface="Segoe UI"/>
                        </a:defRPr>
                      </a:pPr>
                      <a:r>
                        <a:t>Graus de liberdade</a:t>
                      </a:r>
                    </a:p>
                  </a:txBody>
                  <a:tcPr>
                    <a:solidFill>
                      <a:srgbClr val="121820"/>
                    </a:solidFill>
                  </a:tcPr>
                </a:tc>
                <a:tc>
                  <a:txBody>
                    <a:bodyPr/>
                    <a:lstStyle/>
                    <a:p>
                      <a:pPr>
                        <a:defRPr sz="1300">
                          <a:solidFill>
                            <a:srgbClr val="B0B8C4"/>
                          </a:solidFill>
                          <a:latin typeface="Segoe UI"/>
                        </a:defRPr>
                      </a:pPr>
                      <a:r>
                        <a:t>3-DOF (olhar a volta)</a:t>
                      </a:r>
                    </a:p>
                  </a:txBody>
                  <a:tcPr>
                    <a:solidFill>
                      <a:srgbClr val="121820"/>
                    </a:solidFill>
                  </a:tcPr>
                </a:tc>
                <a:tc>
                  <a:txBody>
                    <a:bodyPr/>
                    <a:lstStyle/>
                    <a:p>
                      <a:pPr>
                        <a:defRPr sz="1300">
                          <a:solidFill>
                            <a:srgbClr val="B0B8C4"/>
                          </a:solidFill>
                          <a:latin typeface="Segoe UI"/>
                        </a:defRPr>
                      </a:pPr>
                      <a:r>
                        <a:t>6-DOF (mover-se a volta)</a:t>
                      </a:r>
                    </a:p>
                  </a:txBody>
                  <a:tcPr>
                    <a:solidFill>
                      <a:srgbClr val="121820"/>
                    </a:solidFill>
                  </a:tcPr>
                </a:tc>
                <a:extLst>
                  <a:ext uri="{0D108BD9-81ED-4DB2-BD59-A6C34878D82A}">
                    <a16:rowId xmlns:a16="http://schemas.microsoft.com/office/drawing/2014/main" val="10003"/>
                  </a:ext>
                </a:extLst>
              </a:tr>
              <a:tr h="514350">
                <a:tc>
                  <a:txBody>
                    <a:bodyPr/>
                    <a:lstStyle/>
                    <a:p>
                      <a:pPr>
                        <a:defRPr sz="1300">
                          <a:solidFill>
                            <a:srgbClr val="B0B8C4"/>
                          </a:solidFill>
                          <a:latin typeface="Segoe UI"/>
                        </a:defRPr>
                      </a:pPr>
                      <a:r>
                        <a:t>Tamanho ficheiro</a:t>
                      </a:r>
                    </a:p>
                  </a:txBody>
                  <a:tcPr>
                    <a:solidFill>
                      <a:srgbClr val="161E28"/>
                    </a:solidFill>
                  </a:tcPr>
                </a:tc>
                <a:tc>
                  <a:txBody>
                    <a:bodyPr/>
                    <a:lstStyle/>
                    <a:p>
                      <a:pPr>
                        <a:defRPr sz="1300">
                          <a:solidFill>
                            <a:srgbClr val="B0B8C4"/>
                          </a:solidFill>
                          <a:latin typeface="Segoe UI"/>
                        </a:defRPr>
                      </a:pPr>
                      <a:r>
                        <a:t>Grande (gerivel)</a:t>
                      </a:r>
                    </a:p>
                  </a:txBody>
                  <a:tcPr>
                    <a:solidFill>
                      <a:srgbClr val="161E28"/>
                    </a:solidFill>
                  </a:tcPr>
                </a:tc>
                <a:tc>
                  <a:txBody>
                    <a:bodyPr/>
                    <a:lstStyle/>
                    <a:p>
                      <a:pPr>
                        <a:defRPr sz="1300">
                          <a:solidFill>
                            <a:srgbClr val="B0B8C4"/>
                          </a:solidFill>
                          <a:latin typeface="Segoe UI"/>
                        </a:defRPr>
                      </a:pPr>
                      <a:r>
                        <a:t>Muito grande</a:t>
                      </a:r>
                    </a:p>
                  </a:txBody>
                  <a:tcPr>
                    <a:solidFill>
                      <a:srgbClr val="161E28"/>
                    </a:solidFill>
                  </a:tcPr>
                </a:tc>
                <a:extLst>
                  <a:ext uri="{0D108BD9-81ED-4DB2-BD59-A6C34878D82A}">
                    <a16:rowId xmlns:a16="http://schemas.microsoft.com/office/drawing/2014/main" val="10004"/>
                  </a:ext>
                </a:extLst>
              </a:tr>
              <a:tr h="514350">
                <a:tc>
                  <a:txBody>
                    <a:bodyPr/>
                    <a:lstStyle/>
                    <a:p>
                      <a:pPr>
                        <a:defRPr sz="1300">
                          <a:solidFill>
                            <a:srgbClr val="B0B8C4"/>
                          </a:solidFill>
                          <a:latin typeface="Segoe UI"/>
                        </a:defRPr>
                      </a:pPr>
                      <a:r>
                        <a:t>Realismo</a:t>
                      </a:r>
                    </a:p>
                  </a:txBody>
                  <a:tcPr>
                    <a:solidFill>
                      <a:srgbClr val="121820"/>
                    </a:solidFill>
                  </a:tcPr>
                </a:tc>
                <a:tc>
                  <a:txBody>
                    <a:bodyPr/>
                    <a:lstStyle/>
                    <a:p>
                      <a:pPr>
                        <a:defRPr sz="1300">
                          <a:solidFill>
                            <a:srgbClr val="B0B8C4"/>
                          </a:solidFill>
                          <a:latin typeface="Segoe UI"/>
                        </a:defRPr>
                      </a:pPr>
                      <a:r>
                        <a:t>Alto (filmagem real)</a:t>
                      </a:r>
                    </a:p>
                  </a:txBody>
                  <a:tcPr>
                    <a:solidFill>
                      <a:srgbClr val="121820"/>
                    </a:solidFill>
                  </a:tcPr>
                </a:tc>
                <a:tc>
                  <a:txBody>
                    <a:bodyPr/>
                    <a:lstStyle/>
                    <a:p>
                      <a:pPr>
                        <a:defRPr sz="1300">
                          <a:solidFill>
                            <a:srgbClr val="B0B8C4"/>
                          </a:solidFill>
                          <a:latin typeface="Segoe UI"/>
                        </a:defRPr>
                      </a:pPr>
                      <a:r>
                        <a:t>Maximo (filmagem real 3D)</a:t>
                      </a:r>
                    </a:p>
                  </a:txBody>
                  <a:tcPr>
                    <a:solidFill>
                      <a:srgbClr val="121820"/>
                    </a:solidFill>
                  </a:tcPr>
                </a:tc>
                <a:extLst>
                  <a:ext uri="{0D108BD9-81ED-4DB2-BD59-A6C34878D82A}">
                    <a16:rowId xmlns:a16="http://schemas.microsoft.com/office/drawing/2014/main" val="10005"/>
                  </a:ext>
                </a:extLst>
              </a:tr>
              <a:tr h="514350">
                <a:tc>
                  <a:txBody>
                    <a:bodyPr/>
                    <a:lstStyle/>
                    <a:p>
                      <a:pPr>
                        <a:defRPr sz="1300">
                          <a:solidFill>
                            <a:srgbClr val="B0B8C4"/>
                          </a:solidFill>
                          <a:latin typeface="Segoe UI"/>
                        </a:defRPr>
                      </a:pPr>
                      <a:r>
                        <a:t>Interatividade</a:t>
                      </a:r>
                    </a:p>
                  </a:txBody>
                  <a:tcPr>
                    <a:solidFill>
                      <a:srgbClr val="161E28"/>
                    </a:solidFill>
                  </a:tcPr>
                </a:tc>
                <a:tc>
                  <a:txBody>
                    <a:bodyPr/>
                    <a:lstStyle/>
                    <a:p>
                      <a:pPr>
                        <a:defRPr sz="1300">
                          <a:solidFill>
                            <a:srgbClr val="B0B8C4"/>
                          </a:solidFill>
                          <a:latin typeface="Segoe UI"/>
                        </a:defRPr>
                      </a:pPr>
                      <a:r>
                        <a:t>Limitada (hotspots)</a:t>
                      </a:r>
                    </a:p>
                  </a:txBody>
                  <a:tcPr>
                    <a:solidFill>
                      <a:srgbClr val="161E28"/>
                    </a:solidFill>
                  </a:tcPr>
                </a:tc>
                <a:tc>
                  <a:txBody>
                    <a:bodyPr/>
                    <a:lstStyle/>
                    <a:p>
                      <a:pPr>
                        <a:defRPr sz="1300">
                          <a:solidFill>
                            <a:srgbClr val="B0B8C4"/>
                          </a:solidFill>
                          <a:latin typeface="Segoe UI"/>
                        </a:defRPr>
                      </a:pPr>
                      <a:r>
                        <a:t>Alta (perspetiva livre)</a:t>
                      </a:r>
                    </a:p>
                  </a:txBody>
                  <a:tcPr>
                    <a:solidFill>
                      <a:srgbClr val="161E28"/>
                    </a:solidFill>
                  </a:tcPr>
                </a:tc>
                <a:extLst>
                  <a:ext uri="{0D108BD9-81ED-4DB2-BD59-A6C34878D82A}">
                    <a16:rowId xmlns:a16="http://schemas.microsoft.com/office/drawing/2014/main" val="10006"/>
                  </a:ext>
                </a:extLst>
              </a:tr>
              <a:tr h="514350">
                <a:tc>
                  <a:txBody>
                    <a:bodyPr/>
                    <a:lstStyle/>
                    <a:p>
                      <a:pPr>
                        <a:defRPr sz="1300">
                          <a:solidFill>
                            <a:srgbClr val="B0B8C4"/>
                          </a:solidFill>
                          <a:latin typeface="Segoe UI"/>
                        </a:defRPr>
                      </a:pPr>
                      <a:r>
                        <a:t>Melhor para</a:t>
                      </a:r>
                    </a:p>
                  </a:txBody>
                  <a:tcPr>
                    <a:solidFill>
                      <a:srgbClr val="121820"/>
                    </a:solidFill>
                  </a:tcPr>
                </a:tc>
                <a:tc>
                  <a:txBody>
                    <a:bodyPr/>
                    <a:lstStyle/>
                    <a:p>
                      <a:pPr>
                        <a:defRPr sz="1300">
                          <a:solidFill>
                            <a:srgbClr val="B0B8C4"/>
                          </a:solidFill>
                          <a:latin typeface="Segoe UI"/>
                        </a:defRPr>
                      </a:pPr>
                      <a:r>
                        <a:t>Observacao procedimentos, tours</a:t>
                      </a:r>
                    </a:p>
                  </a:txBody>
                  <a:tcPr>
                    <a:solidFill>
                      <a:srgbClr val="121820"/>
                    </a:solidFill>
                  </a:tcPr>
                </a:tc>
                <a:tc>
                  <a:txBody>
                    <a:bodyPr/>
                    <a:lstStyle/>
                    <a:p>
                      <a:pPr>
                        <a:defRPr sz="1300">
                          <a:solidFill>
                            <a:srgbClr val="B0B8C4"/>
                          </a:solidFill>
                          <a:latin typeface="Segoe UI"/>
                        </a:defRPr>
                      </a:pPr>
                      <a:r>
                        <a:t>Treino cirurgico, exame fisico</a:t>
                      </a:r>
                    </a:p>
                  </a:txBody>
                  <a:tcPr>
                    <a:solidFill>
                      <a:srgbClr val="121820"/>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Exemplo: projeto THRIVE — video volumetrico de profissionais medicos para treino (AIXR, 2024)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Pipeline de Criacao 3D (CG Pipeline)</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463040"/>
            <a:ext cx="1737360" cy="36576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45920"/>
            <a:ext cx="1371600" cy="548640"/>
          </a:xfrm>
          <a:prstGeom prst="rect">
            <a:avLst/>
          </a:prstGeom>
          <a:noFill/>
        </p:spPr>
        <p:txBody>
          <a:bodyPr wrap="square">
            <a:spAutoFit/>
          </a:bodyPr>
          <a:lstStyle/>
          <a:p>
            <a:pPr algn="ctr">
              <a:defRPr sz="3600" b="1">
                <a:solidFill>
                  <a:srgbClr val="58A6FF"/>
                </a:solidFill>
                <a:latin typeface="Segoe UI"/>
              </a:defRPr>
            </a:pPr>
            <a:r>
              <a:t>1</a:t>
            </a:r>
          </a:p>
        </p:txBody>
      </p:sp>
      <p:sp>
        <p:nvSpPr>
          <p:cNvPr id="6" name="TextBox 5"/>
          <p:cNvSpPr txBox="1"/>
          <p:nvPr/>
        </p:nvSpPr>
        <p:spPr>
          <a:xfrm>
            <a:off x="640080" y="2286000"/>
            <a:ext cx="1371600" cy="457200"/>
          </a:xfrm>
          <a:prstGeom prst="rect">
            <a:avLst/>
          </a:prstGeom>
          <a:noFill/>
        </p:spPr>
        <p:txBody>
          <a:bodyPr wrap="square">
            <a:spAutoFit/>
          </a:bodyPr>
          <a:lstStyle/>
          <a:p>
            <a:pPr algn="ctr">
              <a:defRPr sz="1600" b="1">
                <a:solidFill>
                  <a:srgbClr val="FFFFFF"/>
                </a:solidFill>
                <a:latin typeface="Segoe UI"/>
              </a:defRPr>
            </a:pPr>
            <a:r>
              <a:t>Modeling</a:t>
            </a:r>
          </a:p>
        </p:txBody>
      </p:sp>
      <p:sp>
        <p:nvSpPr>
          <p:cNvPr id="7" name="TextBox 6"/>
          <p:cNvSpPr txBox="1"/>
          <p:nvPr/>
        </p:nvSpPr>
        <p:spPr>
          <a:xfrm>
            <a:off x="640080" y="2834640"/>
            <a:ext cx="1371600" cy="1828800"/>
          </a:xfrm>
          <a:prstGeom prst="rect">
            <a:avLst/>
          </a:prstGeom>
          <a:noFill/>
        </p:spPr>
        <p:txBody>
          <a:bodyPr wrap="square">
            <a:spAutoFit/>
          </a:bodyPr>
          <a:lstStyle/>
          <a:p>
            <a:pPr algn="ctr">
              <a:defRPr sz="1200" b="0">
                <a:solidFill>
                  <a:srgbClr val="B0B8C4"/>
                </a:solidFill>
                <a:latin typeface="Segoe UI"/>
              </a:defRPr>
            </a:pPr>
            <a:r>
              <a:t>Criar geometria</a:t>
            </a:r>
            <a:br/>
            <a:r>
              <a:t>(poligonos, NURBS,</a:t>
            </a:r>
            <a:br/>
            <a:r>
              <a:t>escultura digital)</a:t>
            </a:r>
          </a:p>
        </p:txBody>
      </p:sp>
      <p:sp>
        <p:nvSpPr>
          <p:cNvPr id="8" name="TextBox 7"/>
          <p:cNvSpPr txBox="1"/>
          <p:nvPr/>
        </p:nvSpPr>
        <p:spPr>
          <a:xfrm>
            <a:off x="2148840" y="2560320"/>
            <a:ext cx="457200" cy="457200"/>
          </a:xfrm>
          <a:prstGeom prst="rect">
            <a:avLst/>
          </a:prstGeom>
          <a:noFill/>
        </p:spPr>
        <p:txBody>
          <a:bodyPr wrap="square">
            <a:spAutoFit/>
          </a:bodyPr>
          <a:lstStyle/>
          <a:p>
            <a:pPr algn="ctr">
              <a:defRPr sz="2000" b="0">
                <a:solidFill>
                  <a:srgbClr val="6E7681"/>
                </a:solidFill>
                <a:latin typeface="Segoe UI"/>
              </a:defRPr>
            </a:pPr>
            <a:r>
              <a:t>➜</a:t>
            </a:r>
          </a:p>
        </p:txBody>
      </p:sp>
      <p:sp>
        <p:nvSpPr>
          <p:cNvPr id="9" name="Rounded Rectangle 8"/>
          <p:cNvSpPr/>
          <p:nvPr/>
        </p:nvSpPr>
        <p:spPr>
          <a:xfrm>
            <a:off x="2377440" y="1463040"/>
            <a:ext cx="1737360" cy="36576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0320" y="1645920"/>
            <a:ext cx="1371600" cy="548640"/>
          </a:xfrm>
          <a:prstGeom prst="rect">
            <a:avLst/>
          </a:prstGeom>
          <a:noFill/>
        </p:spPr>
        <p:txBody>
          <a:bodyPr wrap="square">
            <a:spAutoFit/>
          </a:bodyPr>
          <a:lstStyle/>
          <a:p>
            <a:pPr algn="ctr">
              <a:defRPr sz="3600" b="1">
                <a:solidFill>
                  <a:srgbClr val="3FB950"/>
                </a:solidFill>
                <a:latin typeface="Segoe UI"/>
              </a:defRPr>
            </a:pPr>
            <a:r>
              <a:t>2</a:t>
            </a:r>
          </a:p>
        </p:txBody>
      </p:sp>
      <p:sp>
        <p:nvSpPr>
          <p:cNvPr id="11" name="TextBox 10"/>
          <p:cNvSpPr txBox="1"/>
          <p:nvPr/>
        </p:nvSpPr>
        <p:spPr>
          <a:xfrm>
            <a:off x="2560320" y="2286000"/>
            <a:ext cx="1371600" cy="457200"/>
          </a:xfrm>
          <a:prstGeom prst="rect">
            <a:avLst/>
          </a:prstGeom>
          <a:noFill/>
        </p:spPr>
        <p:txBody>
          <a:bodyPr wrap="square">
            <a:spAutoFit/>
          </a:bodyPr>
          <a:lstStyle/>
          <a:p>
            <a:pPr algn="ctr">
              <a:defRPr sz="1600" b="1">
                <a:solidFill>
                  <a:srgbClr val="FFFFFF"/>
                </a:solidFill>
                <a:latin typeface="Segoe UI"/>
              </a:defRPr>
            </a:pPr>
            <a:r>
              <a:t>Texturing</a:t>
            </a:r>
          </a:p>
        </p:txBody>
      </p:sp>
      <p:sp>
        <p:nvSpPr>
          <p:cNvPr id="12" name="TextBox 11"/>
          <p:cNvSpPr txBox="1"/>
          <p:nvPr/>
        </p:nvSpPr>
        <p:spPr>
          <a:xfrm>
            <a:off x="2560320" y="2834640"/>
            <a:ext cx="1371600" cy="1828800"/>
          </a:xfrm>
          <a:prstGeom prst="rect">
            <a:avLst/>
          </a:prstGeom>
          <a:noFill/>
        </p:spPr>
        <p:txBody>
          <a:bodyPr wrap="square">
            <a:spAutoFit/>
          </a:bodyPr>
          <a:lstStyle/>
          <a:p>
            <a:pPr algn="ctr">
              <a:defRPr sz="1200" b="0">
                <a:solidFill>
                  <a:srgbClr val="B0B8C4"/>
                </a:solidFill>
                <a:latin typeface="Segoe UI"/>
              </a:defRPr>
            </a:pPr>
            <a:r>
              <a:t>UV mapping,</a:t>
            </a:r>
            <a:br/>
            <a:r>
              <a:t>materiais PBR</a:t>
            </a:r>
            <a:br/>
            <a:r>
              <a:t>(albedo, normal, AO)</a:t>
            </a:r>
          </a:p>
        </p:txBody>
      </p:sp>
      <p:sp>
        <p:nvSpPr>
          <p:cNvPr id="13" name="TextBox 12"/>
          <p:cNvSpPr txBox="1"/>
          <p:nvPr/>
        </p:nvSpPr>
        <p:spPr>
          <a:xfrm>
            <a:off x="4069080" y="2560320"/>
            <a:ext cx="457200" cy="457200"/>
          </a:xfrm>
          <a:prstGeom prst="rect">
            <a:avLst/>
          </a:prstGeom>
          <a:noFill/>
        </p:spPr>
        <p:txBody>
          <a:bodyPr wrap="square">
            <a:spAutoFit/>
          </a:bodyPr>
          <a:lstStyle/>
          <a:p>
            <a:pPr algn="ctr">
              <a:defRPr sz="2000" b="0">
                <a:solidFill>
                  <a:srgbClr val="6E7681"/>
                </a:solidFill>
                <a:latin typeface="Segoe UI"/>
              </a:defRPr>
            </a:pPr>
            <a:r>
              <a:t>➜</a:t>
            </a:r>
          </a:p>
        </p:txBody>
      </p:sp>
      <p:sp>
        <p:nvSpPr>
          <p:cNvPr id="14" name="Rounded Rectangle 13"/>
          <p:cNvSpPr/>
          <p:nvPr/>
        </p:nvSpPr>
        <p:spPr>
          <a:xfrm>
            <a:off x="4297680" y="1463040"/>
            <a:ext cx="1737360" cy="365760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60" y="1645920"/>
            <a:ext cx="1371600" cy="548640"/>
          </a:xfrm>
          <a:prstGeom prst="rect">
            <a:avLst/>
          </a:prstGeom>
          <a:noFill/>
        </p:spPr>
        <p:txBody>
          <a:bodyPr wrap="square">
            <a:spAutoFit/>
          </a:bodyPr>
          <a:lstStyle/>
          <a:p>
            <a:pPr algn="ctr">
              <a:defRPr sz="3600" b="1">
                <a:solidFill>
                  <a:srgbClr val="F78166"/>
                </a:solidFill>
                <a:latin typeface="Segoe UI"/>
              </a:defRPr>
            </a:pPr>
            <a:r>
              <a:t>3</a:t>
            </a:r>
          </a:p>
        </p:txBody>
      </p:sp>
      <p:sp>
        <p:nvSpPr>
          <p:cNvPr id="16" name="TextBox 15"/>
          <p:cNvSpPr txBox="1"/>
          <p:nvPr/>
        </p:nvSpPr>
        <p:spPr>
          <a:xfrm>
            <a:off x="4480560" y="2286000"/>
            <a:ext cx="1371600" cy="457200"/>
          </a:xfrm>
          <a:prstGeom prst="rect">
            <a:avLst/>
          </a:prstGeom>
          <a:noFill/>
        </p:spPr>
        <p:txBody>
          <a:bodyPr wrap="square">
            <a:spAutoFit/>
          </a:bodyPr>
          <a:lstStyle/>
          <a:p>
            <a:pPr algn="ctr">
              <a:defRPr sz="1600" b="1">
                <a:solidFill>
                  <a:srgbClr val="FFFFFF"/>
                </a:solidFill>
                <a:latin typeface="Segoe UI"/>
              </a:defRPr>
            </a:pPr>
            <a:r>
              <a:t>Rigging</a:t>
            </a:r>
          </a:p>
        </p:txBody>
      </p:sp>
      <p:sp>
        <p:nvSpPr>
          <p:cNvPr id="17" name="TextBox 16"/>
          <p:cNvSpPr txBox="1"/>
          <p:nvPr/>
        </p:nvSpPr>
        <p:spPr>
          <a:xfrm>
            <a:off x="4480560" y="2834640"/>
            <a:ext cx="1371600" cy="1828800"/>
          </a:xfrm>
          <a:prstGeom prst="rect">
            <a:avLst/>
          </a:prstGeom>
          <a:noFill/>
        </p:spPr>
        <p:txBody>
          <a:bodyPr wrap="square">
            <a:spAutoFit/>
          </a:bodyPr>
          <a:lstStyle/>
          <a:p>
            <a:pPr algn="ctr">
              <a:defRPr sz="1200" b="0">
                <a:solidFill>
                  <a:srgbClr val="B0B8C4"/>
                </a:solidFill>
                <a:latin typeface="Segoe UI"/>
              </a:defRPr>
            </a:pPr>
            <a:r>
              <a:t>Armature/skeleton</a:t>
            </a:r>
            <a:br/>
            <a:r>
              <a:t>para deformacao</a:t>
            </a:r>
            <a:br/>
            <a:r>
              <a:t>de mesh</a:t>
            </a:r>
          </a:p>
        </p:txBody>
      </p:sp>
      <p:sp>
        <p:nvSpPr>
          <p:cNvPr id="18" name="TextBox 17"/>
          <p:cNvSpPr txBox="1"/>
          <p:nvPr/>
        </p:nvSpPr>
        <p:spPr>
          <a:xfrm>
            <a:off x="5989320" y="2560320"/>
            <a:ext cx="457200" cy="457200"/>
          </a:xfrm>
          <a:prstGeom prst="rect">
            <a:avLst/>
          </a:prstGeom>
          <a:noFill/>
        </p:spPr>
        <p:txBody>
          <a:bodyPr wrap="square">
            <a:spAutoFit/>
          </a:bodyPr>
          <a:lstStyle/>
          <a:p>
            <a:pPr algn="ctr">
              <a:defRPr sz="2000" b="0">
                <a:solidFill>
                  <a:srgbClr val="6E7681"/>
                </a:solidFill>
                <a:latin typeface="Segoe UI"/>
              </a:defRPr>
            </a:pPr>
            <a:r>
              <a:t>➜</a:t>
            </a:r>
          </a:p>
        </p:txBody>
      </p:sp>
      <p:sp>
        <p:nvSpPr>
          <p:cNvPr id="19" name="Rounded Rectangle 18"/>
          <p:cNvSpPr/>
          <p:nvPr/>
        </p:nvSpPr>
        <p:spPr>
          <a:xfrm>
            <a:off x="6217920" y="1463040"/>
            <a:ext cx="1737360" cy="365760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1645920"/>
            <a:ext cx="1371600" cy="548640"/>
          </a:xfrm>
          <a:prstGeom prst="rect">
            <a:avLst/>
          </a:prstGeom>
          <a:noFill/>
        </p:spPr>
        <p:txBody>
          <a:bodyPr wrap="square">
            <a:spAutoFit/>
          </a:bodyPr>
          <a:lstStyle/>
          <a:p>
            <a:pPr algn="ctr">
              <a:defRPr sz="3600" b="1">
                <a:solidFill>
                  <a:srgbClr val="D2A8FF"/>
                </a:solidFill>
                <a:latin typeface="Segoe UI"/>
              </a:defRPr>
            </a:pPr>
            <a:r>
              <a:t>4</a:t>
            </a:r>
          </a:p>
        </p:txBody>
      </p:sp>
      <p:sp>
        <p:nvSpPr>
          <p:cNvPr id="21" name="TextBox 20"/>
          <p:cNvSpPr txBox="1"/>
          <p:nvPr/>
        </p:nvSpPr>
        <p:spPr>
          <a:xfrm>
            <a:off x="6400800" y="2286000"/>
            <a:ext cx="1371600" cy="457200"/>
          </a:xfrm>
          <a:prstGeom prst="rect">
            <a:avLst/>
          </a:prstGeom>
          <a:noFill/>
        </p:spPr>
        <p:txBody>
          <a:bodyPr wrap="square">
            <a:spAutoFit/>
          </a:bodyPr>
          <a:lstStyle/>
          <a:p>
            <a:pPr algn="ctr">
              <a:defRPr sz="1600" b="1">
                <a:solidFill>
                  <a:srgbClr val="FFFFFF"/>
                </a:solidFill>
                <a:latin typeface="Segoe UI"/>
              </a:defRPr>
            </a:pPr>
            <a:r>
              <a:t>Animation</a:t>
            </a:r>
          </a:p>
        </p:txBody>
      </p:sp>
      <p:sp>
        <p:nvSpPr>
          <p:cNvPr id="22" name="TextBox 21"/>
          <p:cNvSpPr txBox="1"/>
          <p:nvPr/>
        </p:nvSpPr>
        <p:spPr>
          <a:xfrm>
            <a:off x="6400800" y="2834640"/>
            <a:ext cx="1371600" cy="1828800"/>
          </a:xfrm>
          <a:prstGeom prst="rect">
            <a:avLst/>
          </a:prstGeom>
          <a:noFill/>
        </p:spPr>
        <p:txBody>
          <a:bodyPr wrap="square">
            <a:spAutoFit/>
          </a:bodyPr>
          <a:lstStyle/>
          <a:p>
            <a:pPr algn="ctr">
              <a:defRPr sz="1200" b="0">
                <a:solidFill>
                  <a:srgbClr val="B0B8C4"/>
                </a:solidFill>
                <a:latin typeface="Segoe UI"/>
              </a:defRPr>
            </a:pPr>
            <a:r>
              <a:t>Keyframes,</a:t>
            </a:r>
            <a:br/>
            <a:r>
              <a:t>motion capture,</a:t>
            </a:r>
            <a:br/>
            <a:r>
              <a:t>procedural</a:t>
            </a:r>
          </a:p>
        </p:txBody>
      </p:sp>
      <p:sp>
        <p:nvSpPr>
          <p:cNvPr id="23" name="TextBox 22"/>
          <p:cNvSpPr txBox="1"/>
          <p:nvPr/>
        </p:nvSpPr>
        <p:spPr>
          <a:xfrm>
            <a:off x="7909560" y="2560320"/>
            <a:ext cx="457200" cy="457200"/>
          </a:xfrm>
          <a:prstGeom prst="rect">
            <a:avLst/>
          </a:prstGeom>
          <a:noFill/>
        </p:spPr>
        <p:txBody>
          <a:bodyPr wrap="square">
            <a:spAutoFit/>
          </a:bodyPr>
          <a:lstStyle/>
          <a:p>
            <a:pPr algn="ctr">
              <a:defRPr sz="2000" b="0">
                <a:solidFill>
                  <a:srgbClr val="6E7681"/>
                </a:solidFill>
                <a:latin typeface="Segoe UI"/>
              </a:defRPr>
            </a:pPr>
            <a:r>
              <a:t>➜</a:t>
            </a:r>
          </a:p>
        </p:txBody>
      </p:sp>
      <p:sp>
        <p:nvSpPr>
          <p:cNvPr id="24" name="Rounded Rectangle 23"/>
          <p:cNvSpPr/>
          <p:nvPr/>
        </p:nvSpPr>
        <p:spPr>
          <a:xfrm>
            <a:off x="8138160" y="1463040"/>
            <a:ext cx="1737360" cy="36576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21040" y="1645920"/>
            <a:ext cx="1371600" cy="548640"/>
          </a:xfrm>
          <a:prstGeom prst="rect">
            <a:avLst/>
          </a:prstGeom>
          <a:noFill/>
        </p:spPr>
        <p:txBody>
          <a:bodyPr wrap="square">
            <a:spAutoFit/>
          </a:bodyPr>
          <a:lstStyle/>
          <a:p>
            <a:pPr algn="ctr">
              <a:defRPr sz="3600" b="1">
                <a:solidFill>
                  <a:srgbClr val="58A6FF"/>
                </a:solidFill>
                <a:latin typeface="Segoe UI"/>
              </a:defRPr>
            </a:pPr>
            <a:r>
              <a:t>5</a:t>
            </a:r>
          </a:p>
        </p:txBody>
      </p:sp>
      <p:sp>
        <p:nvSpPr>
          <p:cNvPr id="26" name="TextBox 25"/>
          <p:cNvSpPr txBox="1"/>
          <p:nvPr/>
        </p:nvSpPr>
        <p:spPr>
          <a:xfrm>
            <a:off x="8321040" y="2286000"/>
            <a:ext cx="1371600" cy="457200"/>
          </a:xfrm>
          <a:prstGeom prst="rect">
            <a:avLst/>
          </a:prstGeom>
          <a:noFill/>
        </p:spPr>
        <p:txBody>
          <a:bodyPr wrap="square">
            <a:spAutoFit/>
          </a:bodyPr>
          <a:lstStyle/>
          <a:p>
            <a:pPr algn="ctr">
              <a:defRPr sz="1600" b="1">
                <a:solidFill>
                  <a:srgbClr val="FFFFFF"/>
                </a:solidFill>
                <a:latin typeface="Segoe UI"/>
              </a:defRPr>
            </a:pPr>
            <a:r>
              <a:t>Lighting</a:t>
            </a:r>
          </a:p>
        </p:txBody>
      </p:sp>
      <p:sp>
        <p:nvSpPr>
          <p:cNvPr id="27" name="TextBox 26"/>
          <p:cNvSpPr txBox="1"/>
          <p:nvPr/>
        </p:nvSpPr>
        <p:spPr>
          <a:xfrm>
            <a:off x="8321040" y="2834640"/>
            <a:ext cx="1371600" cy="1828800"/>
          </a:xfrm>
          <a:prstGeom prst="rect">
            <a:avLst/>
          </a:prstGeom>
          <a:noFill/>
        </p:spPr>
        <p:txBody>
          <a:bodyPr wrap="square">
            <a:spAutoFit/>
          </a:bodyPr>
          <a:lstStyle/>
          <a:p>
            <a:pPr algn="ctr">
              <a:defRPr sz="1200" b="0">
                <a:solidFill>
                  <a:srgbClr val="B0B8C4"/>
                </a:solidFill>
                <a:latin typeface="Segoe UI"/>
              </a:defRPr>
            </a:pPr>
            <a:r>
              <a:t>Luzes (point,</a:t>
            </a:r>
            <a:br/>
            <a:r>
              <a:t>directional, area,</a:t>
            </a:r>
            <a:br/>
            <a:r>
              <a:t>ambient, HDRI)</a:t>
            </a:r>
          </a:p>
        </p:txBody>
      </p:sp>
      <p:sp>
        <p:nvSpPr>
          <p:cNvPr id="28" name="TextBox 27"/>
          <p:cNvSpPr txBox="1"/>
          <p:nvPr/>
        </p:nvSpPr>
        <p:spPr>
          <a:xfrm>
            <a:off x="9829800" y="2560320"/>
            <a:ext cx="457200" cy="457200"/>
          </a:xfrm>
          <a:prstGeom prst="rect">
            <a:avLst/>
          </a:prstGeom>
          <a:noFill/>
        </p:spPr>
        <p:txBody>
          <a:bodyPr wrap="square">
            <a:spAutoFit/>
          </a:bodyPr>
          <a:lstStyle/>
          <a:p>
            <a:pPr algn="ctr">
              <a:defRPr sz="2000" b="0">
                <a:solidFill>
                  <a:srgbClr val="6E7681"/>
                </a:solidFill>
                <a:latin typeface="Segoe UI"/>
              </a:defRPr>
            </a:pPr>
            <a:r>
              <a:t>➜</a:t>
            </a:r>
          </a:p>
        </p:txBody>
      </p:sp>
      <p:sp>
        <p:nvSpPr>
          <p:cNvPr id="29" name="Rounded Rectangle 28"/>
          <p:cNvSpPr/>
          <p:nvPr/>
        </p:nvSpPr>
        <p:spPr>
          <a:xfrm>
            <a:off x="10058400" y="1463040"/>
            <a:ext cx="1737360" cy="36576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241280" y="1645920"/>
            <a:ext cx="1371600" cy="548640"/>
          </a:xfrm>
          <a:prstGeom prst="rect">
            <a:avLst/>
          </a:prstGeom>
          <a:noFill/>
        </p:spPr>
        <p:txBody>
          <a:bodyPr wrap="square">
            <a:spAutoFit/>
          </a:bodyPr>
          <a:lstStyle/>
          <a:p>
            <a:pPr algn="ctr">
              <a:defRPr sz="3600" b="1">
                <a:solidFill>
                  <a:srgbClr val="3FB950"/>
                </a:solidFill>
                <a:latin typeface="Segoe UI"/>
              </a:defRPr>
            </a:pPr>
            <a:r>
              <a:t>6</a:t>
            </a:r>
          </a:p>
        </p:txBody>
      </p:sp>
      <p:sp>
        <p:nvSpPr>
          <p:cNvPr id="31" name="TextBox 30"/>
          <p:cNvSpPr txBox="1"/>
          <p:nvPr/>
        </p:nvSpPr>
        <p:spPr>
          <a:xfrm>
            <a:off x="10241280" y="2286000"/>
            <a:ext cx="1371600" cy="457200"/>
          </a:xfrm>
          <a:prstGeom prst="rect">
            <a:avLst/>
          </a:prstGeom>
          <a:noFill/>
        </p:spPr>
        <p:txBody>
          <a:bodyPr wrap="square">
            <a:spAutoFit/>
          </a:bodyPr>
          <a:lstStyle/>
          <a:p>
            <a:pPr algn="ctr">
              <a:defRPr sz="1600" b="1">
                <a:solidFill>
                  <a:srgbClr val="FFFFFF"/>
                </a:solidFill>
                <a:latin typeface="Segoe UI"/>
              </a:defRPr>
            </a:pPr>
            <a:r>
              <a:t>Rendering</a:t>
            </a:r>
          </a:p>
        </p:txBody>
      </p:sp>
      <p:sp>
        <p:nvSpPr>
          <p:cNvPr id="32" name="TextBox 31"/>
          <p:cNvSpPr txBox="1"/>
          <p:nvPr/>
        </p:nvSpPr>
        <p:spPr>
          <a:xfrm>
            <a:off x="10241280" y="2834640"/>
            <a:ext cx="1371600" cy="1828800"/>
          </a:xfrm>
          <a:prstGeom prst="rect">
            <a:avLst/>
          </a:prstGeom>
          <a:noFill/>
        </p:spPr>
        <p:txBody>
          <a:bodyPr wrap="square">
            <a:spAutoFit/>
          </a:bodyPr>
          <a:lstStyle/>
          <a:p>
            <a:pPr algn="ctr">
              <a:defRPr sz="1200" b="0">
                <a:solidFill>
                  <a:srgbClr val="B0B8C4"/>
                </a:solidFill>
                <a:latin typeface="Segoe UI"/>
              </a:defRPr>
            </a:pPr>
            <a:r>
              <a:t>Rasterization</a:t>
            </a:r>
            <a:br/>
            <a:r>
              <a:t>(tempo real) ou</a:t>
            </a:r>
            <a:br/>
            <a:r>
              <a:t>ray tracing</a:t>
            </a:r>
          </a:p>
        </p:txBody>
      </p:sp>
      <p:sp>
        <p:nvSpPr>
          <p:cNvPr id="33" name="TextBox 32"/>
          <p:cNvSpPr txBox="1"/>
          <p:nvPr/>
        </p:nvSpPr>
        <p:spPr>
          <a:xfrm>
            <a:off x="731520" y="5394960"/>
            <a:ext cx="10058400" cy="457200"/>
          </a:xfrm>
          <a:prstGeom prst="rect">
            <a:avLst/>
          </a:prstGeom>
          <a:noFill/>
        </p:spPr>
        <p:txBody>
          <a:bodyPr wrap="square">
            <a:spAutoFit/>
          </a:bodyPr>
          <a:lstStyle/>
          <a:p>
            <a:pPr algn="l">
              <a:defRPr sz="1100" b="0">
                <a:solidFill>
                  <a:srgbClr val="555F6B"/>
                </a:solidFill>
                <a:latin typeface="Segoe UI"/>
              </a:defRPr>
            </a:pPr>
            <a:r>
              <a:t>PBR = Physically Based Rendering | NURBS = Non-Uniform Rational B-Splines | AO = Ambient Occlusion | UV = coordenadas de textura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Maya vs Blender: Comparacao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36576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522514">
                <a:tc>
                  <a:txBody>
                    <a:bodyPr/>
                    <a:lstStyle/>
                    <a:p>
                      <a:pPr>
                        <a:defRPr sz="1400" b="1">
                          <a:solidFill>
                            <a:srgbClr val="FFFFFF"/>
                          </a:solidFill>
                          <a:latin typeface="Segoe UI"/>
                        </a:defRPr>
                      </a:pPr>
                      <a:r>
                        <a:t>Parametro</a:t>
                      </a:r>
                    </a:p>
                  </a:txBody>
                  <a:tcPr>
                    <a:solidFill>
                      <a:srgbClr val="1A2A3A"/>
                    </a:solidFill>
                  </a:tcPr>
                </a:tc>
                <a:tc>
                  <a:txBody>
                    <a:bodyPr/>
                    <a:lstStyle/>
                    <a:p>
                      <a:pPr>
                        <a:defRPr sz="1400" b="1">
                          <a:solidFill>
                            <a:srgbClr val="FFFFFF"/>
                          </a:solidFill>
                          <a:latin typeface="Segoe UI"/>
                        </a:defRPr>
                      </a:pPr>
                      <a:r>
                        <a:t>Autodesk Maya</a:t>
                      </a:r>
                    </a:p>
                  </a:txBody>
                  <a:tcPr>
                    <a:solidFill>
                      <a:srgbClr val="1A2A3A"/>
                    </a:solidFill>
                  </a:tcPr>
                </a:tc>
                <a:tc>
                  <a:txBody>
                    <a:bodyPr/>
                    <a:lstStyle/>
                    <a:p>
                      <a:pPr>
                        <a:defRPr sz="1400" b="1">
                          <a:solidFill>
                            <a:srgbClr val="FFFFFF"/>
                          </a:solidFill>
                          <a:latin typeface="Segoe UI"/>
                        </a:defRPr>
                      </a:pPr>
                      <a:r>
                        <a:t>Blender</a:t>
                      </a:r>
                    </a:p>
                  </a:txBody>
                  <a:tcPr>
                    <a:solidFill>
                      <a:srgbClr val="1A2A3A"/>
                    </a:solidFill>
                  </a:tcPr>
                </a:tc>
                <a:extLst>
                  <a:ext uri="{0D108BD9-81ED-4DB2-BD59-A6C34878D82A}">
                    <a16:rowId xmlns:a16="http://schemas.microsoft.com/office/drawing/2014/main" val="10000"/>
                  </a:ext>
                </a:extLst>
              </a:tr>
              <a:tr h="522514">
                <a:tc>
                  <a:txBody>
                    <a:bodyPr/>
                    <a:lstStyle/>
                    <a:p>
                      <a:pPr>
                        <a:defRPr sz="1300">
                          <a:solidFill>
                            <a:srgbClr val="B0B8C4"/>
                          </a:solidFill>
                          <a:latin typeface="Segoe UI"/>
                        </a:defRPr>
                      </a:pPr>
                      <a:r>
                        <a:t>Preco</a:t>
                      </a:r>
                    </a:p>
                  </a:txBody>
                  <a:tcPr>
                    <a:solidFill>
                      <a:srgbClr val="121820"/>
                    </a:solidFill>
                  </a:tcPr>
                </a:tc>
                <a:tc>
                  <a:txBody>
                    <a:bodyPr/>
                    <a:lstStyle/>
                    <a:p>
                      <a:pPr>
                        <a:defRPr sz="1300">
                          <a:solidFill>
                            <a:srgbClr val="B0B8C4"/>
                          </a:solidFill>
                          <a:latin typeface="Segoe UI"/>
                        </a:defRPr>
                      </a:pPr>
                      <a:r>
                        <a:t>~2.016 EUR/ano (subscription)</a:t>
                      </a:r>
                    </a:p>
                  </a:txBody>
                  <a:tcPr>
                    <a:solidFill>
                      <a:srgbClr val="121820"/>
                    </a:solidFill>
                  </a:tcPr>
                </a:tc>
                <a:tc>
                  <a:txBody>
                    <a:bodyPr/>
                    <a:lstStyle/>
                    <a:p>
                      <a:pPr>
                        <a:defRPr sz="1300">
                          <a:solidFill>
                            <a:srgbClr val="B0B8C4"/>
                          </a:solidFill>
                          <a:latin typeface="Segoe UI"/>
                        </a:defRPr>
                      </a:pPr>
                      <a:r>
                        <a:t>GRATUITO (GPL, para sempre)</a:t>
                      </a:r>
                    </a:p>
                  </a:txBody>
                  <a:tcPr>
                    <a:solidFill>
                      <a:srgbClr val="121820"/>
                    </a:solidFill>
                  </a:tcPr>
                </a:tc>
                <a:extLst>
                  <a:ext uri="{0D108BD9-81ED-4DB2-BD59-A6C34878D82A}">
                    <a16:rowId xmlns:a16="http://schemas.microsoft.com/office/drawing/2014/main" val="10001"/>
                  </a:ext>
                </a:extLst>
              </a:tr>
              <a:tr h="522514">
                <a:tc>
                  <a:txBody>
                    <a:bodyPr/>
                    <a:lstStyle/>
                    <a:p>
                      <a:pPr>
                        <a:defRPr sz="1300">
                          <a:solidFill>
                            <a:srgbClr val="B0B8C4"/>
                          </a:solidFill>
                          <a:latin typeface="Segoe UI"/>
                        </a:defRPr>
                      </a:pPr>
                      <a:r>
                        <a:t>Curva de aprendizagem</a:t>
                      </a:r>
                    </a:p>
                  </a:txBody>
                  <a:tcPr>
                    <a:solidFill>
                      <a:srgbClr val="161E28"/>
                    </a:solidFill>
                  </a:tcPr>
                </a:tc>
                <a:tc>
                  <a:txBody>
                    <a:bodyPr/>
                    <a:lstStyle/>
                    <a:p>
                      <a:pPr>
                        <a:defRPr sz="1300">
                          <a:solidFill>
                            <a:srgbClr val="B0B8C4"/>
                          </a:solidFill>
                          <a:latin typeface="Segoe UI"/>
                        </a:defRPr>
                      </a:pPr>
                      <a:r>
                        <a:t>Ingreme, interface complexa</a:t>
                      </a:r>
                    </a:p>
                  </a:txBody>
                  <a:tcPr>
                    <a:solidFill>
                      <a:srgbClr val="161E28"/>
                    </a:solidFill>
                  </a:tcPr>
                </a:tc>
                <a:tc>
                  <a:txBody>
                    <a:bodyPr/>
                    <a:lstStyle/>
                    <a:p>
                      <a:pPr>
                        <a:defRPr sz="1300">
                          <a:solidFill>
                            <a:srgbClr val="B0B8C4"/>
                          </a:solidFill>
                          <a:latin typeface="Segoe UI"/>
                        </a:defRPr>
                      </a:pPr>
                      <a:r>
                        <a:t>Moderada (UI renovado desde 2.8)</a:t>
                      </a:r>
                    </a:p>
                  </a:txBody>
                  <a:tcPr>
                    <a:solidFill>
                      <a:srgbClr val="161E28"/>
                    </a:solidFill>
                  </a:tcPr>
                </a:tc>
                <a:extLst>
                  <a:ext uri="{0D108BD9-81ED-4DB2-BD59-A6C34878D82A}">
                    <a16:rowId xmlns:a16="http://schemas.microsoft.com/office/drawing/2014/main" val="10002"/>
                  </a:ext>
                </a:extLst>
              </a:tr>
              <a:tr h="522514">
                <a:tc>
                  <a:txBody>
                    <a:bodyPr/>
                    <a:lstStyle/>
                    <a:p>
                      <a:pPr>
                        <a:defRPr sz="1300">
                          <a:solidFill>
                            <a:srgbClr val="B0B8C4"/>
                          </a:solidFill>
                          <a:latin typeface="Segoe UI"/>
                        </a:defRPr>
                      </a:pPr>
                      <a:r>
                        <a:t>Uso industria</a:t>
                      </a:r>
                    </a:p>
                  </a:txBody>
                  <a:tcPr>
                    <a:solidFill>
                      <a:srgbClr val="121820"/>
                    </a:solidFill>
                  </a:tcPr>
                </a:tc>
                <a:tc>
                  <a:txBody>
                    <a:bodyPr/>
                    <a:lstStyle/>
                    <a:p>
                      <a:pPr>
                        <a:defRPr sz="1300">
                          <a:solidFill>
                            <a:srgbClr val="B0B8C4"/>
                          </a:solidFill>
                          <a:latin typeface="Segoe UI"/>
                        </a:defRPr>
                      </a:pPr>
                      <a:r>
                        <a:t>Standard: Disney, Pixar, ILM</a:t>
                      </a:r>
                    </a:p>
                  </a:txBody>
                  <a:tcPr>
                    <a:solidFill>
                      <a:srgbClr val="121820"/>
                    </a:solidFill>
                  </a:tcPr>
                </a:tc>
                <a:tc>
                  <a:txBody>
                    <a:bodyPr/>
                    <a:lstStyle/>
                    <a:p>
                      <a:pPr>
                        <a:defRPr sz="1300">
                          <a:solidFill>
                            <a:srgbClr val="B0B8C4"/>
                          </a:solidFill>
                          <a:latin typeface="Segoe UI"/>
                        </a:defRPr>
                      </a:pPr>
                      <a:r>
                        <a:t>Crescendo: Ubisoft, Netflix, NASA</a:t>
                      </a:r>
                    </a:p>
                  </a:txBody>
                  <a:tcPr>
                    <a:solidFill>
                      <a:srgbClr val="121820"/>
                    </a:solidFill>
                  </a:tcPr>
                </a:tc>
                <a:extLst>
                  <a:ext uri="{0D108BD9-81ED-4DB2-BD59-A6C34878D82A}">
                    <a16:rowId xmlns:a16="http://schemas.microsoft.com/office/drawing/2014/main" val="10003"/>
                  </a:ext>
                </a:extLst>
              </a:tr>
              <a:tr h="522514">
                <a:tc>
                  <a:txBody>
                    <a:bodyPr/>
                    <a:lstStyle/>
                    <a:p>
                      <a:pPr>
                        <a:defRPr sz="1300">
                          <a:solidFill>
                            <a:srgbClr val="B0B8C4"/>
                          </a:solidFill>
                          <a:latin typeface="Segoe UI"/>
                        </a:defRPr>
                      </a:pPr>
                      <a:r>
                        <a:t>Pontos fortes</a:t>
                      </a:r>
                    </a:p>
                  </a:txBody>
                  <a:tcPr>
                    <a:solidFill>
                      <a:srgbClr val="161E28"/>
                    </a:solidFill>
                  </a:tcPr>
                </a:tc>
                <a:tc>
                  <a:txBody>
                    <a:bodyPr/>
                    <a:lstStyle/>
                    <a:p>
                      <a:pPr>
                        <a:defRPr sz="1300">
                          <a:solidFill>
                            <a:srgbClr val="B0B8C4"/>
                          </a:solidFill>
                          <a:latin typeface="Segoe UI"/>
                        </a:defRPr>
                      </a:pPr>
                      <a:r>
                        <a:t>NURBS, rigging, interop Autodesk</a:t>
                      </a:r>
                    </a:p>
                  </a:txBody>
                  <a:tcPr>
                    <a:solidFill>
                      <a:srgbClr val="161E28"/>
                    </a:solidFill>
                  </a:tcPr>
                </a:tc>
                <a:tc>
                  <a:txBody>
                    <a:bodyPr/>
                    <a:lstStyle/>
                    <a:p>
                      <a:pPr>
                        <a:defRPr sz="1300">
                          <a:solidFill>
                            <a:srgbClr val="B0B8C4"/>
                          </a:solidFill>
                          <a:latin typeface="Segoe UI"/>
                        </a:defRPr>
                      </a:pPr>
                      <a:r>
                        <a:t>Tudo-em-um: model, sculpt, video, VFX</a:t>
                      </a:r>
                    </a:p>
                  </a:txBody>
                  <a:tcPr>
                    <a:solidFill>
                      <a:srgbClr val="161E28"/>
                    </a:solidFill>
                  </a:tcPr>
                </a:tc>
                <a:extLst>
                  <a:ext uri="{0D108BD9-81ED-4DB2-BD59-A6C34878D82A}">
                    <a16:rowId xmlns:a16="http://schemas.microsoft.com/office/drawing/2014/main" val="10004"/>
                  </a:ext>
                </a:extLst>
              </a:tr>
              <a:tr h="522514">
                <a:tc>
                  <a:txBody>
                    <a:bodyPr/>
                    <a:lstStyle/>
                    <a:p>
                      <a:pPr>
                        <a:defRPr sz="1300">
                          <a:solidFill>
                            <a:srgbClr val="B0B8C4"/>
                          </a:solidFill>
                          <a:latin typeface="Segoe UI"/>
                        </a:defRPr>
                      </a:pPr>
                      <a:r>
                        <a:t>Linguagem script</a:t>
                      </a:r>
                    </a:p>
                  </a:txBody>
                  <a:tcPr>
                    <a:solidFill>
                      <a:srgbClr val="121820"/>
                    </a:solidFill>
                  </a:tcPr>
                </a:tc>
                <a:tc>
                  <a:txBody>
                    <a:bodyPr/>
                    <a:lstStyle/>
                    <a:p>
                      <a:pPr>
                        <a:defRPr sz="1300">
                          <a:solidFill>
                            <a:srgbClr val="B0B8C4"/>
                          </a:solidFill>
                          <a:latin typeface="Segoe UI"/>
                        </a:defRPr>
                      </a:pPr>
                      <a:r>
                        <a:t>MEL / Python</a:t>
                      </a:r>
                    </a:p>
                  </a:txBody>
                  <a:tcPr>
                    <a:solidFill>
                      <a:srgbClr val="121820"/>
                    </a:solidFill>
                  </a:tcPr>
                </a:tc>
                <a:tc>
                  <a:txBody>
                    <a:bodyPr/>
                    <a:lstStyle/>
                    <a:p>
                      <a:pPr>
                        <a:defRPr sz="1300">
                          <a:solidFill>
                            <a:srgbClr val="B0B8C4"/>
                          </a:solidFill>
                          <a:latin typeface="Segoe UI"/>
                        </a:defRPr>
                      </a:pPr>
                      <a:r>
                        <a:t>Python (mesmo!)</a:t>
                      </a:r>
                    </a:p>
                  </a:txBody>
                  <a:tcPr>
                    <a:solidFill>
                      <a:srgbClr val="121820"/>
                    </a:solidFill>
                  </a:tcPr>
                </a:tc>
                <a:extLst>
                  <a:ext uri="{0D108BD9-81ED-4DB2-BD59-A6C34878D82A}">
                    <a16:rowId xmlns:a16="http://schemas.microsoft.com/office/drawing/2014/main" val="10005"/>
                  </a:ext>
                </a:extLst>
              </a:tr>
              <a:tr h="522516">
                <a:tc>
                  <a:txBody>
                    <a:bodyPr/>
                    <a:lstStyle/>
                    <a:p>
                      <a:pPr>
                        <a:defRPr sz="1300">
                          <a:solidFill>
                            <a:srgbClr val="B0B8C4"/>
                          </a:solidFill>
                          <a:latin typeface="Segoe UI"/>
                        </a:defRPr>
                      </a:pPr>
                      <a:r>
                        <a:t>Saude: recomendacao</a:t>
                      </a:r>
                    </a:p>
                  </a:txBody>
                  <a:tcPr>
                    <a:solidFill>
                      <a:srgbClr val="161E28"/>
                    </a:solidFill>
                  </a:tcPr>
                </a:tc>
                <a:tc>
                  <a:txBody>
                    <a:bodyPr/>
                    <a:lstStyle/>
                    <a:p>
                      <a:pPr>
                        <a:defRPr sz="1300">
                          <a:solidFill>
                            <a:srgbClr val="B0B8C4"/>
                          </a:solidFill>
                          <a:latin typeface="Segoe UI"/>
                        </a:defRPr>
                      </a:pPr>
                      <a:r>
                        <a:t>Grandes instituicoes com licencas</a:t>
                      </a:r>
                    </a:p>
                  </a:txBody>
                  <a:tcPr>
                    <a:solidFill>
                      <a:srgbClr val="161E28"/>
                    </a:solidFill>
                  </a:tcPr>
                </a:tc>
                <a:tc>
                  <a:txBody>
                    <a:bodyPr/>
                    <a:lstStyle/>
                    <a:p>
                      <a:pPr>
                        <a:defRPr sz="1300">
                          <a:solidFill>
                            <a:srgbClr val="B0B8C4"/>
                          </a:solidFill>
                          <a:latin typeface="Segoe UI"/>
                        </a:defRPr>
                      </a:pPr>
                      <a:r>
                        <a:t>IDEAL para medicos e investigadores</a:t>
                      </a:r>
                    </a:p>
                  </a:txBody>
                  <a:tcPr>
                    <a:solidFill>
                      <a:srgbClr val="161E28"/>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731520" y="5303520"/>
            <a:ext cx="10058400" cy="548640"/>
          </a:xfrm>
          <a:prstGeom prst="rect">
            <a:avLst/>
          </a:prstGeom>
          <a:noFill/>
        </p:spPr>
        <p:txBody>
          <a:bodyPr wrap="square">
            <a:spAutoFit/>
          </a:bodyPr>
          <a:lstStyle/>
          <a:p>
            <a:pPr algn="l">
              <a:defRPr sz="1600" b="1">
                <a:solidFill>
                  <a:srgbClr val="3FB950"/>
                </a:solidFill>
                <a:latin typeface="Segoe UI"/>
              </a:defRPr>
            </a:pPr>
            <a:r>
              <a:t>Recomendacao para esta aula: Blender (gratuito, acessivel, comunidade enorme, tutoriais em PT)</a:t>
            </a:r>
          </a:p>
        </p:txBody>
      </p:sp>
      <p:sp>
        <p:nvSpPr>
          <p:cNvPr id="6" name="TextBox 5"/>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Blender Foundation (blender.org) | Autodesk Maya (autodesk.com/maya)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Gaussian Splatting: Historia e Ciencia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5669280" cy="5355312"/>
          </a:xfrm>
          <a:prstGeom prst="rect">
            <a:avLst/>
          </a:prstGeom>
          <a:noFill/>
        </p:spPr>
        <p:txBody>
          <a:bodyPr wrap="square">
            <a:spAutoFit/>
          </a:bodyPr>
          <a:lstStyle/>
          <a:p>
            <a:pPr algn="l">
              <a:defRPr sz="2000" b="1">
                <a:solidFill>
                  <a:srgbClr val="58A6FF"/>
                </a:solidFill>
                <a:latin typeface="Segoe UI"/>
              </a:defRPr>
            </a:pPr>
            <a:r>
              <a:rPr sz="2400" dirty="0" err="1"/>
              <a:t>Evolucao</a:t>
            </a:r>
            <a:r>
              <a:rPr sz="2400" dirty="0"/>
              <a:t> </a:t>
            </a:r>
            <a:r>
              <a:rPr sz="2400" dirty="0" err="1"/>
              <a:t>historica</a:t>
            </a:r>
            <a:endParaRPr sz="2400" dirty="0"/>
          </a:p>
          <a:p>
            <a:pPr algn="l">
              <a:spcBef>
                <a:spcPts val="600"/>
              </a:spcBef>
              <a:defRPr sz="400" b="0" i="0">
                <a:solidFill>
                  <a:srgbClr val="FFFFFF"/>
                </a:solidFill>
                <a:latin typeface="Segoe UI"/>
              </a:defRPr>
            </a:pPr>
            <a:endParaRPr sz="300" dirty="0"/>
          </a:p>
          <a:p>
            <a:pPr algn="l">
              <a:spcBef>
                <a:spcPts val="600"/>
              </a:spcBef>
              <a:defRPr sz="1600" b="1" i="0">
                <a:solidFill>
                  <a:srgbClr val="FFFFFF"/>
                </a:solidFill>
                <a:latin typeface="Segoe UI"/>
              </a:defRPr>
            </a:pPr>
            <a:r>
              <a:rPr sz="1400" dirty="0"/>
              <a:t>2020 — </a:t>
            </a:r>
            <a:r>
              <a:rPr sz="1400" dirty="0" err="1"/>
              <a:t>NeRF</a:t>
            </a:r>
            <a:r>
              <a:rPr sz="1400" dirty="0"/>
              <a:t> (Neural Radiance Fields)</a:t>
            </a:r>
          </a:p>
          <a:p>
            <a:pPr algn="l">
              <a:spcBef>
                <a:spcPts val="600"/>
              </a:spcBef>
              <a:defRPr sz="1400" b="0" i="0">
                <a:solidFill>
                  <a:srgbClr val="B0B8C4"/>
                </a:solidFill>
                <a:latin typeface="Segoe UI"/>
              </a:defRPr>
            </a:pPr>
            <a:r>
              <a:rPr sz="1200" dirty="0"/>
              <a:t>  Mildenhall et al. (UC Berkeley). </a:t>
            </a:r>
            <a:r>
              <a:rPr sz="1200" dirty="0" err="1"/>
              <a:t>Artigo</a:t>
            </a:r>
            <a:r>
              <a:rPr sz="1200" dirty="0"/>
              <a:t> seminal </a:t>
            </a:r>
            <a:r>
              <a:rPr sz="1200" dirty="0" err="1"/>
              <a:t>em</a:t>
            </a:r>
            <a:r>
              <a:rPr sz="1200" dirty="0"/>
              <a:t> ECCV 2020.</a:t>
            </a:r>
          </a:p>
          <a:p>
            <a:pPr algn="l">
              <a:spcBef>
                <a:spcPts val="600"/>
              </a:spcBef>
              <a:defRPr sz="1400" b="0" i="0">
                <a:solidFill>
                  <a:srgbClr val="B0B8C4"/>
                </a:solidFill>
                <a:latin typeface="Segoe UI"/>
              </a:defRPr>
            </a:pPr>
            <a:r>
              <a:rPr sz="1200" dirty="0"/>
              <a:t>  Rede neural que </a:t>
            </a:r>
            <a:r>
              <a:rPr sz="1200" dirty="0" err="1"/>
              <a:t>aprende</a:t>
            </a:r>
            <a:r>
              <a:rPr sz="1200" dirty="0"/>
              <a:t> a </a:t>
            </a:r>
            <a:r>
              <a:rPr sz="1200" dirty="0" err="1"/>
              <a:t>representar</a:t>
            </a:r>
            <a:r>
              <a:rPr sz="1200" dirty="0"/>
              <a:t> </a:t>
            </a:r>
            <a:r>
              <a:rPr sz="1200" dirty="0" err="1"/>
              <a:t>cenas</a:t>
            </a:r>
            <a:r>
              <a:rPr sz="1200" dirty="0"/>
              <a:t> 3D a </a:t>
            </a:r>
            <a:r>
              <a:rPr sz="1200" dirty="0" err="1"/>
              <a:t>partir</a:t>
            </a:r>
            <a:r>
              <a:rPr sz="1200" dirty="0"/>
              <a:t> de </a:t>
            </a:r>
            <a:r>
              <a:rPr sz="1200" dirty="0" err="1"/>
              <a:t>fotos</a:t>
            </a:r>
            <a:r>
              <a:rPr sz="1200" dirty="0"/>
              <a:t>.</a:t>
            </a:r>
          </a:p>
          <a:p>
            <a:pPr algn="l">
              <a:spcBef>
                <a:spcPts val="600"/>
              </a:spcBef>
              <a:defRPr sz="1400" b="0" i="0">
                <a:solidFill>
                  <a:srgbClr val="B0B8C4"/>
                </a:solidFill>
                <a:latin typeface="Segoe UI"/>
              </a:defRPr>
            </a:pPr>
            <a:r>
              <a:rPr sz="1200" dirty="0"/>
              <a:t>  </a:t>
            </a:r>
            <a:r>
              <a:rPr sz="1200" dirty="0" err="1"/>
              <a:t>Problema</a:t>
            </a:r>
            <a:r>
              <a:rPr sz="1200" dirty="0"/>
              <a:t>: rendering MUITO lento (</a:t>
            </a:r>
            <a:r>
              <a:rPr sz="1200" dirty="0" err="1"/>
              <a:t>minutos</a:t>
            </a:r>
            <a:r>
              <a:rPr sz="1200" dirty="0"/>
              <a:t> </a:t>
            </a:r>
            <a:r>
              <a:rPr sz="1200" dirty="0" err="1"/>
              <a:t>por</a:t>
            </a:r>
            <a:r>
              <a:rPr sz="1200" dirty="0"/>
              <a:t> frame).</a:t>
            </a:r>
          </a:p>
          <a:p>
            <a:pPr algn="l">
              <a:spcBef>
                <a:spcPts val="600"/>
              </a:spcBef>
              <a:defRPr sz="600" b="0" i="0">
                <a:solidFill>
                  <a:srgbClr val="FFFFFF"/>
                </a:solidFill>
                <a:latin typeface="Segoe UI"/>
              </a:defRPr>
            </a:pPr>
            <a:endParaRPr sz="500" dirty="0"/>
          </a:p>
          <a:p>
            <a:pPr algn="l">
              <a:spcBef>
                <a:spcPts val="600"/>
              </a:spcBef>
              <a:defRPr sz="1600" b="1" i="0">
                <a:solidFill>
                  <a:srgbClr val="FFFFFF"/>
                </a:solidFill>
                <a:latin typeface="Segoe UI"/>
              </a:defRPr>
            </a:pPr>
            <a:r>
              <a:rPr sz="1400" dirty="0"/>
              <a:t>2021-2022 — Instant-NGP, </a:t>
            </a:r>
            <a:r>
              <a:rPr sz="1400" dirty="0" err="1"/>
              <a:t>Plenoxels</a:t>
            </a:r>
            <a:r>
              <a:rPr sz="1400" dirty="0"/>
              <a:t>, </a:t>
            </a:r>
            <a:r>
              <a:rPr sz="1400" dirty="0" err="1"/>
              <a:t>TensoRF</a:t>
            </a:r>
            <a:endParaRPr sz="1400" dirty="0"/>
          </a:p>
          <a:p>
            <a:pPr algn="l">
              <a:spcBef>
                <a:spcPts val="600"/>
              </a:spcBef>
              <a:defRPr sz="1400" b="0" i="0">
                <a:solidFill>
                  <a:srgbClr val="B0B8C4"/>
                </a:solidFill>
                <a:latin typeface="Segoe UI"/>
              </a:defRPr>
            </a:pPr>
            <a:r>
              <a:rPr sz="1200" dirty="0"/>
              <a:t>  </a:t>
            </a:r>
            <a:r>
              <a:rPr sz="1200" dirty="0" err="1"/>
              <a:t>Otimizacoes</a:t>
            </a:r>
            <a:r>
              <a:rPr sz="1200" dirty="0"/>
              <a:t> (NVIDIA Instant-NGP: </a:t>
            </a:r>
            <a:r>
              <a:rPr sz="1200" dirty="0" err="1"/>
              <a:t>treino</a:t>
            </a:r>
            <a:r>
              <a:rPr sz="1200" dirty="0"/>
              <a:t> </a:t>
            </a:r>
            <a:r>
              <a:rPr sz="1200" dirty="0" err="1"/>
              <a:t>em</a:t>
            </a:r>
            <a:r>
              <a:rPr sz="1200" dirty="0"/>
              <a:t> </a:t>
            </a:r>
            <a:r>
              <a:rPr sz="1200" dirty="0" err="1"/>
              <a:t>segundos</a:t>
            </a:r>
            <a:r>
              <a:rPr sz="1200" dirty="0"/>
              <a:t>).</a:t>
            </a:r>
          </a:p>
          <a:p>
            <a:pPr algn="l">
              <a:spcBef>
                <a:spcPts val="600"/>
              </a:spcBef>
              <a:defRPr sz="1400" b="0" i="0">
                <a:solidFill>
                  <a:srgbClr val="B0B8C4"/>
                </a:solidFill>
                <a:latin typeface="Segoe UI"/>
              </a:defRPr>
            </a:pPr>
            <a:r>
              <a:rPr sz="1200" dirty="0"/>
              <a:t>  </a:t>
            </a:r>
            <a:r>
              <a:rPr sz="1200" dirty="0" err="1"/>
              <a:t>Ainda</a:t>
            </a:r>
            <a:r>
              <a:rPr sz="1200" dirty="0"/>
              <a:t> </a:t>
            </a:r>
            <a:r>
              <a:rPr sz="1200" dirty="0" err="1"/>
              <a:t>baseados</a:t>
            </a:r>
            <a:r>
              <a:rPr sz="1200" dirty="0"/>
              <a:t> </a:t>
            </a:r>
            <a:r>
              <a:rPr sz="1200" dirty="0" err="1"/>
              <a:t>em</a:t>
            </a:r>
            <a:r>
              <a:rPr sz="1200" dirty="0"/>
              <a:t> redes </a:t>
            </a:r>
            <a:r>
              <a:rPr sz="1200" dirty="0" err="1"/>
              <a:t>neurais</a:t>
            </a:r>
            <a:r>
              <a:rPr sz="1200" dirty="0"/>
              <a:t> → rendering lento.</a:t>
            </a:r>
          </a:p>
          <a:p>
            <a:pPr algn="l">
              <a:spcBef>
                <a:spcPts val="600"/>
              </a:spcBef>
              <a:defRPr sz="600" b="0" i="0">
                <a:solidFill>
                  <a:srgbClr val="FFFFFF"/>
                </a:solidFill>
                <a:latin typeface="Segoe UI"/>
              </a:defRPr>
            </a:pPr>
            <a:endParaRPr sz="500" dirty="0"/>
          </a:p>
          <a:p>
            <a:pPr algn="l">
              <a:spcBef>
                <a:spcPts val="600"/>
              </a:spcBef>
              <a:defRPr sz="1600" b="1" i="0">
                <a:solidFill>
                  <a:srgbClr val="58A6FF"/>
                </a:solidFill>
                <a:latin typeface="Segoe UI"/>
              </a:defRPr>
            </a:pPr>
            <a:r>
              <a:rPr sz="1400" dirty="0"/>
              <a:t>2023 — 3D Gaussian Splatting (3DGS)</a:t>
            </a:r>
          </a:p>
          <a:p>
            <a:pPr algn="l">
              <a:spcBef>
                <a:spcPts val="600"/>
              </a:spcBef>
              <a:defRPr sz="1400" b="1" i="0">
                <a:solidFill>
                  <a:srgbClr val="FFFFFF"/>
                </a:solidFill>
                <a:latin typeface="Segoe UI"/>
              </a:defRPr>
            </a:pPr>
            <a:r>
              <a:rPr sz="1200" dirty="0"/>
              <a:t>  </a:t>
            </a:r>
            <a:r>
              <a:rPr sz="1200" dirty="0" err="1"/>
              <a:t>Kerbl</a:t>
            </a:r>
            <a:r>
              <a:rPr sz="1200" dirty="0"/>
              <a:t>, </a:t>
            </a:r>
            <a:r>
              <a:rPr sz="1200" dirty="0" err="1"/>
              <a:t>Kopanas</a:t>
            </a:r>
            <a:r>
              <a:rPr sz="1200" dirty="0"/>
              <a:t>, </a:t>
            </a:r>
            <a:r>
              <a:rPr sz="1200" dirty="0" err="1"/>
              <a:t>Leimkuhler</a:t>
            </a:r>
            <a:r>
              <a:rPr sz="1200" dirty="0"/>
              <a:t> &amp; </a:t>
            </a:r>
            <a:r>
              <a:rPr sz="1200" dirty="0" err="1"/>
              <a:t>Drettakis</a:t>
            </a:r>
            <a:endParaRPr sz="1200" dirty="0"/>
          </a:p>
          <a:p>
            <a:pPr algn="l">
              <a:spcBef>
                <a:spcPts val="600"/>
              </a:spcBef>
              <a:defRPr sz="1400" b="0" i="0">
                <a:solidFill>
                  <a:srgbClr val="B0B8C4"/>
                </a:solidFill>
                <a:latin typeface="Segoe UI"/>
              </a:defRPr>
            </a:pPr>
            <a:r>
              <a:rPr sz="1200" dirty="0"/>
              <a:t>  INRIA (</a:t>
            </a:r>
            <a:r>
              <a:rPr sz="1200" dirty="0" err="1"/>
              <a:t>Universite</a:t>
            </a:r>
            <a:r>
              <a:rPr sz="1200" dirty="0"/>
              <a:t> Cote d'Azur, Franca). SIGGRAPH 2023.</a:t>
            </a:r>
          </a:p>
          <a:p>
            <a:pPr algn="l">
              <a:spcBef>
                <a:spcPts val="600"/>
              </a:spcBef>
              <a:defRPr sz="1400" b="0" i="0">
                <a:solidFill>
                  <a:srgbClr val="B0B8C4"/>
                </a:solidFill>
                <a:latin typeface="Segoe UI"/>
              </a:defRPr>
            </a:pPr>
            <a:r>
              <a:rPr sz="1200" dirty="0"/>
              <a:t>  </a:t>
            </a:r>
            <a:r>
              <a:rPr sz="1200" dirty="0" err="1"/>
              <a:t>Revolucao</a:t>
            </a:r>
            <a:r>
              <a:rPr sz="1200" dirty="0"/>
              <a:t>: SEM rede neural. </a:t>
            </a:r>
            <a:r>
              <a:rPr sz="1200" dirty="0" err="1"/>
              <a:t>Usa</a:t>
            </a:r>
            <a:r>
              <a:rPr sz="1200" dirty="0"/>
              <a:t> </a:t>
            </a:r>
            <a:r>
              <a:rPr sz="1200" dirty="0" err="1"/>
              <a:t>milhoes</a:t>
            </a:r>
            <a:r>
              <a:rPr sz="1200" dirty="0"/>
              <a:t> de </a:t>
            </a:r>
            <a:r>
              <a:rPr sz="1200" dirty="0" err="1"/>
              <a:t>Gaussianas</a:t>
            </a:r>
            <a:r>
              <a:rPr sz="1200" dirty="0"/>
              <a:t> 3D</a:t>
            </a:r>
          </a:p>
          <a:p>
            <a:pPr algn="l">
              <a:spcBef>
                <a:spcPts val="600"/>
              </a:spcBef>
              <a:defRPr sz="1400" b="0" i="0">
                <a:solidFill>
                  <a:srgbClr val="B0B8C4"/>
                </a:solidFill>
                <a:latin typeface="Segoe UI"/>
              </a:defRPr>
            </a:pPr>
            <a:r>
              <a:rPr sz="1200" dirty="0"/>
              <a:t>  (</a:t>
            </a:r>
            <a:r>
              <a:rPr sz="1200" dirty="0" err="1"/>
              <a:t>elipsoides</a:t>
            </a:r>
            <a:r>
              <a:rPr sz="1200" dirty="0"/>
              <a:t> semi-</a:t>
            </a:r>
            <a:r>
              <a:rPr sz="1200" dirty="0" err="1"/>
              <a:t>transparentes</a:t>
            </a:r>
            <a:r>
              <a:rPr sz="1200" dirty="0"/>
              <a:t>) = rendering TEMPO REAL.</a:t>
            </a:r>
          </a:p>
          <a:p>
            <a:pPr algn="l">
              <a:spcBef>
                <a:spcPts val="600"/>
              </a:spcBef>
              <a:defRPr sz="1400" b="1" i="0">
                <a:solidFill>
                  <a:srgbClr val="3FB950"/>
                </a:solidFill>
                <a:latin typeface="Segoe UI"/>
              </a:defRPr>
            </a:pPr>
            <a:r>
              <a:rPr sz="1200" dirty="0"/>
              <a:t>  138 fps </a:t>
            </a:r>
            <a:r>
              <a:rPr sz="1200" dirty="0" err="1"/>
              <a:t>em</a:t>
            </a:r>
            <a:r>
              <a:rPr sz="1200" dirty="0"/>
              <a:t> </a:t>
            </a:r>
            <a:r>
              <a:rPr sz="1200" dirty="0" err="1"/>
              <a:t>cenas</a:t>
            </a:r>
            <a:r>
              <a:rPr sz="1200" dirty="0"/>
              <a:t> </a:t>
            </a:r>
            <a:r>
              <a:rPr sz="1200" dirty="0" err="1"/>
              <a:t>complexas</a:t>
            </a:r>
            <a:r>
              <a:rPr sz="1200" dirty="0"/>
              <a:t> vs &lt;1 fps com </a:t>
            </a:r>
            <a:r>
              <a:rPr sz="1200" dirty="0" err="1"/>
              <a:t>NeRF</a:t>
            </a:r>
            <a:r>
              <a:rPr sz="1200" dirty="0"/>
              <a:t>.</a:t>
            </a:r>
          </a:p>
          <a:p>
            <a:pPr algn="l">
              <a:spcBef>
                <a:spcPts val="600"/>
              </a:spcBef>
              <a:defRPr sz="600" b="0" i="0">
                <a:solidFill>
                  <a:srgbClr val="FFFFFF"/>
                </a:solidFill>
                <a:latin typeface="Segoe UI"/>
              </a:defRPr>
            </a:pPr>
            <a:endParaRPr sz="500" dirty="0"/>
          </a:p>
          <a:p>
            <a:pPr algn="l">
              <a:spcBef>
                <a:spcPts val="600"/>
              </a:spcBef>
              <a:defRPr sz="1600" b="1" i="0">
                <a:solidFill>
                  <a:srgbClr val="FFFFFF"/>
                </a:solidFill>
                <a:latin typeface="Segoe UI"/>
              </a:defRPr>
            </a:pPr>
            <a:r>
              <a:rPr sz="1400" dirty="0"/>
              <a:t>2024-2025 — </a:t>
            </a:r>
            <a:r>
              <a:rPr sz="1400" dirty="0" err="1"/>
              <a:t>Adocao</a:t>
            </a:r>
            <a:r>
              <a:rPr sz="1400" dirty="0"/>
              <a:t> </a:t>
            </a:r>
            <a:r>
              <a:rPr sz="1400" dirty="0" err="1"/>
              <a:t>massiva</a:t>
            </a:r>
            <a:endParaRPr sz="1400" dirty="0"/>
          </a:p>
          <a:p>
            <a:pPr algn="l">
              <a:spcBef>
                <a:spcPts val="600"/>
              </a:spcBef>
              <a:defRPr sz="1400" b="0" i="0">
                <a:solidFill>
                  <a:srgbClr val="B0B8C4"/>
                </a:solidFill>
                <a:latin typeface="Segoe UI"/>
              </a:defRPr>
            </a:pPr>
            <a:r>
              <a:rPr sz="1200" dirty="0"/>
              <a:t>  Apps mobile (Kiri, </a:t>
            </a:r>
            <a:r>
              <a:rPr sz="1200" dirty="0" err="1"/>
              <a:t>Polycam</a:t>
            </a:r>
            <a:r>
              <a:rPr sz="1200" dirty="0"/>
              <a:t>), </a:t>
            </a:r>
            <a:r>
              <a:rPr sz="1200" dirty="0" err="1"/>
              <a:t>medicina</a:t>
            </a:r>
            <a:r>
              <a:rPr sz="1200" dirty="0"/>
              <a:t> (</a:t>
            </a:r>
            <a:r>
              <a:rPr sz="1200" dirty="0" err="1"/>
              <a:t>MedGS</a:t>
            </a:r>
            <a:r>
              <a:rPr sz="1200" dirty="0"/>
              <a:t>),</a:t>
            </a:r>
          </a:p>
          <a:p>
            <a:pPr algn="l">
              <a:spcBef>
                <a:spcPts val="600"/>
              </a:spcBef>
              <a:defRPr sz="1400" b="0" i="0">
                <a:solidFill>
                  <a:srgbClr val="B0B8C4"/>
                </a:solidFill>
                <a:latin typeface="Segoe UI"/>
              </a:defRPr>
            </a:pPr>
            <a:r>
              <a:rPr sz="1200" dirty="0"/>
              <a:t>  Google Maps, Apple Vision Pro, </a:t>
            </a:r>
            <a:r>
              <a:rPr sz="1200" dirty="0" err="1"/>
              <a:t>automacao</a:t>
            </a:r>
            <a:r>
              <a:rPr sz="1200" dirty="0"/>
              <a:t> industrial.</a:t>
            </a:r>
          </a:p>
        </p:txBody>
      </p:sp>
      <p:sp>
        <p:nvSpPr>
          <p:cNvPr id="5" name="Rounded Rectangle 4"/>
          <p:cNvSpPr/>
          <p:nvPr/>
        </p:nvSpPr>
        <p:spPr>
          <a:xfrm>
            <a:off x="6858000" y="1463040"/>
            <a:ext cx="4754880" cy="47548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600" b="1">
                <a:solidFill>
                  <a:srgbClr val="58A6FF"/>
                </a:solidFill>
                <a:latin typeface="Segoe UI"/>
              </a:defRPr>
            </a:pPr>
            <a:r>
              <a:t>O que e uma Gaussiana 3D?</a:t>
            </a:r>
          </a:p>
          <a:p>
            <a:pPr algn="l">
              <a:spcBef>
                <a:spcPts val="600"/>
              </a:spcBef>
              <a:defRPr sz="400" b="0" i="0">
                <a:solidFill>
                  <a:srgbClr val="FFFFFF"/>
                </a:solidFill>
                <a:latin typeface="Segoe UI"/>
              </a:defRPr>
            </a:pPr>
            <a:endParaRPr/>
          </a:p>
          <a:p>
            <a:pPr algn="l">
              <a:spcBef>
                <a:spcPts val="600"/>
              </a:spcBef>
              <a:defRPr sz="1400" b="1" i="0">
                <a:solidFill>
                  <a:srgbClr val="FFFFFF"/>
                </a:solidFill>
                <a:latin typeface="Segoe UI"/>
              </a:defRPr>
            </a:pPr>
            <a:r>
              <a:t>Matematicamente: funcao de distribuicao</a:t>
            </a:r>
          </a:p>
          <a:p>
            <a:pPr algn="l">
              <a:spcBef>
                <a:spcPts val="600"/>
              </a:spcBef>
              <a:defRPr sz="1400" b="1" i="0">
                <a:solidFill>
                  <a:srgbClr val="FFFFFF"/>
                </a:solidFill>
                <a:latin typeface="Segoe UI"/>
              </a:defRPr>
            </a:pPr>
            <a:r>
              <a:t>normal tridimensional definida por:</a:t>
            </a:r>
          </a:p>
          <a:p>
            <a:pPr algn="l">
              <a:spcBef>
                <a:spcPts val="600"/>
              </a:spcBef>
              <a:defRPr sz="400" b="0" i="0">
                <a:solidFill>
                  <a:srgbClr val="FFFFFF"/>
                </a:solidFill>
                <a:latin typeface="Segoe UI"/>
              </a:defRPr>
            </a:pPr>
            <a:endParaRPr/>
          </a:p>
          <a:p>
            <a:pPr algn="l">
              <a:spcBef>
                <a:spcPts val="600"/>
              </a:spcBef>
              <a:defRPr sz="1300" b="0" i="0">
                <a:solidFill>
                  <a:srgbClr val="B0B8C4"/>
                </a:solidFill>
                <a:latin typeface="Segoe UI"/>
              </a:defRPr>
            </a:pPr>
            <a:r>
              <a:t>• Posicao (x, y, z) — centro no espaco</a:t>
            </a:r>
          </a:p>
          <a:p>
            <a:pPr algn="l">
              <a:spcBef>
                <a:spcPts val="600"/>
              </a:spcBef>
              <a:defRPr sz="1300" b="0" i="0">
                <a:solidFill>
                  <a:srgbClr val="B0B8C4"/>
                </a:solidFill>
                <a:latin typeface="Segoe UI"/>
              </a:defRPr>
            </a:pPr>
            <a:r>
              <a:t>• Covariancia (3x3 matrix) — forma/orientacao</a:t>
            </a:r>
          </a:p>
          <a:p>
            <a:pPr algn="l">
              <a:spcBef>
                <a:spcPts val="600"/>
              </a:spcBef>
              <a:defRPr sz="1300" b="0" i="0">
                <a:solidFill>
                  <a:srgbClr val="B0B8C4"/>
                </a:solidFill>
                <a:latin typeface="Segoe UI"/>
              </a:defRPr>
            </a:pPr>
            <a:r>
              <a:t>• Opacidade (alpha) — transparencia</a:t>
            </a:r>
          </a:p>
          <a:p>
            <a:pPr algn="l">
              <a:spcBef>
                <a:spcPts val="600"/>
              </a:spcBef>
              <a:defRPr sz="1300" b="0" i="0">
                <a:solidFill>
                  <a:srgbClr val="B0B8C4"/>
                </a:solidFill>
                <a:latin typeface="Segoe UI"/>
              </a:defRPr>
            </a:pPr>
            <a:r>
              <a:t>• Cor (spherical harmonics) — cor dependente da direcao de vista</a:t>
            </a:r>
          </a:p>
          <a:p>
            <a:pPr algn="l">
              <a:spcBef>
                <a:spcPts val="600"/>
              </a:spcBef>
              <a:defRPr sz="600" b="0" i="0">
                <a:solidFill>
                  <a:srgbClr val="FFFFFF"/>
                </a:solidFill>
                <a:latin typeface="Segoe UI"/>
              </a:defRPr>
            </a:pPr>
            <a:endParaRPr/>
          </a:p>
          <a:p>
            <a:pPr algn="l">
              <a:spcBef>
                <a:spcPts val="600"/>
              </a:spcBef>
              <a:defRPr sz="1400" b="1" i="0">
                <a:solidFill>
                  <a:srgbClr val="FFFFFF"/>
                </a:solidFill>
                <a:latin typeface="Segoe UI"/>
              </a:defRPr>
            </a:pPr>
            <a:r>
              <a:t>Rendering: projecao das Gaussianas</a:t>
            </a:r>
          </a:p>
          <a:p>
            <a:pPr algn="l">
              <a:spcBef>
                <a:spcPts val="600"/>
              </a:spcBef>
              <a:defRPr sz="1400" b="1" i="0">
                <a:solidFill>
                  <a:srgbClr val="FFFFFF"/>
                </a:solidFill>
                <a:latin typeface="Segoe UI"/>
              </a:defRPr>
            </a:pPr>
            <a:r>
              <a:t>3D em splats 2D no ecra (splatting).</a:t>
            </a:r>
          </a:p>
          <a:p>
            <a:pPr algn="l">
              <a:spcBef>
                <a:spcPts val="600"/>
              </a:spcBef>
              <a:defRPr sz="1400" b="0" i="0">
                <a:solidFill>
                  <a:srgbClr val="B0B8C4"/>
                </a:solidFill>
                <a:latin typeface="Segoe UI"/>
              </a:defRPr>
            </a:pPr>
            <a:r>
              <a:t>Diferenciavel → otimizavel por</a:t>
            </a:r>
          </a:p>
          <a:p>
            <a:pPr algn="l">
              <a:spcBef>
                <a:spcPts val="600"/>
              </a:spcBef>
              <a:defRPr sz="1400" b="0" i="0">
                <a:solidFill>
                  <a:srgbClr val="B0B8C4"/>
                </a:solidFill>
                <a:latin typeface="Segoe UI"/>
              </a:defRPr>
            </a:pPr>
            <a:r>
              <a:t>gradient descent.</a:t>
            </a:r>
          </a:p>
          <a:p>
            <a:pPr algn="l">
              <a:spcBef>
                <a:spcPts val="600"/>
              </a:spcBef>
              <a:defRPr sz="600" b="0" i="0">
                <a:solidFill>
                  <a:srgbClr val="FFFFFF"/>
                </a:solidFill>
                <a:latin typeface="Segoe UI"/>
              </a:defRPr>
            </a:pPr>
            <a:endParaRPr/>
          </a:p>
          <a:p>
            <a:pPr algn="l">
              <a:spcBef>
                <a:spcPts val="600"/>
              </a:spcBef>
              <a:defRPr sz="1400" b="1" i="0">
                <a:solidFill>
                  <a:srgbClr val="3FB950"/>
                </a:solidFill>
                <a:latin typeface="Segoe UI"/>
              </a:defRPr>
            </a:pPr>
            <a:r>
              <a:t>Vantagem chave:</a:t>
            </a:r>
          </a:p>
          <a:p>
            <a:pPr algn="l">
              <a:spcBef>
                <a:spcPts val="600"/>
              </a:spcBef>
              <a:defRPr sz="1400" b="0" i="0">
                <a:solidFill>
                  <a:srgbClr val="B0B8C4"/>
                </a:solidFill>
                <a:latin typeface="Segoe UI"/>
              </a:defRPr>
            </a:pPr>
            <a:r>
              <a:t>Rasterization-based (GPU-friendly)</a:t>
            </a:r>
          </a:p>
          <a:p>
            <a:pPr algn="l">
              <a:spcBef>
                <a:spcPts val="600"/>
              </a:spcBef>
              <a:defRPr sz="1400" b="0" i="0">
                <a:solidFill>
                  <a:srgbClr val="B0B8C4"/>
                </a:solidFill>
                <a:latin typeface="Segoe UI"/>
              </a:defRPr>
            </a:pPr>
            <a:r>
              <a:t>vs ray marching (NeRF, lento).</a:t>
            </a:r>
          </a:p>
        </p:txBody>
      </p:sp>
      <p:sp>
        <p:nvSpPr>
          <p:cNvPr id="7" name="TextBox 6"/>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Kerbl et al., '3D Gaussian Splatting for Real-Time Radiance Field Rendering', SIGGRAPH 2023 (repo.inria.fr/fungraph/3d-gaussian-splatting)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Gaussian Splatting: Aplicacoes Conhecidas</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515600" cy="10972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554480"/>
            <a:ext cx="3200400" cy="914400"/>
          </a:xfrm>
          <a:prstGeom prst="rect">
            <a:avLst/>
          </a:prstGeom>
          <a:noFill/>
        </p:spPr>
        <p:txBody>
          <a:bodyPr wrap="square">
            <a:spAutoFit/>
          </a:bodyPr>
          <a:lstStyle/>
          <a:p>
            <a:pPr algn="l">
              <a:defRPr sz="1800" b="1">
                <a:solidFill>
                  <a:srgbClr val="58A6FF"/>
                </a:solidFill>
                <a:latin typeface="Segoe UI"/>
              </a:defRPr>
            </a:pPr>
            <a:r>
              <a:t>Saude / Medicina</a:t>
            </a:r>
          </a:p>
        </p:txBody>
      </p:sp>
      <p:sp>
        <p:nvSpPr>
          <p:cNvPr id="6" name="TextBox 5"/>
          <p:cNvSpPr txBox="1"/>
          <p:nvPr/>
        </p:nvSpPr>
        <p:spPr>
          <a:xfrm>
            <a:off x="4389120" y="1554480"/>
            <a:ext cx="6583680" cy="914400"/>
          </a:xfrm>
          <a:prstGeom prst="rect">
            <a:avLst/>
          </a:prstGeom>
          <a:noFill/>
        </p:spPr>
        <p:txBody>
          <a:bodyPr wrap="square">
            <a:spAutoFit/>
          </a:bodyPr>
          <a:lstStyle/>
          <a:p>
            <a:pPr algn="l">
              <a:defRPr sz="1400" b="0">
                <a:solidFill>
                  <a:srgbClr val="B0B8C4"/>
                </a:solidFill>
                <a:latin typeface="Segoe UI"/>
              </a:defRPr>
            </a:pPr>
            <a:r>
              <a:t>MedGS: reconstrucao de ecografia, RM, TC em 3D</a:t>
            </a:r>
            <a:br/>
            <a:r>
              <a:t>Anatomia cinematica em dispositivos moveis</a:t>
            </a:r>
            <a:br/>
            <a:r>
              <a:t>Imageologia dentaria de alta fidelidade (Jin et al., 2025)</a:t>
            </a:r>
          </a:p>
        </p:txBody>
      </p:sp>
      <p:sp>
        <p:nvSpPr>
          <p:cNvPr id="7" name="Rounded Rectangle 6"/>
          <p:cNvSpPr/>
          <p:nvPr/>
        </p:nvSpPr>
        <p:spPr>
          <a:xfrm>
            <a:off x="731520" y="2743200"/>
            <a:ext cx="10515600" cy="109728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834640"/>
            <a:ext cx="3200400" cy="914400"/>
          </a:xfrm>
          <a:prstGeom prst="rect">
            <a:avLst/>
          </a:prstGeom>
          <a:noFill/>
        </p:spPr>
        <p:txBody>
          <a:bodyPr wrap="square">
            <a:spAutoFit/>
          </a:bodyPr>
          <a:lstStyle/>
          <a:p>
            <a:pPr algn="l">
              <a:defRPr sz="1800" b="1">
                <a:solidFill>
                  <a:srgbClr val="3FB950"/>
                </a:solidFill>
                <a:latin typeface="Segoe UI"/>
              </a:defRPr>
            </a:pPr>
            <a:r>
              <a:t>Google Maps / Earth</a:t>
            </a:r>
          </a:p>
        </p:txBody>
      </p:sp>
      <p:sp>
        <p:nvSpPr>
          <p:cNvPr id="9" name="TextBox 8"/>
          <p:cNvSpPr txBox="1"/>
          <p:nvPr/>
        </p:nvSpPr>
        <p:spPr>
          <a:xfrm>
            <a:off x="4389120" y="2834640"/>
            <a:ext cx="6583680" cy="914400"/>
          </a:xfrm>
          <a:prstGeom prst="rect">
            <a:avLst/>
          </a:prstGeom>
          <a:noFill/>
        </p:spPr>
        <p:txBody>
          <a:bodyPr wrap="square">
            <a:spAutoFit/>
          </a:bodyPr>
          <a:lstStyle/>
          <a:p>
            <a:pPr algn="l">
              <a:defRPr sz="1400" b="0">
                <a:solidFill>
                  <a:srgbClr val="B0B8C4"/>
                </a:solidFill>
                <a:latin typeface="Segoe UI"/>
              </a:defRPr>
            </a:pPr>
            <a:r>
              <a:t>Immersive View: reconstrucao de cidades inteiras</a:t>
            </a:r>
            <a:br/>
            <a:r>
              <a:t>com Gaussian Splatting a partir de imagens Street View</a:t>
            </a:r>
          </a:p>
        </p:txBody>
      </p:sp>
      <p:sp>
        <p:nvSpPr>
          <p:cNvPr id="10" name="Rounded Rectangle 9"/>
          <p:cNvSpPr/>
          <p:nvPr/>
        </p:nvSpPr>
        <p:spPr>
          <a:xfrm>
            <a:off x="731520" y="4023360"/>
            <a:ext cx="10515600" cy="109728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4114800"/>
            <a:ext cx="3200400" cy="914400"/>
          </a:xfrm>
          <a:prstGeom prst="rect">
            <a:avLst/>
          </a:prstGeom>
          <a:noFill/>
        </p:spPr>
        <p:txBody>
          <a:bodyPr wrap="square">
            <a:spAutoFit/>
          </a:bodyPr>
          <a:lstStyle/>
          <a:p>
            <a:pPr algn="l">
              <a:defRPr sz="1800" b="1">
                <a:solidFill>
                  <a:srgbClr val="F78166"/>
                </a:solidFill>
                <a:latin typeface="Segoe UI"/>
              </a:defRPr>
            </a:pPr>
            <a:r>
              <a:t>Imobiliario / Arquitetura</a:t>
            </a:r>
          </a:p>
        </p:txBody>
      </p:sp>
      <p:sp>
        <p:nvSpPr>
          <p:cNvPr id="12" name="TextBox 11"/>
          <p:cNvSpPr txBox="1"/>
          <p:nvPr/>
        </p:nvSpPr>
        <p:spPr>
          <a:xfrm>
            <a:off x="4389120" y="4114800"/>
            <a:ext cx="6583680" cy="914400"/>
          </a:xfrm>
          <a:prstGeom prst="rect">
            <a:avLst/>
          </a:prstGeom>
          <a:noFill/>
        </p:spPr>
        <p:txBody>
          <a:bodyPr wrap="square">
            <a:spAutoFit/>
          </a:bodyPr>
          <a:lstStyle/>
          <a:p>
            <a:pPr algn="l">
              <a:defRPr sz="1400" b="0">
                <a:solidFill>
                  <a:srgbClr val="B0B8C4"/>
                </a:solidFill>
                <a:latin typeface="Segoe UI"/>
              </a:defRPr>
            </a:pPr>
            <a:r>
              <a:t>Visitas virtuais fotorrealistas de imoveis e edificios</a:t>
            </a:r>
            <a:br/>
            <a:r>
              <a:t>Matterport, Zillow ja integram GS</a:t>
            </a:r>
          </a:p>
        </p:txBody>
      </p:sp>
      <p:sp>
        <p:nvSpPr>
          <p:cNvPr id="13" name="Rounded Rectangle 12"/>
          <p:cNvSpPr/>
          <p:nvPr/>
        </p:nvSpPr>
        <p:spPr>
          <a:xfrm>
            <a:off x="731520" y="5303519"/>
            <a:ext cx="10515600" cy="109728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5394959"/>
            <a:ext cx="3200400" cy="914400"/>
          </a:xfrm>
          <a:prstGeom prst="rect">
            <a:avLst/>
          </a:prstGeom>
          <a:noFill/>
        </p:spPr>
        <p:txBody>
          <a:bodyPr wrap="square">
            <a:spAutoFit/>
          </a:bodyPr>
          <a:lstStyle/>
          <a:p>
            <a:pPr algn="l">
              <a:defRPr sz="1800" b="1">
                <a:solidFill>
                  <a:srgbClr val="D2A8FF"/>
                </a:solidFill>
                <a:latin typeface="Segoe UI"/>
              </a:defRPr>
            </a:pPr>
            <a:r>
              <a:t>Cinema / VFX</a:t>
            </a:r>
          </a:p>
        </p:txBody>
      </p:sp>
      <p:sp>
        <p:nvSpPr>
          <p:cNvPr id="15" name="TextBox 14"/>
          <p:cNvSpPr txBox="1"/>
          <p:nvPr/>
        </p:nvSpPr>
        <p:spPr>
          <a:xfrm>
            <a:off x="4389120" y="5394959"/>
            <a:ext cx="6583680" cy="914400"/>
          </a:xfrm>
          <a:prstGeom prst="rect">
            <a:avLst/>
          </a:prstGeom>
          <a:noFill/>
        </p:spPr>
        <p:txBody>
          <a:bodyPr wrap="square">
            <a:spAutoFit/>
          </a:bodyPr>
          <a:lstStyle/>
          <a:p>
            <a:pPr algn="l">
              <a:defRPr sz="1400" b="0">
                <a:solidFill>
                  <a:srgbClr val="B0B8C4"/>
                </a:solidFill>
                <a:latin typeface="Segoe UI"/>
              </a:defRPr>
            </a:pPr>
            <a:r>
              <a:t>Captura de ambientes reais para pos-producao</a:t>
            </a:r>
            <a:br/>
            <a:r>
              <a:t>Integracao com pipelines Unreal Engine 5</a:t>
            </a:r>
          </a:p>
        </p:txBody>
      </p:sp>
      <p:sp>
        <p:nvSpPr>
          <p:cNvPr id="16" name="TextBox 15"/>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Fontes: SAGE 2025 (dental GS); MedGS (arXiv 2509.16806); Google Immersive View (blog.google)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Kiri Engine: Scanner 3D no Telemovel</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486400" cy="4572000"/>
          </a:xfrm>
          <a:prstGeom prst="rect">
            <a:avLst/>
          </a:prstGeom>
          <a:noFill/>
        </p:spPr>
        <p:txBody>
          <a:bodyPr wrap="square">
            <a:spAutoFit/>
          </a:bodyPr>
          <a:lstStyle/>
          <a:p>
            <a:pPr algn="l">
              <a:defRPr sz="2000" b="1">
                <a:solidFill>
                  <a:srgbClr val="58A6FF"/>
                </a:solidFill>
                <a:latin typeface="Segoe UI"/>
              </a:defRPr>
            </a:pPr>
            <a:r>
              <a:t>O que e?</a:t>
            </a:r>
          </a:p>
          <a:p>
            <a:pPr algn="l">
              <a:spcBef>
                <a:spcPts val="1000"/>
              </a:spcBef>
              <a:defRPr sz="1600" b="0" i="0">
                <a:solidFill>
                  <a:srgbClr val="B0B8C4"/>
                </a:solidFill>
                <a:latin typeface="Segoe UI"/>
              </a:defRPr>
            </a:pPr>
            <a:r>
              <a:t>App gratuita (Android/iOS) — scanner 3D com o telemovel.</a:t>
            </a:r>
          </a:p>
          <a:p>
            <a:pPr algn="l">
              <a:spcBef>
                <a:spcPts val="600"/>
              </a:spcBef>
              <a:defRPr sz="600" b="0" i="0">
                <a:solidFill>
                  <a:srgbClr val="FFFFFF"/>
                </a:solidFill>
                <a:latin typeface="Segoe UI"/>
              </a:defRPr>
            </a:pPr>
            <a:endParaRPr/>
          </a:p>
          <a:p>
            <a:pPr algn="l">
              <a:spcBef>
                <a:spcPts val="600"/>
              </a:spcBef>
              <a:defRPr sz="1600" b="1" i="0">
                <a:solidFill>
                  <a:srgbClr val="FFFFFF"/>
                </a:solidFill>
                <a:latin typeface="Segoe UI"/>
              </a:defRPr>
            </a:pPr>
            <a:r>
              <a:t>Tecnologias suportadas:</a:t>
            </a:r>
          </a:p>
          <a:p>
            <a:pPr algn="l">
              <a:spcBef>
                <a:spcPts val="600"/>
              </a:spcBef>
              <a:defRPr sz="1500" b="0" i="0">
                <a:solidFill>
                  <a:srgbClr val="B0B8C4"/>
                </a:solidFill>
                <a:latin typeface="Segoe UI"/>
              </a:defRPr>
            </a:pPr>
            <a:r>
              <a:t>• Fotogrametria — qualquer telemovel com camera</a:t>
            </a:r>
          </a:p>
          <a:p>
            <a:pPr algn="l">
              <a:spcBef>
                <a:spcPts val="600"/>
              </a:spcBef>
              <a:defRPr sz="1500" b="0" i="0">
                <a:solidFill>
                  <a:srgbClr val="B0B8C4"/>
                </a:solidFill>
                <a:latin typeface="Segoe UI"/>
              </a:defRPr>
            </a:pPr>
            <a:r>
              <a:t>• LiDAR scanning — iPhone 12 Pro+ (mais rapido)</a:t>
            </a:r>
          </a:p>
          <a:p>
            <a:pPr algn="l">
              <a:spcBef>
                <a:spcPts val="600"/>
              </a:spcBef>
              <a:defRPr sz="1500" b="0" i="0">
                <a:solidFill>
                  <a:srgbClr val="B0B8C4"/>
                </a:solidFill>
                <a:latin typeface="Segoe UI"/>
              </a:defRPr>
            </a:pPr>
            <a:r>
              <a:t>• 3D Gaussian Splatting — primeiro GS mobile do mundo</a:t>
            </a:r>
          </a:p>
          <a:p>
            <a:pPr algn="l">
              <a:spcBef>
                <a:spcPts val="600"/>
              </a:spcBef>
              <a:defRPr sz="1500" b="0" i="0">
                <a:solidFill>
                  <a:srgbClr val="B0B8C4"/>
                </a:solidFill>
                <a:latin typeface="Segoe UI"/>
              </a:defRPr>
            </a:pPr>
            <a:r>
              <a:t>• Neural Surface Reconstruction — AI-enhanced</a:t>
            </a:r>
          </a:p>
          <a:p>
            <a:pPr algn="l">
              <a:spcBef>
                <a:spcPts val="600"/>
              </a:spcBef>
              <a:defRPr sz="600" b="0" i="0">
                <a:solidFill>
                  <a:srgbClr val="FFFFFF"/>
                </a:solidFill>
                <a:latin typeface="Segoe UI"/>
              </a:defRPr>
            </a:pPr>
            <a:endParaRPr/>
          </a:p>
          <a:p>
            <a:pPr algn="l">
              <a:spcBef>
                <a:spcPts val="600"/>
              </a:spcBef>
              <a:defRPr sz="1500" b="1" i="0">
                <a:solidFill>
                  <a:srgbClr val="3FB950"/>
                </a:solidFill>
                <a:latin typeface="Segoe UI"/>
              </a:defRPr>
            </a:pPr>
            <a:r>
              <a:t>Processamento: ~2 min/scan | Exporta: OBJ, GLB, USDZ</a:t>
            </a:r>
          </a:p>
          <a:p>
            <a:pPr algn="l">
              <a:spcBef>
                <a:spcPts val="600"/>
              </a:spcBef>
              <a:defRPr sz="600" b="0" i="0">
                <a:solidFill>
                  <a:srgbClr val="FFFFFF"/>
                </a:solidFill>
                <a:latin typeface="Segoe UI"/>
              </a:defRPr>
            </a:pPr>
            <a:endParaRPr/>
          </a:p>
          <a:p>
            <a:pPr algn="l">
              <a:spcBef>
                <a:spcPts val="600"/>
              </a:spcBef>
              <a:defRPr sz="1600" b="1" i="0">
                <a:solidFill>
                  <a:srgbClr val="FFFFFF"/>
                </a:solidFill>
                <a:latin typeface="Segoe UI"/>
              </a:defRPr>
            </a:pPr>
            <a:r>
              <a:t>Precos:</a:t>
            </a:r>
          </a:p>
          <a:p>
            <a:pPr algn="l">
              <a:spcBef>
                <a:spcPts val="600"/>
              </a:spcBef>
              <a:defRPr sz="1500" b="0" i="0">
                <a:solidFill>
                  <a:srgbClr val="B0B8C4"/>
                </a:solidFill>
                <a:latin typeface="Segoe UI"/>
              </a:defRPr>
            </a:pPr>
            <a:r>
              <a:t>• Gratis: fotogrametria + LiDAR, 3 exports/semana</a:t>
            </a:r>
          </a:p>
          <a:p>
            <a:pPr algn="l">
              <a:spcBef>
                <a:spcPts val="600"/>
              </a:spcBef>
              <a:defRPr sz="1500" b="0" i="0">
                <a:solidFill>
                  <a:srgbClr val="B0B8C4"/>
                </a:solidFill>
                <a:latin typeface="Segoe UI"/>
              </a:defRPr>
            </a:pPr>
            <a:r>
              <a:t>• Pro: 17.99 EUR/mes — GS + ilimitado</a:t>
            </a:r>
          </a:p>
        </p:txBody>
      </p:sp>
      <p:sp>
        <p:nvSpPr>
          <p:cNvPr id="5" name="Rounded Rectangle 4"/>
          <p:cNvSpPr/>
          <p:nvPr/>
        </p:nvSpPr>
        <p:spPr>
          <a:xfrm>
            <a:off x="6858000" y="1463040"/>
            <a:ext cx="4754880" cy="45720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800" b="1">
                <a:solidFill>
                  <a:srgbClr val="3FB950"/>
                </a:solidFill>
                <a:latin typeface="Segoe UI"/>
              </a:defRPr>
            </a:pPr>
            <a:r>
              <a:t>Alternativas:</a:t>
            </a:r>
          </a:p>
          <a:p>
            <a:pPr algn="l">
              <a:spcBef>
                <a:spcPts val="600"/>
              </a:spcBef>
              <a:defRPr sz="1400" b="0" i="0">
                <a:solidFill>
                  <a:srgbClr val="B0B8C4"/>
                </a:solidFill>
                <a:latin typeface="Segoe UI"/>
              </a:defRPr>
            </a:pPr>
            <a:r>
              <a:t>• Polycam — iOS/Android, LiDAR, GS</a:t>
            </a:r>
          </a:p>
          <a:p>
            <a:pPr algn="l">
              <a:spcBef>
                <a:spcPts val="600"/>
              </a:spcBef>
              <a:defRPr sz="1400" b="0" i="0">
                <a:solidFill>
                  <a:srgbClr val="B0B8C4"/>
                </a:solidFill>
                <a:latin typeface="Segoe UI"/>
              </a:defRPr>
            </a:pPr>
            <a:r>
              <a:t>• Luma AI — Gaussian Splatting online</a:t>
            </a:r>
          </a:p>
          <a:p>
            <a:pPr algn="l">
              <a:spcBef>
                <a:spcPts val="600"/>
              </a:spcBef>
              <a:defRPr sz="1400" b="0" i="0">
                <a:solidFill>
                  <a:srgbClr val="B0B8C4"/>
                </a:solidFill>
                <a:latin typeface="Segoe UI"/>
              </a:defRPr>
            </a:pPr>
            <a:r>
              <a:t>• Meshroom (AliceVision) — gratuito, PC</a:t>
            </a:r>
          </a:p>
          <a:p>
            <a:pPr algn="l">
              <a:spcBef>
                <a:spcPts val="600"/>
              </a:spcBef>
              <a:defRPr sz="1400" b="0" i="0">
                <a:solidFill>
                  <a:srgbClr val="B0B8C4"/>
                </a:solidFill>
                <a:latin typeface="Segoe UI"/>
              </a:defRPr>
            </a:pPr>
            <a:r>
              <a:t>• RealityScan (Epic Games) — fotogrametria</a:t>
            </a:r>
          </a:p>
          <a:p>
            <a:pPr algn="l">
              <a:spcBef>
                <a:spcPts val="600"/>
              </a:spcBef>
              <a:defRPr sz="1400" b="0" i="0">
                <a:solidFill>
                  <a:srgbClr val="B0B8C4"/>
                </a:solidFill>
                <a:latin typeface="Segoe UI"/>
              </a:defRPr>
            </a:pPr>
            <a:r>
              <a:t>• 3D Scanner App (Apple) — LiDAR nativo</a:t>
            </a:r>
          </a:p>
          <a:p>
            <a:pPr algn="l">
              <a:spcBef>
                <a:spcPts val="600"/>
              </a:spcBef>
              <a:defRPr sz="1400" b="0" i="0">
                <a:solidFill>
                  <a:srgbClr val="B0B8C4"/>
                </a:solidFill>
                <a:latin typeface="Segoe UI"/>
              </a:defRPr>
            </a:pPr>
            <a:r>
              <a:t>• Qlone — scan com QR code de referencia</a:t>
            </a:r>
          </a:p>
          <a:p>
            <a:pPr algn="l">
              <a:spcBef>
                <a:spcPts val="600"/>
              </a:spcBef>
              <a:defRPr sz="1400" b="0" i="0">
                <a:solidFill>
                  <a:srgbClr val="B0B8C4"/>
                </a:solidFill>
                <a:latin typeface="Segoe UI"/>
              </a:defRPr>
            </a:pPr>
            <a:r>
              <a:t>• Regard3D — open-source, PC</a:t>
            </a:r>
          </a:p>
        </p:txBody>
      </p:sp>
      <p:sp>
        <p:nvSpPr>
          <p:cNvPr id="7" name="TextBox 6"/>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Kiri Engine (kiriengine.app) | HTC VIVERSE partnership, Dec 2025 (businesswire.com)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EXERCICIO: Scan 3D da Sala com Kiri</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645920"/>
            <a:ext cx="9144000" cy="4572000"/>
          </a:xfrm>
          <a:prstGeom prst="rect">
            <a:avLst/>
          </a:prstGeom>
          <a:noFill/>
        </p:spPr>
        <p:txBody>
          <a:bodyPr wrap="square">
            <a:spAutoFit/>
          </a:bodyPr>
          <a:lstStyle/>
          <a:p>
            <a:pPr algn="ctr">
              <a:defRPr sz="2800" b="1">
                <a:solidFill>
                  <a:srgbClr val="58A6FF"/>
                </a:solidFill>
                <a:latin typeface="Segoe UI"/>
              </a:defRPr>
            </a:pPr>
            <a:r>
              <a:t>Instrucoes</a:t>
            </a:r>
          </a:p>
          <a:p>
            <a:pPr algn="l">
              <a:spcBef>
                <a:spcPts val="600"/>
              </a:spcBef>
              <a:defRPr sz="1200" b="0" i="0">
                <a:solidFill>
                  <a:srgbClr val="FFFFFF"/>
                </a:solidFill>
                <a:latin typeface="Segoe UI"/>
              </a:defRPr>
            </a:pPr>
            <a:endParaRPr/>
          </a:p>
          <a:p>
            <a:pPr algn="ctr">
              <a:spcBef>
                <a:spcPts val="600"/>
              </a:spcBef>
              <a:defRPr sz="2200" b="0" i="0">
                <a:solidFill>
                  <a:srgbClr val="FFFFFF"/>
                </a:solidFill>
                <a:latin typeface="Segoe UI"/>
              </a:defRPr>
            </a:pPr>
            <a:r>
              <a:t>1. Formem grupos de 3-4 pessoas</a:t>
            </a:r>
          </a:p>
          <a:p>
            <a:pPr algn="ctr">
              <a:spcBef>
                <a:spcPts val="600"/>
              </a:spcBef>
              <a:defRPr sz="2200" b="0" i="0">
                <a:solidFill>
                  <a:srgbClr val="FFFFFF"/>
                </a:solidFill>
                <a:latin typeface="Segoe UI"/>
              </a:defRPr>
            </a:pPr>
            <a:r>
              <a:t>2. Instalem Kiri Engine no telemovel (1 por grupo)</a:t>
            </a:r>
          </a:p>
          <a:p>
            <a:pPr algn="ctr">
              <a:spcBef>
                <a:spcPts val="600"/>
              </a:spcBef>
              <a:defRPr sz="2200" b="0" i="0">
                <a:solidFill>
                  <a:srgbClr val="FFFFFF"/>
                </a:solidFill>
                <a:latin typeface="Segoe UI"/>
              </a:defRPr>
            </a:pPr>
            <a:r>
              <a:t>3. Escolham um objeto ou area da sala</a:t>
            </a:r>
          </a:p>
          <a:p>
            <a:pPr algn="ctr">
              <a:spcBef>
                <a:spcPts val="600"/>
              </a:spcBef>
              <a:defRPr sz="2200" b="0" i="0">
                <a:solidFill>
                  <a:srgbClr val="FFFFFF"/>
                </a:solidFill>
                <a:latin typeface="Segoe UI"/>
              </a:defRPr>
            </a:pPr>
            <a:r>
              <a:t>4. Tirem 30-50 fotos de angulos diferentes</a:t>
            </a:r>
          </a:p>
          <a:p>
            <a:pPr algn="ctr">
              <a:spcBef>
                <a:spcPts val="600"/>
              </a:spcBef>
              <a:defRPr sz="2200" b="0" i="0">
                <a:solidFill>
                  <a:srgbClr val="FFFFFF"/>
                </a:solidFill>
                <a:latin typeface="Segoe UI"/>
              </a:defRPr>
            </a:pPr>
            <a:r>
              <a:t>5. Upload e aguardem (~2 min)</a:t>
            </a:r>
          </a:p>
          <a:p>
            <a:pPr algn="l">
              <a:spcBef>
                <a:spcPts val="600"/>
              </a:spcBef>
              <a:defRPr sz="1200" b="0" i="0">
                <a:solidFill>
                  <a:srgbClr val="FFFFFF"/>
                </a:solidFill>
                <a:latin typeface="Segoe UI"/>
              </a:defRPr>
            </a:pPr>
            <a:endParaRPr/>
          </a:p>
          <a:p>
            <a:pPr algn="ctr">
              <a:spcBef>
                <a:spcPts val="600"/>
              </a:spcBef>
              <a:defRPr sz="2000" b="1" i="0">
                <a:solidFill>
                  <a:srgbClr val="3FB950"/>
                </a:solidFill>
                <a:latin typeface="Segoe UI"/>
              </a:defRPr>
            </a:pPr>
            <a:r>
              <a:t>Este scan sera o ambiente VR da proxima aula!</a:t>
            </a:r>
          </a:p>
          <a:p>
            <a:pPr algn="ctr">
              <a:spcBef>
                <a:spcPts val="600"/>
              </a:spcBef>
              <a:defRPr sz="2000" b="1" i="0">
                <a:solidFill>
                  <a:srgbClr val="F78166"/>
                </a:solidFill>
                <a:latin typeface="Segoe UI"/>
              </a:defRPr>
            </a:pPr>
            <a:r>
              <a:t>Tempo: 15 minutos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1828800" y="2286000"/>
            <a:ext cx="8229600" cy="1828800"/>
          </a:xfrm>
          <a:prstGeom prst="rect">
            <a:avLst/>
          </a:prstGeom>
          <a:noFill/>
        </p:spPr>
        <p:txBody>
          <a:bodyPr wrap="square">
            <a:spAutoFit/>
          </a:bodyPr>
          <a:lstStyle/>
          <a:p>
            <a:pPr algn="ctr">
              <a:defRPr sz="7200" b="1">
                <a:solidFill>
                  <a:srgbClr val="58A6FF"/>
                </a:solidFill>
                <a:latin typeface="Segoe UI Light"/>
              </a:defRPr>
            </a:pPr>
            <a:r>
              <a:t>PAUSA</a:t>
            </a:r>
          </a:p>
        </p:txBody>
      </p:sp>
      <p:sp>
        <p:nvSpPr>
          <p:cNvPr id="3" name="TextBox 2"/>
          <p:cNvSpPr txBox="1"/>
          <p:nvPr/>
        </p:nvSpPr>
        <p:spPr>
          <a:xfrm>
            <a:off x="1828800" y="4114800"/>
            <a:ext cx="8229600" cy="914400"/>
          </a:xfrm>
          <a:prstGeom prst="rect">
            <a:avLst/>
          </a:prstGeom>
          <a:noFill/>
        </p:spPr>
        <p:txBody>
          <a:bodyPr wrap="square">
            <a:spAutoFit/>
          </a:bodyPr>
          <a:lstStyle/>
          <a:p>
            <a:pPr algn="ctr">
              <a:defRPr sz="2800" b="0">
                <a:solidFill>
                  <a:srgbClr val="B0B8C4"/>
                </a:solidFill>
                <a:latin typeface="Segoe UI"/>
              </a:defRPr>
            </a:pPr>
            <a:r>
              <a:t>10 minutos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828800" cy="1828800"/>
          </a:xfrm>
          <a:prstGeom prst="rect">
            <a:avLst/>
          </a:prstGeom>
          <a:noFill/>
        </p:spPr>
        <p:txBody>
          <a:bodyPr wrap="square">
            <a:spAutoFit/>
          </a:bodyPr>
          <a:lstStyle/>
          <a:p>
            <a:pPr algn="l">
              <a:defRPr sz="9600" b="1">
                <a:solidFill>
                  <a:srgbClr val="58A6FF"/>
                </a:solidFill>
                <a:latin typeface="Segoe UI Light"/>
              </a:defRPr>
            </a:pPr>
            <a:r>
              <a:t>03</a:t>
            </a:r>
          </a:p>
        </p:txBody>
      </p:sp>
      <p:sp>
        <p:nvSpPr>
          <p:cNvPr id="3" name="Rectangle 2"/>
          <p:cNvSpPr/>
          <p:nvPr/>
        </p:nvSpPr>
        <p:spPr>
          <a:xfrm>
            <a:off x="914400" y="3383280"/>
            <a:ext cx="137160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058400" cy="1097280"/>
          </a:xfrm>
          <a:prstGeom prst="rect">
            <a:avLst/>
          </a:prstGeom>
          <a:noFill/>
        </p:spPr>
        <p:txBody>
          <a:bodyPr wrap="square">
            <a:spAutoFit/>
          </a:bodyPr>
          <a:lstStyle/>
          <a:p>
            <a:pPr algn="l">
              <a:defRPr sz="3600" b="1">
                <a:solidFill>
                  <a:srgbClr val="FFFFFF"/>
                </a:solidFill>
                <a:latin typeface="Segoe UI Semibold"/>
              </a:defRPr>
            </a:pPr>
            <a:r>
              <a:t>Interatividade e Motores de Jogo</a:t>
            </a:r>
          </a:p>
        </p:txBody>
      </p:sp>
      <p:sp>
        <p:nvSpPr>
          <p:cNvPr id="5" name="TextBox 4"/>
          <p:cNvSpPr txBox="1"/>
          <p:nvPr/>
        </p:nvSpPr>
        <p:spPr>
          <a:xfrm>
            <a:off x="914400" y="4754880"/>
            <a:ext cx="9144000" cy="914400"/>
          </a:xfrm>
          <a:prstGeom prst="rect">
            <a:avLst/>
          </a:prstGeom>
          <a:noFill/>
        </p:spPr>
        <p:txBody>
          <a:bodyPr wrap="square">
            <a:spAutoFit/>
          </a:bodyPr>
          <a:lstStyle/>
          <a:p>
            <a:pPr algn="l">
              <a:defRPr sz="2000" b="0">
                <a:solidFill>
                  <a:srgbClr val="B0B8C4"/>
                </a:solidFill>
                <a:latin typeface="Segoe UI"/>
              </a:defRPr>
            </a:pPr>
            <a:r>
              <a:t>Game Engines, Unity, Unreal, A-Frame, Inspector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O que e um Game Engine (Motor de Jogo)?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1371600"/>
          </a:xfrm>
          <a:prstGeom prst="rect">
            <a:avLst/>
          </a:prstGeom>
          <a:noFill/>
        </p:spPr>
        <p:txBody>
          <a:bodyPr wrap="square">
            <a:spAutoFit/>
          </a:bodyPr>
          <a:lstStyle/>
          <a:p>
            <a:pPr algn="l">
              <a:defRPr sz="2200" b="1">
                <a:solidFill>
                  <a:srgbClr val="58A6FF"/>
                </a:solidFill>
                <a:latin typeface="Segoe UI"/>
              </a:defRPr>
            </a:pPr>
            <a:r>
              <a:t>Definicao</a:t>
            </a:r>
          </a:p>
          <a:p>
            <a:pPr algn="l">
              <a:spcBef>
                <a:spcPts val="600"/>
              </a:spcBef>
              <a:defRPr sz="1700" b="0" i="0">
                <a:solidFill>
                  <a:srgbClr val="B0B8C4"/>
                </a:solidFill>
                <a:latin typeface="Segoe UI"/>
              </a:defRPr>
            </a:pPr>
            <a:r>
              <a:t>Um Game Engine e um framework de software que fornece as funcionalidades</a:t>
            </a:r>
          </a:p>
          <a:p>
            <a:pPr algn="l">
              <a:spcBef>
                <a:spcPts val="600"/>
              </a:spcBef>
              <a:defRPr sz="1700" b="0" i="0">
                <a:solidFill>
                  <a:srgbClr val="B0B8C4"/>
                </a:solidFill>
                <a:latin typeface="Segoe UI"/>
              </a:defRPr>
            </a:pPr>
            <a:r>
              <a:t>base para criar aplicacoes interativas em tempo real:</a:t>
            </a:r>
          </a:p>
        </p:txBody>
      </p:sp>
      <p:sp>
        <p:nvSpPr>
          <p:cNvPr id="5" name="Rounded Rectangle 4"/>
          <p:cNvSpPr/>
          <p:nvPr/>
        </p:nvSpPr>
        <p:spPr>
          <a:xfrm>
            <a:off x="731520" y="3108960"/>
            <a:ext cx="3200400" cy="29260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3291840"/>
            <a:ext cx="2743200" cy="365760"/>
          </a:xfrm>
          <a:prstGeom prst="rect">
            <a:avLst/>
          </a:prstGeom>
          <a:noFill/>
        </p:spPr>
        <p:txBody>
          <a:bodyPr wrap="square">
            <a:spAutoFit/>
          </a:bodyPr>
          <a:lstStyle/>
          <a:p>
            <a:pPr algn="l">
              <a:defRPr sz="1600" b="1">
                <a:solidFill>
                  <a:srgbClr val="58A6FF"/>
                </a:solidFill>
                <a:latin typeface="Segoe UI"/>
              </a:defRPr>
            </a:pPr>
            <a:r>
              <a:t>Rendering Engine</a:t>
            </a:r>
          </a:p>
          <a:p>
            <a:pPr algn="l">
              <a:spcBef>
                <a:spcPts val="600"/>
              </a:spcBef>
              <a:defRPr sz="1300" b="0" i="0">
                <a:solidFill>
                  <a:srgbClr val="B0B8C4"/>
                </a:solidFill>
                <a:latin typeface="Segoe UI"/>
              </a:defRPr>
            </a:pPr>
            <a:r>
              <a:t>Desenha graficos 2D/3D em tempo real (rasterization ou ray tracing)</a:t>
            </a:r>
          </a:p>
        </p:txBody>
      </p:sp>
      <p:sp>
        <p:nvSpPr>
          <p:cNvPr id="7" name="Rounded Rectangle 6"/>
          <p:cNvSpPr/>
          <p:nvPr/>
        </p:nvSpPr>
        <p:spPr>
          <a:xfrm>
            <a:off x="4206240" y="3108960"/>
            <a:ext cx="3200400" cy="292608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80560" y="3291840"/>
            <a:ext cx="2743200" cy="365760"/>
          </a:xfrm>
          <a:prstGeom prst="rect">
            <a:avLst/>
          </a:prstGeom>
          <a:noFill/>
        </p:spPr>
        <p:txBody>
          <a:bodyPr wrap="square">
            <a:spAutoFit/>
          </a:bodyPr>
          <a:lstStyle/>
          <a:p>
            <a:pPr algn="l">
              <a:defRPr sz="1600" b="1">
                <a:solidFill>
                  <a:srgbClr val="3FB950"/>
                </a:solidFill>
                <a:latin typeface="Segoe UI"/>
              </a:defRPr>
            </a:pPr>
            <a:r>
              <a:t>Physics Engine</a:t>
            </a:r>
          </a:p>
          <a:p>
            <a:pPr algn="l">
              <a:spcBef>
                <a:spcPts val="600"/>
              </a:spcBef>
              <a:defRPr sz="1300" b="0" i="0">
                <a:solidFill>
                  <a:srgbClr val="B0B8C4"/>
                </a:solidFill>
                <a:latin typeface="Segoe UI"/>
              </a:defRPr>
            </a:pPr>
            <a:r>
              <a:t>Simula gravidade, colisoes, corpos rigidos e fluidos</a:t>
            </a:r>
          </a:p>
        </p:txBody>
      </p:sp>
      <p:sp>
        <p:nvSpPr>
          <p:cNvPr id="9" name="Rounded Rectangle 8"/>
          <p:cNvSpPr/>
          <p:nvPr/>
        </p:nvSpPr>
        <p:spPr>
          <a:xfrm>
            <a:off x="7680960" y="3108960"/>
            <a:ext cx="3840480" cy="292608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79" y="3291840"/>
            <a:ext cx="3383280" cy="365760"/>
          </a:xfrm>
          <a:prstGeom prst="rect">
            <a:avLst/>
          </a:prstGeom>
          <a:noFill/>
        </p:spPr>
        <p:txBody>
          <a:bodyPr wrap="square">
            <a:spAutoFit/>
          </a:bodyPr>
          <a:lstStyle/>
          <a:p>
            <a:pPr algn="l">
              <a:defRPr sz="1600" b="1">
                <a:solidFill>
                  <a:srgbClr val="F78166"/>
                </a:solidFill>
                <a:latin typeface="Segoe UI"/>
              </a:defRPr>
            </a:pPr>
            <a:r>
              <a:t>Mais subsistemas:</a:t>
            </a:r>
          </a:p>
          <a:p>
            <a:pPr algn="l">
              <a:spcBef>
                <a:spcPts val="300"/>
              </a:spcBef>
              <a:defRPr sz="1200" b="0" i="0">
                <a:solidFill>
                  <a:srgbClr val="B0B8C4"/>
                </a:solidFill>
                <a:latin typeface="Segoe UI"/>
              </a:defRPr>
            </a:pPr>
            <a:r>
              <a:t>• Audio engine (espacial)</a:t>
            </a:r>
          </a:p>
          <a:p>
            <a:pPr algn="l">
              <a:spcBef>
                <a:spcPts val="300"/>
              </a:spcBef>
              <a:defRPr sz="1200" b="0" i="0">
                <a:solidFill>
                  <a:srgbClr val="B0B8C4"/>
                </a:solidFill>
                <a:latin typeface="Segoe UI"/>
              </a:defRPr>
            </a:pPr>
            <a:r>
              <a:t>• Input system (teclado, VR controllers)</a:t>
            </a:r>
          </a:p>
          <a:p>
            <a:pPr algn="l">
              <a:spcBef>
                <a:spcPts val="300"/>
              </a:spcBef>
              <a:defRPr sz="1200" b="0" i="0">
                <a:solidFill>
                  <a:srgbClr val="B0B8C4"/>
                </a:solidFill>
                <a:latin typeface="Segoe UI"/>
              </a:defRPr>
            </a:pPr>
            <a:r>
              <a:t>• Networking (multiplayer)</a:t>
            </a:r>
          </a:p>
          <a:p>
            <a:pPr algn="l">
              <a:spcBef>
                <a:spcPts val="300"/>
              </a:spcBef>
              <a:defRPr sz="1200" b="0" i="0">
                <a:solidFill>
                  <a:srgbClr val="B0B8C4"/>
                </a:solidFill>
                <a:latin typeface="Segoe UI"/>
              </a:defRPr>
            </a:pPr>
            <a:r>
              <a:t>• Scripting (logica do jogo)</a:t>
            </a:r>
          </a:p>
          <a:p>
            <a:pPr algn="l">
              <a:spcBef>
                <a:spcPts val="300"/>
              </a:spcBef>
              <a:defRPr sz="1200" b="0" i="0">
                <a:solidFill>
                  <a:srgbClr val="B0B8C4"/>
                </a:solidFill>
                <a:latin typeface="Segoe UI"/>
              </a:defRPr>
            </a:pPr>
            <a:r>
              <a:t>• Asset pipeline (modelos, texturas)</a:t>
            </a:r>
          </a:p>
          <a:p>
            <a:pPr algn="l">
              <a:spcBef>
                <a:spcPts val="300"/>
              </a:spcBef>
              <a:defRPr sz="1200" b="0" i="0">
                <a:solidFill>
                  <a:srgbClr val="B0B8C4"/>
                </a:solidFill>
                <a:latin typeface="Segoe UI"/>
              </a:defRPr>
            </a:pPr>
            <a:r>
              <a:t>• Scene graph (hierarquia de objetos)</a:t>
            </a:r>
          </a:p>
        </p:txBody>
      </p:sp>
      <p:sp>
        <p:nvSpPr>
          <p:cNvPr id="11" name="TextBox 10"/>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Definicao adaptada de Gregory, J. 'Game Engine Architecture' (3rd ed., CRC Press, 2018)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Unity (C#)</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5029200" cy="45720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4572000" cy="457200"/>
          </a:xfrm>
          <a:prstGeom prst="rect">
            <a:avLst/>
          </a:prstGeom>
          <a:noFill/>
        </p:spPr>
        <p:txBody>
          <a:bodyPr wrap="square">
            <a:spAutoFit/>
          </a:bodyPr>
          <a:lstStyle/>
          <a:p>
            <a:pPr algn="l">
              <a:defRPr sz="2000" b="1">
                <a:solidFill>
                  <a:srgbClr val="58A6FF"/>
                </a:solidFill>
                <a:latin typeface="Segoe UI"/>
              </a:defRPr>
            </a:pPr>
            <a:r>
              <a:t>Caracteristicas</a:t>
            </a:r>
          </a:p>
          <a:p>
            <a:pPr algn="l">
              <a:spcBef>
                <a:spcPts val="500"/>
              </a:spcBef>
              <a:defRPr sz="1400" b="0" i="0">
                <a:solidFill>
                  <a:srgbClr val="B0B8C4"/>
                </a:solidFill>
                <a:latin typeface="Segoe UI"/>
              </a:defRPr>
            </a:pPr>
            <a:r>
              <a:t>• Motor mais usado para VR no mundo</a:t>
            </a:r>
          </a:p>
          <a:p>
            <a:pPr algn="l">
              <a:spcBef>
                <a:spcPts val="500"/>
              </a:spcBef>
              <a:defRPr sz="1400" b="0" i="0">
                <a:solidFill>
                  <a:srgbClr val="B0B8C4"/>
                </a:solidFill>
                <a:latin typeface="Segoe UI"/>
              </a:defRPr>
            </a:pPr>
            <a:r>
              <a:t>• C# (C-Sharp) — linguagem orientada a objetos</a:t>
            </a:r>
          </a:p>
          <a:p>
            <a:pPr algn="l">
              <a:spcBef>
                <a:spcPts val="500"/>
              </a:spcBef>
              <a:defRPr sz="1400" b="0" i="0">
                <a:solidFill>
                  <a:srgbClr val="B0B8C4"/>
                </a:solidFill>
                <a:latin typeface="Segoe UI"/>
              </a:defRPr>
            </a:pPr>
            <a:r>
              <a:t>• Maior ecossistema: Asset Store com milhares de assets</a:t>
            </a:r>
          </a:p>
          <a:p>
            <a:pPr algn="l">
              <a:spcBef>
                <a:spcPts val="500"/>
              </a:spcBef>
              <a:defRPr sz="1400" b="0" i="0">
                <a:solidFill>
                  <a:srgbClr val="B0B8C4"/>
                </a:solidFill>
                <a:latin typeface="Segoe UI"/>
              </a:defRPr>
            </a:pPr>
            <a:r>
              <a:t>• Ideal para Meta Quest (standalone)</a:t>
            </a:r>
          </a:p>
          <a:p>
            <a:pPr algn="l">
              <a:spcBef>
                <a:spcPts val="500"/>
              </a:spcBef>
              <a:defRPr sz="1400" b="0" i="0">
                <a:solidFill>
                  <a:srgbClr val="B0B8C4"/>
                </a:solidFill>
                <a:latin typeface="Segoe UI"/>
              </a:defRPr>
            </a:pPr>
            <a:r>
              <a:t>• Cross-platform: PC, mobile, consolas, web</a:t>
            </a:r>
          </a:p>
          <a:p>
            <a:pPr algn="l">
              <a:spcBef>
                <a:spcPts val="500"/>
              </a:spcBef>
              <a:defRPr sz="1400" b="0" i="0">
                <a:solidFill>
                  <a:srgbClr val="B0B8C4"/>
                </a:solidFill>
                <a:latin typeface="Segoe UI"/>
              </a:defRPr>
            </a:pPr>
            <a:r>
              <a:t>• Versao gratuita para projetos &lt; $200K/ano</a:t>
            </a:r>
          </a:p>
        </p:txBody>
      </p:sp>
      <p:sp>
        <p:nvSpPr>
          <p:cNvPr id="6" name="Rounded Rectangle 5"/>
          <p:cNvSpPr/>
          <p:nvPr/>
        </p:nvSpPr>
        <p:spPr>
          <a:xfrm>
            <a:off x="6217920" y="1463040"/>
            <a:ext cx="5029200" cy="45720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645920"/>
            <a:ext cx="4572000" cy="457200"/>
          </a:xfrm>
          <a:prstGeom prst="rect">
            <a:avLst/>
          </a:prstGeom>
          <a:noFill/>
        </p:spPr>
        <p:txBody>
          <a:bodyPr wrap="square">
            <a:spAutoFit/>
          </a:bodyPr>
          <a:lstStyle/>
          <a:p>
            <a:pPr algn="l">
              <a:defRPr sz="2000" b="1">
                <a:solidFill>
                  <a:srgbClr val="58A6FF"/>
                </a:solidFill>
                <a:latin typeface="Segoe UI"/>
              </a:defRPr>
            </a:pPr>
            <a:r>
              <a:t>Saude: casos de uso</a:t>
            </a:r>
          </a:p>
          <a:p>
            <a:pPr algn="l">
              <a:spcBef>
                <a:spcPts val="500"/>
              </a:spcBef>
              <a:defRPr sz="1400" b="0" i="0">
                <a:solidFill>
                  <a:srgbClr val="B0B8C4"/>
                </a:solidFill>
                <a:latin typeface="Segoe UI"/>
              </a:defRPr>
            </a:pPr>
            <a:r>
              <a:t>• Osso VR — treino cirurgico ortopedico</a:t>
            </a:r>
          </a:p>
          <a:p>
            <a:pPr algn="l">
              <a:spcBef>
                <a:spcPts val="500"/>
              </a:spcBef>
              <a:defRPr sz="1400" b="0" i="0">
                <a:solidFill>
                  <a:srgbClr val="B0B8C4"/>
                </a:solidFill>
                <a:latin typeface="Segoe UI"/>
              </a:defRPr>
            </a:pPr>
            <a:r>
              <a:t>• SimX — simulacao de emergencias medicas</a:t>
            </a:r>
          </a:p>
          <a:p>
            <a:pPr algn="l">
              <a:spcBef>
                <a:spcPts val="500"/>
              </a:spcBef>
              <a:defRPr sz="1400" b="0" i="0">
                <a:solidFill>
                  <a:srgbClr val="B0B8C4"/>
                </a:solidFill>
                <a:latin typeface="Segoe UI"/>
              </a:defRPr>
            </a:pPr>
            <a:r>
              <a:t>• ImmersiveTouch — neurocirurgia VR</a:t>
            </a:r>
          </a:p>
          <a:p>
            <a:pPr algn="l">
              <a:spcBef>
                <a:spcPts val="500"/>
              </a:spcBef>
              <a:defRPr sz="1400" b="0" i="0">
                <a:solidFill>
                  <a:srgbClr val="B0B8C4"/>
                </a:solidFill>
                <a:latin typeface="Segoe UI"/>
              </a:defRPr>
            </a:pPr>
            <a:r>
              <a:t>• Apps AR anatomia (Complete Anatomy)</a:t>
            </a:r>
          </a:p>
          <a:p>
            <a:pPr algn="l">
              <a:spcBef>
                <a:spcPts val="500"/>
              </a:spcBef>
              <a:defRPr sz="1400" b="0" i="0">
                <a:solidFill>
                  <a:srgbClr val="B0B8C4"/>
                </a:solidFill>
                <a:latin typeface="Segoe UI"/>
              </a:defRPr>
            </a:pPr>
            <a:r>
              <a:t>• Jogos de reabilitacao gamificada</a:t>
            </a:r>
          </a:p>
          <a:p>
            <a:pPr algn="l">
              <a:spcBef>
                <a:spcPts val="500"/>
              </a:spcBef>
              <a:defRPr sz="1400" b="0" i="0">
                <a:solidFill>
                  <a:srgbClr val="B0B8C4"/>
                </a:solidFill>
                <a:latin typeface="Segoe UI"/>
              </a:defRPr>
            </a:pPr>
            <a:r>
              <a:t>• Simulacao de dispositivos medicos</a:t>
            </a:r>
          </a:p>
        </p:txBody>
      </p:sp>
      <p:sp>
        <p:nvSpPr>
          <p:cNvPr id="8" name="TextBox 7"/>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Unity Technologies (unity.com) | Versao LTS recomendada para producao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Unreal Engine (C++ / Blueprints)</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5029200" cy="457200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4572000" cy="457200"/>
          </a:xfrm>
          <a:prstGeom prst="rect">
            <a:avLst/>
          </a:prstGeom>
          <a:noFill/>
        </p:spPr>
        <p:txBody>
          <a:bodyPr wrap="square">
            <a:spAutoFit/>
          </a:bodyPr>
          <a:lstStyle/>
          <a:p>
            <a:pPr algn="l">
              <a:defRPr sz="2000" b="1">
                <a:solidFill>
                  <a:srgbClr val="F78166"/>
                </a:solidFill>
                <a:latin typeface="Segoe UI"/>
              </a:defRPr>
            </a:pPr>
            <a:r>
              <a:t>Caracteristicas</a:t>
            </a:r>
          </a:p>
          <a:p>
            <a:pPr algn="l">
              <a:spcBef>
                <a:spcPts val="500"/>
              </a:spcBef>
              <a:defRPr sz="1400" b="0" i="0">
                <a:solidFill>
                  <a:srgbClr val="B0B8C4"/>
                </a:solidFill>
                <a:latin typeface="Segoe UI"/>
              </a:defRPr>
            </a:pPr>
            <a:r>
              <a:t>• Qualidade grafica SUPERIOR (fotorrealismo)</a:t>
            </a:r>
          </a:p>
          <a:p>
            <a:pPr algn="l">
              <a:spcBef>
                <a:spcPts val="500"/>
              </a:spcBef>
              <a:defRPr sz="1400" b="0" i="0">
                <a:solidFill>
                  <a:srgbClr val="B0B8C4"/>
                </a:solidFill>
                <a:latin typeface="Segoe UI"/>
              </a:defRPr>
            </a:pPr>
            <a:r>
              <a:t>• C++ (performance maxima) + Blueprints (visual scripting)</a:t>
            </a:r>
          </a:p>
          <a:p>
            <a:pPr algn="l">
              <a:spcBef>
                <a:spcPts val="500"/>
              </a:spcBef>
              <a:defRPr sz="1400" b="0" i="0">
                <a:solidFill>
                  <a:srgbClr val="B0B8C4"/>
                </a:solidFill>
                <a:latin typeface="Segoe UI"/>
              </a:defRPr>
            </a:pPr>
            <a:r>
              <a:t>• Nanite: geometria virtualizada (trilioes de poligonos)</a:t>
            </a:r>
          </a:p>
          <a:p>
            <a:pPr algn="l">
              <a:spcBef>
                <a:spcPts val="500"/>
              </a:spcBef>
              <a:defRPr sz="1400" b="0" i="0">
                <a:solidFill>
                  <a:srgbClr val="B0B8C4"/>
                </a:solidFill>
                <a:latin typeface="Segoe UI"/>
              </a:defRPr>
            </a:pPr>
            <a:r>
              <a:t>• Lumen: iluminacao global em tempo real</a:t>
            </a:r>
          </a:p>
          <a:p>
            <a:pPr algn="l">
              <a:spcBef>
                <a:spcPts val="500"/>
              </a:spcBef>
              <a:defRPr sz="1400" b="0" i="0">
                <a:solidFill>
                  <a:srgbClr val="B0B8C4"/>
                </a:solidFill>
                <a:latin typeface="Segoe UI"/>
              </a:defRPr>
            </a:pPr>
            <a:r>
              <a:t>• MetaHuman: criacao de humanos fotorrealistas</a:t>
            </a:r>
          </a:p>
          <a:p>
            <a:pPr algn="l">
              <a:spcBef>
                <a:spcPts val="500"/>
              </a:spcBef>
              <a:defRPr sz="1400" b="0" i="0">
                <a:solidFill>
                  <a:srgbClr val="B0B8C4"/>
                </a:solidFill>
                <a:latin typeface="Segoe UI"/>
              </a:defRPr>
            </a:pPr>
            <a:r>
              <a:t>• Gratuito ate $1M receita (5% royalty depois)</a:t>
            </a:r>
          </a:p>
        </p:txBody>
      </p:sp>
      <p:sp>
        <p:nvSpPr>
          <p:cNvPr id="6" name="Rounded Rectangle 5"/>
          <p:cNvSpPr/>
          <p:nvPr/>
        </p:nvSpPr>
        <p:spPr>
          <a:xfrm>
            <a:off x="6217920" y="1463040"/>
            <a:ext cx="5029200" cy="457200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645920"/>
            <a:ext cx="4572000" cy="457200"/>
          </a:xfrm>
          <a:prstGeom prst="rect">
            <a:avLst/>
          </a:prstGeom>
          <a:noFill/>
        </p:spPr>
        <p:txBody>
          <a:bodyPr wrap="square">
            <a:spAutoFit/>
          </a:bodyPr>
          <a:lstStyle/>
          <a:p>
            <a:pPr algn="l">
              <a:defRPr sz="2000" b="1">
                <a:solidFill>
                  <a:srgbClr val="F78166"/>
                </a:solidFill>
                <a:latin typeface="Segoe UI"/>
              </a:defRPr>
            </a:pPr>
            <a:r>
              <a:t>Saude: casos de uso</a:t>
            </a:r>
          </a:p>
          <a:p>
            <a:pPr algn="l">
              <a:spcBef>
                <a:spcPts val="500"/>
              </a:spcBef>
              <a:defRPr sz="1400" b="0" i="0">
                <a:solidFill>
                  <a:srgbClr val="B0B8C4"/>
                </a:solidFill>
                <a:latin typeface="Segoe UI"/>
              </a:defRPr>
            </a:pPr>
            <a:r>
              <a:t>• Simulacao cirurgica alta fidelidade</a:t>
            </a:r>
          </a:p>
          <a:p>
            <a:pPr algn="l">
              <a:spcBef>
                <a:spcPts val="500"/>
              </a:spcBef>
              <a:defRPr sz="1400" b="0" i="0">
                <a:solidFill>
                  <a:srgbClr val="B0B8C4"/>
                </a:solidFill>
                <a:latin typeface="Segoe UI"/>
              </a:defRPr>
            </a:pPr>
            <a:r>
              <a:t>• Visualizacao anatomica fotorrealista</a:t>
            </a:r>
          </a:p>
          <a:p>
            <a:pPr algn="l">
              <a:spcBef>
                <a:spcPts val="500"/>
              </a:spcBef>
              <a:defRPr sz="1400" b="0" i="0">
                <a:solidFill>
                  <a:srgbClr val="B0B8C4"/>
                </a:solidFill>
                <a:latin typeface="Segoe UI"/>
              </a:defRPr>
            </a:pPr>
            <a:r>
              <a:t>• Digital twins de hospitais/blocos</a:t>
            </a:r>
          </a:p>
          <a:p>
            <a:pPr algn="l">
              <a:spcBef>
                <a:spcPts val="500"/>
              </a:spcBef>
              <a:defRPr sz="1400" b="0" i="0">
                <a:solidFill>
                  <a:srgbClr val="B0B8C4"/>
                </a:solidFill>
                <a:latin typeface="Segoe UI"/>
              </a:defRPr>
            </a:pPr>
            <a:r>
              <a:t>• Encontros virtuais com doentes realistas (MetaHuman)</a:t>
            </a:r>
          </a:p>
          <a:p>
            <a:pPr algn="l">
              <a:spcBef>
                <a:spcPts val="500"/>
              </a:spcBef>
              <a:defRPr sz="1400" b="0" i="0">
                <a:solidFill>
                  <a:srgbClr val="B0B8C4"/>
                </a:solidFill>
                <a:latin typeface="Segoe UI"/>
              </a:defRPr>
            </a:pPr>
            <a:r>
              <a:t>• Simulacao de cenarios de emergencia</a:t>
            </a:r>
          </a:p>
          <a:p>
            <a:pPr algn="l">
              <a:spcBef>
                <a:spcPts val="500"/>
              </a:spcBef>
              <a:defRPr sz="1400" b="0" i="0">
                <a:solidFill>
                  <a:srgbClr val="B0B8C4"/>
                </a:solidFill>
                <a:latin typeface="Segoe UI"/>
              </a:defRPr>
            </a:pPr>
            <a:r>
              <a:t>• Requer hardware potente (GPU dedicada)</a:t>
            </a:r>
          </a:p>
        </p:txBody>
      </p:sp>
      <p:sp>
        <p:nvSpPr>
          <p:cNvPr id="8" name="TextBox 7"/>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Epic Games (unrealengine.com) | Blueprints = visual scripting SEM codigo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Comparacao: Unity vs Unreal vs A-Frame</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43891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87680">
                <a:tc>
                  <a:txBody>
                    <a:bodyPr/>
                    <a:lstStyle/>
                    <a:p>
                      <a:pPr>
                        <a:defRPr sz="1400" b="1">
                          <a:solidFill>
                            <a:srgbClr val="FFFFFF"/>
                          </a:solidFill>
                          <a:latin typeface="Segoe UI"/>
                        </a:defRPr>
                      </a:pPr>
                      <a:endParaRPr/>
                    </a:p>
                  </a:txBody>
                  <a:tcPr>
                    <a:solidFill>
                      <a:srgbClr val="1A2A3A"/>
                    </a:solidFill>
                  </a:tcPr>
                </a:tc>
                <a:tc>
                  <a:txBody>
                    <a:bodyPr/>
                    <a:lstStyle/>
                    <a:p>
                      <a:pPr>
                        <a:defRPr sz="1400" b="1">
                          <a:solidFill>
                            <a:srgbClr val="FFFFFF"/>
                          </a:solidFill>
                          <a:latin typeface="Segoe UI"/>
                        </a:defRPr>
                      </a:pPr>
                      <a:r>
                        <a:t>Unity</a:t>
                      </a:r>
                    </a:p>
                  </a:txBody>
                  <a:tcPr>
                    <a:solidFill>
                      <a:srgbClr val="1A2A3A"/>
                    </a:solidFill>
                  </a:tcPr>
                </a:tc>
                <a:tc>
                  <a:txBody>
                    <a:bodyPr/>
                    <a:lstStyle/>
                    <a:p>
                      <a:pPr>
                        <a:defRPr sz="1400" b="1">
                          <a:solidFill>
                            <a:srgbClr val="FFFFFF"/>
                          </a:solidFill>
                          <a:latin typeface="Segoe UI"/>
                        </a:defRPr>
                      </a:pPr>
                      <a:r>
                        <a:t>Unreal Engine</a:t>
                      </a:r>
                    </a:p>
                  </a:txBody>
                  <a:tcPr>
                    <a:solidFill>
                      <a:srgbClr val="1A2A3A"/>
                    </a:solidFill>
                  </a:tcPr>
                </a:tc>
                <a:tc>
                  <a:txBody>
                    <a:bodyPr/>
                    <a:lstStyle/>
                    <a:p>
                      <a:pPr>
                        <a:defRPr sz="1400" b="1">
                          <a:solidFill>
                            <a:srgbClr val="FFFFFF"/>
                          </a:solidFill>
                          <a:latin typeface="Segoe UI"/>
                        </a:defRPr>
                      </a:pPr>
                      <a:r>
                        <a:t>A-Frame</a:t>
                      </a:r>
                    </a:p>
                  </a:txBody>
                  <a:tcPr>
                    <a:solidFill>
                      <a:srgbClr val="1A2A3A"/>
                    </a:solidFill>
                  </a:tcPr>
                </a:tc>
                <a:extLst>
                  <a:ext uri="{0D108BD9-81ED-4DB2-BD59-A6C34878D82A}">
                    <a16:rowId xmlns:a16="http://schemas.microsoft.com/office/drawing/2014/main" val="10000"/>
                  </a:ext>
                </a:extLst>
              </a:tr>
              <a:tr h="487680">
                <a:tc>
                  <a:txBody>
                    <a:bodyPr/>
                    <a:lstStyle/>
                    <a:p>
                      <a:pPr>
                        <a:defRPr sz="1300">
                          <a:solidFill>
                            <a:srgbClr val="B0B8C4"/>
                          </a:solidFill>
                          <a:latin typeface="Segoe UI"/>
                        </a:defRPr>
                      </a:pPr>
                      <a:r>
                        <a:t>Linguagem</a:t>
                      </a:r>
                    </a:p>
                  </a:txBody>
                  <a:tcPr>
                    <a:solidFill>
                      <a:srgbClr val="121820"/>
                    </a:solidFill>
                  </a:tcPr>
                </a:tc>
                <a:tc>
                  <a:txBody>
                    <a:bodyPr/>
                    <a:lstStyle/>
                    <a:p>
                      <a:pPr>
                        <a:defRPr sz="1300">
                          <a:solidFill>
                            <a:srgbClr val="B0B8C4"/>
                          </a:solidFill>
                          <a:latin typeface="Segoe UI"/>
                        </a:defRPr>
                      </a:pPr>
                      <a:r>
                        <a:t>C#</a:t>
                      </a:r>
                    </a:p>
                  </a:txBody>
                  <a:tcPr>
                    <a:solidFill>
                      <a:srgbClr val="121820"/>
                    </a:solidFill>
                  </a:tcPr>
                </a:tc>
                <a:tc>
                  <a:txBody>
                    <a:bodyPr/>
                    <a:lstStyle/>
                    <a:p>
                      <a:pPr>
                        <a:defRPr sz="1300">
                          <a:solidFill>
                            <a:srgbClr val="B0B8C4"/>
                          </a:solidFill>
                          <a:latin typeface="Segoe UI"/>
                        </a:defRPr>
                      </a:pPr>
                      <a:r>
                        <a:t>C++ / Blueprints</a:t>
                      </a:r>
                    </a:p>
                  </a:txBody>
                  <a:tcPr>
                    <a:solidFill>
                      <a:srgbClr val="121820"/>
                    </a:solidFill>
                  </a:tcPr>
                </a:tc>
                <a:tc>
                  <a:txBody>
                    <a:bodyPr/>
                    <a:lstStyle/>
                    <a:p>
                      <a:pPr>
                        <a:defRPr sz="1300">
                          <a:solidFill>
                            <a:srgbClr val="B0B8C4"/>
                          </a:solidFill>
                          <a:latin typeface="Segoe UI"/>
                        </a:defRPr>
                      </a:pPr>
                      <a:r>
                        <a:t>HTML / JavaScript</a:t>
                      </a:r>
                    </a:p>
                  </a:txBody>
                  <a:tcPr>
                    <a:solidFill>
                      <a:srgbClr val="121820"/>
                    </a:solidFill>
                  </a:tcPr>
                </a:tc>
                <a:extLst>
                  <a:ext uri="{0D108BD9-81ED-4DB2-BD59-A6C34878D82A}">
                    <a16:rowId xmlns:a16="http://schemas.microsoft.com/office/drawing/2014/main" val="10001"/>
                  </a:ext>
                </a:extLst>
              </a:tr>
              <a:tr h="487680">
                <a:tc>
                  <a:txBody>
                    <a:bodyPr/>
                    <a:lstStyle/>
                    <a:p>
                      <a:pPr>
                        <a:defRPr sz="1300">
                          <a:solidFill>
                            <a:srgbClr val="B0B8C4"/>
                          </a:solidFill>
                          <a:latin typeface="Segoe UI"/>
                        </a:defRPr>
                      </a:pPr>
                      <a:r>
                        <a:t>Instalacao</a:t>
                      </a:r>
                    </a:p>
                  </a:txBody>
                  <a:tcPr>
                    <a:solidFill>
                      <a:srgbClr val="161E28"/>
                    </a:solidFill>
                  </a:tcPr>
                </a:tc>
                <a:tc>
                  <a:txBody>
                    <a:bodyPr/>
                    <a:lstStyle/>
                    <a:p>
                      <a:pPr>
                        <a:defRPr sz="1300">
                          <a:solidFill>
                            <a:srgbClr val="B0B8C4"/>
                          </a:solidFill>
                          <a:latin typeface="Segoe UI"/>
                        </a:defRPr>
                      </a:pPr>
                      <a:r>
                        <a:t>Sim (2-10 GB)</a:t>
                      </a:r>
                    </a:p>
                  </a:txBody>
                  <a:tcPr>
                    <a:solidFill>
                      <a:srgbClr val="161E28"/>
                    </a:solidFill>
                  </a:tcPr>
                </a:tc>
                <a:tc>
                  <a:txBody>
                    <a:bodyPr/>
                    <a:lstStyle/>
                    <a:p>
                      <a:pPr>
                        <a:defRPr sz="1300">
                          <a:solidFill>
                            <a:srgbClr val="B0B8C4"/>
                          </a:solidFill>
                          <a:latin typeface="Segoe UI"/>
                        </a:defRPr>
                      </a:pPr>
                      <a:r>
                        <a:t>Sim (30-50 GB)</a:t>
                      </a:r>
                    </a:p>
                  </a:txBody>
                  <a:tcPr>
                    <a:solidFill>
                      <a:srgbClr val="161E28"/>
                    </a:solidFill>
                  </a:tcPr>
                </a:tc>
                <a:tc>
                  <a:txBody>
                    <a:bodyPr/>
                    <a:lstStyle/>
                    <a:p>
                      <a:pPr>
                        <a:defRPr sz="1300">
                          <a:solidFill>
                            <a:srgbClr val="B0B8C4"/>
                          </a:solidFill>
                          <a:latin typeface="Segoe UI"/>
                        </a:defRPr>
                      </a:pPr>
                      <a:r>
                        <a:t>NAO (browser)</a:t>
                      </a:r>
                    </a:p>
                  </a:txBody>
                  <a:tcPr>
                    <a:solidFill>
                      <a:srgbClr val="161E28"/>
                    </a:solidFill>
                  </a:tcPr>
                </a:tc>
                <a:extLst>
                  <a:ext uri="{0D108BD9-81ED-4DB2-BD59-A6C34878D82A}">
                    <a16:rowId xmlns:a16="http://schemas.microsoft.com/office/drawing/2014/main" val="10002"/>
                  </a:ext>
                </a:extLst>
              </a:tr>
              <a:tr h="487680">
                <a:tc>
                  <a:txBody>
                    <a:bodyPr/>
                    <a:lstStyle/>
                    <a:p>
                      <a:pPr>
                        <a:defRPr sz="1300">
                          <a:solidFill>
                            <a:srgbClr val="B0B8C4"/>
                          </a:solidFill>
                          <a:latin typeface="Segoe UI"/>
                        </a:defRPr>
                      </a:pPr>
                      <a:r>
                        <a:t>Curva aprendizagem</a:t>
                      </a:r>
                    </a:p>
                  </a:txBody>
                  <a:tcPr>
                    <a:solidFill>
                      <a:srgbClr val="121820"/>
                    </a:solidFill>
                  </a:tcPr>
                </a:tc>
                <a:tc>
                  <a:txBody>
                    <a:bodyPr/>
                    <a:lstStyle/>
                    <a:p>
                      <a:pPr>
                        <a:defRPr sz="1300">
                          <a:solidFill>
                            <a:srgbClr val="B0B8C4"/>
                          </a:solidFill>
                          <a:latin typeface="Segoe UI"/>
                        </a:defRPr>
                      </a:pPr>
                      <a:r>
                        <a:t>Media</a:t>
                      </a:r>
                    </a:p>
                  </a:txBody>
                  <a:tcPr>
                    <a:solidFill>
                      <a:srgbClr val="121820"/>
                    </a:solidFill>
                  </a:tcPr>
                </a:tc>
                <a:tc>
                  <a:txBody>
                    <a:bodyPr/>
                    <a:lstStyle/>
                    <a:p>
                      <a:pPr>
                        <a:defRPr sz="1300">
                          <a:solidFill>
                            <a:srgbClr val="B0B8C4"/>
                          </a:solidFill>
                          <a:latin typeface="Segoe UI"/>
                        </a:defRPr>
                      </a:pPr>
                      <a:r>
                        <a:t>Dificil</a:t>
                      </a:r>
                    </a:p>
                  </a:txBody>
                  <a:tcPr>
                    <a:solidFill>
                      <a:srgbClr val="121820"/>
                    </a:solidFill>
                  </a:tcPr>
                </a:tc>
                <a:tc>
                  <a:txBody>
                    <a:bodyPr/>
                    <a:lstStyle/>
                    <a:p>
                      <a:pPr>
                        <a:defRPr sz="1300">
                          <a:solidFill>
                            <a:srgbClr val="B0B8C4"/>
                          </a:solidFill>
                          <a:latin typeface="Segoe UI"/>
                        </a:defRPr>
                      </a:pPr>
                      <a:r>
                        <a:t>FACIL</a:t>
                      </a:r>
                    </a:p>
                  </a:txBody>
                  <a:tcPr>
                    <a:solidFill>
                      <a:srgbClr val="121820"/>
                    </a:solidFill>
                  </a:tcPr>
                </a:tc>
                <a:extLst>
                  <a:ext uri="{0D108BD9-81ED-4DB2-BD59-A6C34878D82A}">
                    <a16:rowId xmlns:a16="http://schemas.microsoft.com/office/drawing/2014/main" val="10003"/>
                  </a:ext>
                </a:extLst>
              </a:tr>
              <a:tr h="487680">
                <a:tc>
                  <a:txBody>
                    <a:bodyPr/>
                    <a:lstStyle/>
                    <a:p>
                      <a:pPr>
                        <a:defRPr sz="1300">
                          <a:solidFill>
                            <a:srgbClr val="B0B8C4"/>
                          </a:solidFill>
                          <a:latin typeface="Segoe UI"/>
                        </a:defRPr>
                      </a:pPr>
                      <a:r>
                        <a:t>Qualidade grafica</a:t>
                      </a:r>
                    </a:p>
                  </a:txBody>
                  <a:tcPr>
                    <a:solidFill>
                      <a:srgbClr val="161E28"/>
                    </a:solidFill>
                  </a:tcPr>
                </a:tc>
                <a:tc>
                  <a:txBody>
                    <a:bodyPr/>
                    <a:lstStyle/>
                    <a:p>
                      <a:pPr>
                        <a:defRPr sz="1300">
                          <a:solidFill>
                            <a:srgbClr val="B0B8C4"/>
                          </a:solidFill>
                          <a:latin typeface="Segoe UI"/>
                        </a:defRPr>
                      </a:pPr>
                      <a:r>
                        <a:t>Boa</a:t>
                      </a:r>
                    </a:p>
                  </a:txBody>
                  <a:tcPr>
                    <a:solidFill>
                      <a:srgbClr val="161E28"/>
                    </a:solidFill>
                  </a:tcPr>
                </a:tc>
                <a:tc>
                  <a:txBody>
                    <a:bodyPr/>
                    <a:lstStyle/>
                    <a:p>
                      <a:pPr>
                        <a:defRPr sz="1300">
                          <a:solidFill>
                            <a:srgbClr val="B0B8C4"/>
                          </a:solidFill>
                          <a:latin typeface="Segoe UI"/>
                        </a:defRPr>
                      </a:pPr>
                      <a:r>
                        <a:t>Excelente</a:t>
                      </a:r>
                    </a:p>
                  </a:txBody>
                  <a:tcPr>
                    <a:solidFill>
                      <a:srgbClr val="161E28"/>
                    </a:solidFill>
                  </a:tcPr>
                </a:tc>
                <a:tc>
                  <a:txBody>
                    <a:bodyPr/>
                    <a:lstStyle/>
                    <a:p>
                      <a:pPr>
                        <a:defRPr sz="1300">
                          <a:solidFill>
                            <a:srgbClr val="B0B8C4"/>
                          </a:solidFill>
                          <a:latin typeface="Segoe UI"/>
                        </a:defRPr>
                      </a:pPr>
                      <a:r>
                        <a:t>Basica a Boa</a:t>
                      </a:r>
                    </a:p>
                  </a:txBody>
                  <a:tcPr>
                    <a:solidFill>
                      <a:srgbClr val="161E28"/>
                    </a:solidFill>
                  </a:tcPr>
                </a:tc>
                <a:extLst>
                  <a:ext uri="{0D108BD9-81ED-4DB2-BD59-A6C34878D82A}">
                    <a16:rowId xmlns:a16="http://schemas.microsoft.com/office/drawing/2014/main" val="10004"/>
                  </a:ext>
                </a:extLst>
              </a:tr>
              <a:tr h="487680">
                <a:tc>
                  <a:txBody>
                    <a:bodyPr/>
                    <a:lstStyle/>
                    <a:p>
                      <a:pPr>
                        <a:defRPr sz="1300">
                          <a:solidFill>
                            <a:srgbClr val="B0B8C4"/>
                          </a:solidFill>
                          <a:latin typeface="Segoe UI"/>
                        </a:defRPr>
                      </a:pPr>
                      <a:r>
                        <a:t>Suporte VR</a:t>
                      </a:r>
                    </a:p>
                  </a:txBody>
                  <a:tcPr>
                    <a:solidFill>
                      <a:srgbClr val="121820"/>
                    </a:solidFill>
                  </a:tcPr>
                </a:tc>
                <a:tc>
                  <a:txBody>
                    <a:bodyPr/>
                    <a:lstStyle/>
                    <a:p>
                      <a:pPr>
                        <a:defRPr sz="1300">
                          <a:solidFill>
                            <a:srgbClr val="B0B8C4"/>
                          </a:solidFill>
                          <a:latin typeface="Segoe UI"/>
                        </a:defRPr>
                      </a:pPr>
                      <a:r>
                        <a:t>Excelente</a:t>
                      </a:r>
                    </a:p>
                  </a:txBody>
                  <a:tcPr>
                    <a:solidFill>
                      <a:srgbClr val="121820"/>
                    </a:solidFill>
                  </a:tcPr>
                </a:tc>
                <a:tc>
                  <a:txBody>
                    <a:bodyPr/>
                    <a:lstStyle/>
                    <a:p>
                      <a:pPr>
                        <a:defRPr sz="1300">
                          <a:solidFill>
                            <a:srgbClr val="B0B8C4"/>
                          </a:solidFill>
                          <a:latin typeface="Segoe UI"/>
                        </a:defRPr>
                      </a:pPr>
                      <a:r>
                        <a:t>Excelente</a:t>
                      </a:r>
                    </a:p>
                  </a:txBody>
                  <a:tcPr>
                    <a:solidFill>
                      <a:srgbClr val="121820"/>
                    </a:solidFill>
                  </a:tcPr>
                </a:tc>
                <a:tc>
                  <a:txBody>
                    <a:bodyPr/>
                    <a:lstStyle/>
                    <a:p>
                      <a:pPr>
                        <a:defRPr sz="1300">
                          <a:solidFill>
                            <a:srgbClr val="B0B8C4"/>
                          </a:solidFill>
                          <a:latin typeface="Segoe UI"/>
                        </a:defRPr>
                      </a:pPr>
                      <a:r>
                        <a:t>Bom (WebXR)</a:t>
                      </a:r>
                    </a:p>
                  </a:txBody>
                  <a:tcPr>
                    <a:solidFill>
                      <a:srgbClr val="121820"/>
                    </a:solidFill>
                  </a:tcPr>
                </a:tc>
                <a:extLst>
                  <a:ext uri="{0D108BD9-81ED-4DB2-BD59-A6C34878D82A}">
                    <a16:rowId xmlns:a16="http://schemas.microsoft.com/office/drawing/2014/main" val="10005"/>
                  </a:ext>
                </a:extLst>
              </a:tr>
              <a:tr h="487680">
                <a:tc>
                  <a:txBody>
                    <a:bodyPr/>
                    <a:lstStyle/>
                    <a:p>
                      <a:pPr>
                        <a:defRPr sz="1300">
                          <a:solidFill>
                            <a:srgbClr val="B0B8C4"/>
                          </a:solidFill>
                          <a:latin typeface="Segoe UI"/>
                        </a:defRPr>
                      </a:pPr>
                      <a:r>
                        <a:t>Preco</a:t>
                      </a:r>
                    </a:p>
                  </a:txBody>
                  <a:tcPr>
                    <a:solidFill>
                      <a:srgbClr val="161E28"/>
                    </a:solidFill>
                  </a:tcPr>
                </a:tc>
                <a:tc>
                  <a:txBody>
                    <a:bodyPr/>
                    <a:lstStyle/>
                    <a:p>
                      <a:pPr>
                        <a:defRPr sz="1300">
                          <a:solidFill>
                            <a:srgbClr val="B0B8C4"/>
                          </a:solidFill>
                          <a:latin typeface="Segoe UI"/>
                        </a:defRPr>
                      </a:pPr>
                      <a:r>
                        <a:t>Gratis (&lt; $200K)</a:t>
                      </a:r>
                    </a:p>
                  </a:txBody>
                  <a:tcPr>
                    <a:solidFill>
                      <a:srgbClr val="161E28"/>
                    </a:solidFill>
                  </a:tcPr>
                </a:tc>
                <a:tc>
                  <a:txBody>
                    <a:bodyPr/>
                    <a:lstStyle/>
                    <a:p>
                      <a:pPr>
                        <a:defRPr sz="1300">
                          <a:solidFill>
                            <a:srgbClr val="B0B8C4"/>
                          </a:solidFill>
                          <a:latin typeface="Segoe UI"/>
                        </a:defRPr>
                      </a:pPr>
                      <a:r>
                        <a:t>Gratis (&lt; $1M)</a:t>
                      </a:r>
                    </a:p>
                  </a:txBody>
                  <a:tcPr>
                    <a:solidFill>
                      <a:srgbClr val="161E28"/>
                    </a:solidFill>
                  </a:tcPr>
                </a:tc>
                <a:tc>
                  <a:txBody>
                    <a:bodyPr/>
                    <a:lstStyle/>
                    <a:p>
                      <a:pPr>
                        <a:defRPr sz="1300">
                          <a:solidFill>
                            <a:srgbClr val="B0B8C4"/>
                          </a:solidFill>
                          <a:latin typeface="Segoe UI"/>
                        </a:defRPr>
                      </a:pPr>
                      <a:r>
                        <a:t>GRATUITO (sempre)</a:t>
                      </a:r>
                    </a:p>
                  </a:txBody>
                  <a:tcPr>
                    <a:solidFill>
                      <a:srgbClr val="161E28"/>
                    </a:solidFill>
                  </a:tcPr>
                </a:tc>
                <a:extLst>
                  <a:ext uri="{0D108BD9-81ED-4DB2-BD59-A6C34878D82A}">
                    <a16:rowId xmlns:a16="http://schemas.microsoft.com/office/drawing/2014/main" val="10006"/>
                  </a:ext>
                </a:extLst>
              </a:tr>
              <a:tr h="487680">
                <a:tc>
                  <a:txBody>
                    <a:bodyPr/>
                    <a:lstStyle/>
                    <a:p>
                      <a:pPr>
                        <a:defRPr sz="1300">
                          <a:solidFill>
                            <a:srgbClr val="B0B8C4"/>
                          </a:solidFill>
                          <a:latin typeface="Segoe UI"/>
                        </a:defRPr>
                      </a:pPr>
                      <a:r>
                        <a:t>Melhor para</a:t>
                      </a:r>
                    </a:p>
                  </a:txBody>
                  <a:tcPr>
                    <a:solidFill>
                      <a:srgbClr val="121820"/>
                    </a:solidFill>
                  </a:tcPr>
                </a:tc>
                <a:tc>
                  <a:txBody>
                    <a:bodyPr/>
                    <a:lstStyle/>
                    <a:p>
                      <a:pPr>
                        <a:defRPr sz="1300">
                          <a:solidFill>
                            <a:srgbClr val="B0B8C4"/>
                          </a:solidFill>
                          <a:latin typeface="Segoe UI"/>
                        </a:defRPr>
                      </a:pPr>
                      <a:r>
                        <a:t>Apps producao, Quest</a:t>
                      </a:r>
                    </a:p>
                  </a:txBody>
                  <a:tcPr>
                    <a:solidFill>
                      <a:srgbClr val="121820"/>
                    </a:solidFill>
                  </a:tcPr>
                </a:tc>
                <a:tc>
                  <a:txBody>
                    <a:bodyPr/>
                    <a:lstStyle/>
                    <a:p>
                      <a:pPr>
                        <a:defRPr sz="1300">
                          <a:solidFill>
                            <a:srgbClr val="B0B8C4"/>
                          </a:solidFill>
                          <a:latin typeface="Segoe UI"/>
                        </a:defRPr>
                      </a:pPr>
                      <a:r>
                        <a:t>Simulacao high-end</a:t>
                      </a:r>
                    </a:p>
                  </a:txBody>
                  <a:tcPr>
                    <a:solidFill>
                      <a:srgbClr val="121820"/>
                    </a:solidFill>
                  </a:tcPr>
                </a:tc>
                <a:tc>
                  <a:txBody>
                    <a:bodyPr/>
                    <a:lstStyle/>
                    <a:p>
                      <a:pPr>
                        <a:defRPr sz="1300">
                          <a:solidFill>
                            <a:srgbClr val="B0B8C4"/>
                          </a:solidFill>
                          <a:latin typeface="Segoe UI"/>
                        </a:defRPr>
                      </a:pPr>
                      <a:r>
                        <a:t>APRENDER, prototipar</a:t>
                      </a:r>
                    </a:p>
                  </a:txBody>
                  <a:tcPr>
                    <a:solidFill>
                      <a:srgbClr val="121820"/>
                    </a:solidFill>
                  </a:tcPr>
                </a:tc>
                <a:extLst>
                  <a:ext uri="{0D108BD9-81ED-4DB2-BD59-A6C34878D82A}">
                    <a16:rowId xmlns:a16="http://schemas.microsoft.com/office/drawing/2014/main" val="10007"/>
                  </a:ext>
                </a:extLst>
              </a:tr>
              <a:tr h="487680">
                <a:tc>
                  <a:txBody>
                    <a:bodyPr/>
                    <a:lstStyle/>
                    <a:p>
                      <a:pPr>
                        <a:defRPr sz="1300">
                          <a:solidFill>
                            <a:srgbClr val="B0B8C4"/>
                          </a:solidFill>
                          <a:latin typeface="Segoe UI"/>
                        </a:defRPr>
                      </a:pPr>
                      <a:r>
                        <a:t>Tempo ate 1.a cena</a:t>
                      </a:r>
                    </a:p>
                  </a:txBody>
                  <a:tcPr>
                    <a:solidFill>
                      <a:srgbClr val="161E28"/>
                    </a:solidFill>
                  </a:tcPr>
                </a:tc>
                <a:tc>
                  <a:txBody>
                    <a:bodyPr/>
                    <a:lstStyle/>
                    <a:p>
                      <a:pPr>
                        <a:defRPr sz="1300">
                          <a:solidFill>
                            <a:srgbClr val="B0B8C4"/>
                          </a:solidFill>
                          <a:latin typeface="Segoe UI"/>
                        </a:defRPr>
                      </a:pPr>
                      <a:r>
                        <a:t>Horas</a:t>
                      </a:r>
                    </a:p>
                  </a:txBody>
                  <a:tcPr>
                    <a:solidFill>
                      <a:srgbClr val="161E28"/>
                    </a:solidFill>
                  </a:tcPr>
                </a:tc>
                <a:tc>
                  <a:txBody>
                    <a:bodyPr/>
                    <a:lstStyle/>
                    <a:p>
                      <a:pPr>
                        <a:defRPr sz="1300">
                          <a:solidFill>
                            <a:srgbClr val="B0B8C4"/>
                          </a:solidFill>
                          <a:latin typeface="Segoe UI"/>
                        </a:defRPr>
                      </a:pPr>
                      <a:r>
                        <a:t>Horas</a:t>
                      </a:r>
                    </a:p>
                  </a:txBody>
                  <a:tcPr>
                    <a:solidFill>
                      <a:srgbClr val="161E28"/>
                    </a:solidFill>
                  </a:tcPr>
                </a:tc>
                <a:tc>
                  <a:txBody>
                    <a:bodyPr/>
                    <a:lstStyle/>
                    <a:p>
                      <a:pPr>
                        <a:defRPr sz="1300">
                          <a:solidFill>
                            <a:srgbClr val="B0B8C4"/>
                          </a:solidFill>
                          <a:latin typeface="Segoe UI"/>
                        </a:defRPr>
                      </a:pPr>
                      <a:r>
                        <a:t>MINUTOS</a:t>
                      </a:r>
                    </a:p>
                  </a:txBody>
                  <a:tcPr>
                    <a:solidFill>
                      <a:srgbClr val="161E2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HTML: A Linguagem da Web</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11254292" cy="6140142"/>
          </a:xfrm>
          <a:prstGeom prst="rect">
            <a:avLst/>
          </a:prstGeom>
          <a:noFill/>
        </p:spPr>
        <p:txBody>
          <a:bodyPr wrap="square">
            <a:spAutoFit/>
          </a:bodyPr>
          <a:lstStyle/>
          <a:p>
            <a:pPr algn="l">
              <a:defRPr sz="2000" b="1">
                <a:solidFill>
                  <a:srgbClr val="58A6FF"/>
                </a:solidFill>
                <a:latin typeface="Segoe UI"/>
              </a:defRPr>
            </a:pPr>
            <a:r>
              <a:rPr dirty="0" err="1"/>
              <a:t>HyperText</a:t>
            </a:r>
            <a:r>
              <a:rPr dirty="0"/>
              <a:t> Markup Language</a:t>
            </a:r>
          </a:p>
          <a:p>
            <a:pPr algn="l">
              <a:spcBef>
                <a:spcPts val="600"/>
              </a:spcBef>
              <a:defRPr sz="400" b="0" i="0">
                <a:solidFill>
                  <a:srgbClr val="FFFFFF"/>
                </a:solidFill>
                <a:latin typeface="Segoe UI"/>
              </a:defRPr>
            </a:pPr>
            <a:endParaRPr dirty="0"/>
          </a:p>
          <a:p>
            <a:pPr algn="l">
              <a:spcBef>
                <a:spcPts val="600"/>
              </a:spcBef>
              <a:defRPr sz="1700" b="1" i="0">
                <a:solidFill>
                  <a:srgbClr val="F78166"/>
                </a:solidFill>
                <a:latin typeface="Segoe UI"/>
              </a:defRPr>
            </a:pPr>
            <a:r>
              <a:rPr dirty="0"/>
              <a:t>NAO e </a:t>
            </a:r>
            <a:r>
              <a:rPr dirty="0" err="1"/>
              <a:t>uma</a:t>
            </a:r>
            <a:r>
              <a:rPr dirty="0"/>
              <a:t> </a:t>
            </a:r>
            <a:r>
              <a:rPr dirty="0" err="1"/>
              <a:t>linguagem</a:t>
            </a:r>
            <a:r>
              <a:rPr dirty="0"/>
              <a:t> de </a:t>
            </a:r>
            <a:r>
              <a:rPr dirty="0" err="1"/>
              <a:t>programacao</a:t>
            </a:r>
            <a:r>
              <a:rPr dirty="0"/>
              <a:t>.</a:t>
            </a:r>
          </a:p>
          <a:p>
            <a:pPr algn="l">
              <a:spcBef>
                <a:spcPts val="600"/>
              </a:spcBef>
              <a:defRPr sz="1700" b="0" i="0">
                <a:solidFill>
                  <a:srgbClr val="B0B8C4"/>
                </a:solidFill>
                <a:latin typeface="Segoe UI"/>
              </a:defRPr>
            </a:pPr>
            <a:r>
              <a:rPr dirty="0"/>
              <a:t>E </a:t>
            </a:r>
            <a:r>
              <a:rPr dirty="0" err="1"/>
              <a:t>uma</a:t>
            </a:r>
            <a:r>
              <a:rPr dirty="0"/>
              <a:t> </a:t>
            </a:r>
            <a:r>
              <a:rPr dirty="0" err="1"/>
              <a:t>linguagem</a:t>
            </a:r>
            <a:r>
              <a:rPr dirty="0"/>
              <a:t> de MARCACAO — </a:t>
            </a:r>
            <a:r>
              <a:rPr dirty="0" err="1"/>
              <a:t>descreve</a:t>
            </a:r>
            <a:r>
              <a:rPr dirty="0"/>
              <a:t> a ESTRUTURA</a:t>
            </a:r>
          </a:p>
          <a:p>
            <a:pPr algn="l">
              <a:spcBef>
                <a:spcPts val="600"/>
              </a:spcBef>
              <a:defRPr sz="1700" b="0" i="0">
                <a:solidFill>
                  <a:srgbClr val="B0B8C4"/>
                </a:solidFill>
                <a:latin typeface="Segoe UI"/>
              </a:defRPr>
            </a:pPr>
            <a:r>
              <a:rPr dirty="0"/>
              <a:t>de um </a:t>
            </a:r>
            <a:r>
              <a:rPr dirty="0" err="1"/>
              <a:t>documento</a:t>
            </a:r>
            <a:r>
              <a:rPr dirty="0"/>
              <a:t> (</a:t>
            </a:r>
            <a:r>
              <a:rPr dirty="0" err="1"/>
              <a:t>como</a:t>
            </a:r>
            <a:r>
              <a:rPr dirty="0"/>
              <a:t> XML, </a:t>
            </a:r>
            <a:r>
              <a:rPr dirty="0" err="1"/>
              <a:t>como</a:t>
            </a:r>
            <a:r>
              <a:rPr dirty="0"/>
              <a:t> um </a:t>
            </a:r>
            <a:r>
              <a:rPr dirty="0" err="1"/>
              <a:t>formulario</a:t>
            </a:r>
            <a:r>
              <a:rPr dirty="0"/>
              <a:t> </a:t>
            </a:r>
            <a:r>
              <a:rPr dirty="0" err="1"/>
              <a:t>clinico</a:t>
            </a:r>
            <a:r>
              <a:rPr dirty="0"/>
              <a:t>).</a:t>
            </a:r>
          </a:p>
          <a:p>
            <a:pPr algn="l">
              <a:spcBef>
                <a:spcPts val="600"/>
              </a:spcBef>
              <a:defRPr sz="800" b="0" i="0">
                <a:solidFill>
                  <a:srgbClr val="FFFFFF"/>
                </a:solidFill>
                <a:latin typeface="Segoe UI"/>
              </a:defRPr>
            </a:pPr>
            <a:endParaRPr dirty="0"/>
          </a:p>
          <a:p>
            <a:pPr algn="l">
              <a:spcBef>
                <a:spcPts val="600"/>
              </a:spcBef>
              <a:defRPr sz="1700" b="1" i="0">
                <a:solidFill>
                  <a:srgbClr val="FFFFFF"/>
                </a:solidFill>
                <a:latin typeface="Segoe UI"/>
              </a:defRPr>
            </a:pPr>
            <a:r>
              <a:rPr dirty="0" err="1"/>
              <a:t>Conceitos</a:t>
            </a:r>
            <a:r>
              <a:rPr dirty="0"/>
              <a:t> </a:t>
            </a:r>
            <a:r>
              <a:rPr dirty="0" err="1"/>
              <a:t>fundamentais</a:t>
            </a:r>
            <a:r>
              <a:rPr dirty="0"/>
              <a:t>:</a:t>
            </a:r>
          </a:p>
          <a:p>
            <a:pPr algn="l">
              <a:spcBef>
                <a:spcPts val="600"/>
              </a:spcBef>
              <a:defRPr sz="400" b="0" i="0">
                <a:solidFill>
                  <a:srgbClr val="FFFFFF"/>
                </a:solidFill>
                <a:latin typeface="Segoe UI"/>
              </a:defRPr>
            </a:pPr>
            <a:endParaRPr dirty="0"/>
          </a:p>
          <a:p>
            <a:pPr algn="l">
              <a:spcBef>
                <a:spcPts val="600"/>
              </a:spcBef>
              <a:defRPr sz="1600" b="1" i="0">
                <a:solidFill>
                  <a:srgbClr val="3FB950"/>
                </a:solidFill>
                <a:latin typeface="Segoe UI"/>
              </a:defRPr>
            </a:pPr>
            <a:r>
              <a:rPr dirty="0"/>
              <a:t>TAG — </a:t>
            </a:r>
            <a:r>
              <a:rPr dirty="0" err="1"/>
              <a:t>instrucao</a:t>
            </a:r>
            <a:r>
              <a:rPr dirty="0"/>
              <a:t> entre &lt; &gt;</a:t>
            </a:r>
          </a:p>
          <a:p>
            <a:pPr algn="l">
              <a:spcBef>
                <a:spcPts val="600"/>
              </a:spcBef>
              <a:defRPr sz="1400" b="0" i="0">
                <a:solidFill>
                  <a:srgbClr val="3FB950"/>
                </a:solidFill>
                <a:latin typeface="Segoe UI"/>
              </a:defRPr>
            </a:pPr>
            <a:r>
              <a:rPr dirty="0"/>
              <a:t>  &lt;title&gt;Aula VR&lt;/title&gt;</a:t>
            </a:r>
          </a:p>
          <a:p>
            <a:pPr algn="l">
              <a:spcBef>
                <a:spcPts val="600"/>
              </a:spcBef>
              <a:defRPr sz="1300" b="0" i="0">
                <a:solidFill>
                  <a:srgbClr val="6E7681"/>
                </a:solidFill>
                <a:latin typeface="Segoe UI"/>
              </a:defRPr>
            </a:pPr>
            <a:r>
              <a:rPr dirty="0"/>
              <a:t>  ^</a:t>
            </a:r>
            <a:r>
              <a:rPr dirty="0" err="1"/>
              <a:t>abertura</a:t>
            </a:r>
            <a:r>
              <a:rPr dirty="0"/>
              <a:t>  ^</a:t>
            </a:r>
            <a:r>
              <a:rPr dirty="0" err="1"/>
              <a:t>conteudo</a:t>
            </a:r>
            <a:r>
              <a:rPr dirty="0"/>
              <a:t>  ^</a:t>
            </a:r>
            <a:r>
              <a:rPr dirty="0" err="1"/>
              <a:t>fecho</a:t>
            </a:r>
            <a:endParaRPr dirty="0"/>
          </a:p>
          <a:p>
            <a:pPr algn="l">
              <a:spcBef>
                <a:spcPts val="600"/>
              </a:spcBef>
              <a:defRPr sz="600" b="0" i="0">
                <a:solidFill>
                  <a:srgbClr val="FFFFFF"/>
                </a:solidFill>
                <a:latin typeface="Segoe UI"/>
              </a:defRPr>
            </a:pPr>
            <a:endParaRPr dirty="0"/>
          </a:p>
          <a:p>
            <a:pPr algn="l">
              <a:spcBef>
                <a:spcPts val="600"/>
              </a:spcBef>
              <a:defRPr sz="1600" b="1" i="0">
                <a:solidFill>
                  <a:srgbClr val="3FB950"/>
                </a:solidFill>
                <a:latin typeface="Segoe UI"/>
              </a:defRPr>
            </a:pPr>
            <a:r>
              <a:rPr dirty="0"/>
              <a:t>ATRIBUTO — </a:t>
            </a:r>
            <a:r>
              <a:rPr dirty="0" err="1"/>
              <a:t>propriedade</a:t>
            </a:r>
            <a:r>
              <a:rPr dirty="0"/>
              <a:t> </a:t>
            </a:r>
            <a:r>
              <a:rPr dirty="0" err="1"/>
              <a:t>dentro</a:t>
            </a:r>
            <a:r>
              <a:rPr dirty="0"/>
              <a:t> da tag</a:t>
            </a:r>
          </a:p>
          <a:p>
            <a:pPr algn="l">
              <a:spcBef>
                <a:spcPts val="600"/>
              </a:spcBef>
              <a:defRPr sz="1400" b="0" i="0">
                <a:solidFill>
                  <a:srgbClr val="3FB950"/>
                </a:solidFill>
                <a:latin typeface="Segoe UI"/>
              </a:defRPr>
            </a:pPr>
            <a:r>
              <a:rPr dirty="0"/>
              <a:t>  &lt;a-box color="red" position="0 1 -5"&gt;</a:t>
            </a:r>
          </a:p>
          <a:p>
            <a:pPr algn="l">
              <a:spcBef>
                <a:spcPts val="600"/>
              </a:spcBef>
              <a:defRPr sz="1300" b="0" i="0">
                <a:solidFill>
                  <a:srgbClr val="6E7681"/>
                </a:solidFill>
                <a:latin typeface="Segoe UI"/>
              </a:defRPr>
            </a:pPr>
            <a:r>
              <a:rPr dirty="0"/>
              <a:t>         ^</a:t>
            </a:r>
            <a:r>
              <a:rPr dirty="0" err="1"/>
              <a:t>nome</a:t>
            </a:r>
            <a:r>
              <a:rPr dirty="0"/>
              <a:t>="valor"  ^</a:t>
            </a:r>
            <a:r>
              <a:rPr dirty="0" err="1"/>
              <a:t>nome</a:t>
            </a:r>
            <a:r>
              <a:rPr dirty="0"/>
              <a:t>="valor"</a:t>
            </a:r>
          </a:p>
          <a:p>
            <a:pPr algn="l">
              <a:spcBef>
                <a:spcPts val="600"/>
              </a:spcBef>
              <a:defRPr sz="600" b="0" i="0">
                <a:solidFill>
                  <a:srgbClr val="FFFFFF"/>
                </a:solidFill>
                <a:latin typeface="Segoe UI"/>
              </a:defRPr>
            </a:pPr>
            <a:endParaRPr dirty="0"/>
          </a:p>
          <a:p>
            <a:pPr algn="l">
              <a:spcBef>
                <a:spcPts val="600"/>
              </a:spcBef>
              <a:defRPr sz="1600" b="1" i="0">
                <a:solidFill>
                  <a:srgbClr val="3FB950"/>
                </a:solidFill>
                <a:latin typeface="Segoe UI"/>
              </a:defRPr>
            </a:pPr>
            <a:r>
              <a:rPr dirty="0"/>
              <a:t>NESTING — tags </a:t>
            </a:r>
            <a:r>
              <a:rPr dirty="0" err="1"/>
              <a:t>dentro</a:t>
            </a:r>
            <a:r>
              <a:rPr dirty="0"/>
              <a:t> de tags (</a:t>
            </a:r>
            <a:r>
              <a:rPr dirty="0" err="1"/>
              <a:t>hierarquia</a:t>
            </a:r>
            <a:r>
              <a:rPr dirty="0"/>
              <a:t>)</a:t>
            </a:r>
          </a:p>
          <a:p>
            <a:pPr algn="l">
              <a:spcBef>
                <a:spcPts val="600"/>
              </a:spcBef>
              <a:defRPr sz="1400" b="0" i="0">
                <a:solidFill>
                  <a:srgbClr val="3FB950"/>
                </a:solidFill>
                <a:latin typeface="Segoe UI"/>
              </a:defRPr>
            </a:pPr>
            <a:r>
              <a:rPr dirty="0"/>
              <a:t>  &lt;body&gt;</a:t>
            </a:r>
          </a:p>
          <a:p>
            <a:pPr algn="l">
              <a:spcBef>
                <a:spcPts val="600"/>
              </a:spcBef>
              <a:defRPr sz="1400" b="0" i="0">
                <a:solidFill>
                  <a:srgbClr val="3FB950"/>
                </a:solidFill>
                <a:latin typeface="Segoe UI"/>
              </a:defRPr>
            </a:pPr>
            <a:r>
              <a:rPr dirty="0"/>
              <a:t>    &lt;a-scene&gt;</a:t>
            </a:r>
          </a:p>
          <a:p>
            <a:pPr algn="l">
              <a:spcBef>
                <a:spcPts val="600"/>
              </a:spcBef>
              <a:defRPr sz="1400" b="0" i="0">
                <a:solidFill>
                  <a:srgbClr val="3FB950"/>
                </a:solidFill>
                <a:latin typeface="Segoe UI"/>
              </a:defRPr>
            </a:pPr>
            <a:r>
              <a:rPr dirty="0"/>
              <a:t>      &lt;a-box&gt;&lt;/a-box&gt;  &lt;- </a:t>
            </a:r>
            <a:r>
              <a:rPr dirty="0" err="1"/>
              <a:t>filho</a:t>
            </a:r>
            <a:r>
              <a:rPr dirty="0"/>
              <a:t> de scene</a:t>
            </a:r>
          </a:p>
          <a:p>
            <a:pPr algn="l">
              <a:spcBef>
                <a:spcPts val="600"/>
              </a:spcBef>
              <a:defRPr sz="1400" b="0" i="0">
                <a:solidFill>
                  <a:srgbClr val="3FB950"/>
                </a:solidFill>
                <a:latin typeface="Segoe UI"/>
              </a:defRPr>
            </a:pPr>
            <a:r>
              <a:rPr dirty="0"/>
              <a:t>    &lt;/a-scene&gt;</a:t>
            </a:r>
          </a:p>
          <a:p>
            <a:pPr algn="l">
              <a:spcBef>
                <a:spcPts val="600"/>
              </a:spcBef>
              <a:defRPr sz="1400" b="0" i="0">
                <a:solidFill>
                  <a:srgbClr val="3FB950"/>
                </a:solidFill>
                <a:latin typeface="Segoe UI"/>
              </a:defRPr>
            </a:pPr>
            <a:r>
              <a:rPr dirty="0"/>
              <a:t>  &lt;/body&gt;</a:t>
            </a:r>
          </a:p>
        </p:txBody>
      </p:sp>
      <p:sp>
        <p:nvSpPr>
          <p:cNvPr id="5" name="Rounded Rectangle 4"/>
          <p:cNvSpPr/>
          <p:nvPr/>
        </p:nvSpPr>
        <p:spPr>
          <a:xfrm>
            <a:off x="6858000" y="1463040"/>
            <a:ext cx="4754880" cy="47548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800" b="1">
                <a:solidFill>
                  <a:srgbClr val="58A6FF"/>
                </a:solidFill>
                <a:latin typeface="Segoe UI"/>
              </a:defRPr>
            </a:pPr>
            <a:r>
              <a:t>HTML + CSS + JS</a:t>
            </a:r>
          </a:p>
          <a:p>
            <a:pPr algn="l">
              <a:spcBef>
                <a:spcPts val="600"/>
              </a:spcBef>
              <a:defRPr sz="600" b="0" i="0">
                <a:solidFill>
                  <a:srgbClr val="FFFFFF"/>
                </a:solidFill>
                <a:latin typeface="Segoe UI"/>
              </a:defRPr>
            </a:pPr>
            <a:endParaRPr/>
          </a:p>
          <a:p>
            <a:pPr algn="l">
              <a:spcBef>
                <a:spcPts val="600"/>
              </a:spcBef>
              <a:defRPr sz="1600" b="1" i="0">
                <a:solidFill>
                  <a:srgbClr val="58A6FF"/>
                </a:solidFill>
                <a:latin typeface="Segoe UI"/>
              </a:defRPr>
            </a:pPr>
            <a:r>
              <a:t>HTML = Estrutura (esqueleto)</a:t>
            </a:r>
          </a:p>
          <a:p>
            <a:pPr algn="l">
              <a:spcBef>
                <a:spcPts val="600"/>
              </a:spcBef>
              <a:defRPr sz="1400" b="0" i="0">
                <a:solidFill>
                  <a:srgbClr val="B0B8C4"/>
                </a:solidFill>
                <a:latin typeface="Segoe UI"/>
              </a:defRPr>
            </a:pPr>
            <a:r>
              <a:t>O QUE existe: tags, conteudo</a:t>
            </a:r>
          </a:p>
          <a:p>
            <a:pPr algn="l">
              <a:spcBef>
                <a:spcPts val="600"/>
              </a:spcBef>
              <a:defRPr sz="1400" b="0" i="1">
                <a:solidFill>
                  <a:srgbClr val="6E7681"/>
                </a:solidFill>
                <a:latin typeface="Segoe UI"/>
              </a:defRPr>
            </a:pPr>
            <a:r>
              <a:t>Analogia: campos do processo clinico</a:t>
            </a:r>
          </a:p>
          <a:p>
            <a:pPr algn="l">
              <a:spcBef>
                <a:spcPts val="600"/>
              </a:spcBef>
              <a:defRPr sz="800" b="0" i="0">
                <a:solidFill>
                  <a:srgbClr val="FFFFFF"/>
                </a:solidFill>
                <a:latin typeface="Segoe UI"/>
              </a:defRPr>
            </a:pPr>
            <a:endParaRPr/>
          </a:p>
          <a:p>
            <a:pPr algn="l">
              <a:spcBef>
                <a:spcPts val="600"/>
              </a:spcBef>
              <a:defRPr sz="1600" b="1" i="0">
                <a:solidFill>
                  <a:srgbClr val="3FB950"/>
                </a:solidFill>
                <a:latin typeface="Segoe UI"/>
              </a:defRPr>
            </a:pPr>
            <a:r>
              <a:t>CSS = Aparencia (pele)</a:t>
            </a:r>
          </a:p>
          <a:p>
            <a:pPr algn="l">
              <a:spcBef>
                <a:spcPts val="600"/>
              </a:spcBef>
              <a:defRPr sz="1400" b="0" i="0">
                <a:solidFill>
                  <a:srgbClr val="B0B8C4"/>
                </a:solidFill>
                <a:latin typeface="Segoe UI"/>
              </a:defRPr>
            </a:pPr>
            <a:r>
              <a:t>COMO se ve: cores, tamanhos</a:t>
            </a:r>
          </a:p>
          <a:p>
            <a:pPr algn="l">
              <a:spcBef>
                <a:spcPts val="600"/>
              </a:spcBef>
              <a:defRPr sz="1400" b="0" i="1">
                <a:solidFill>
                  <a:srgbClr val="6E7681"/>
                </a:solidFill>
                <a:latin typeface="Segoe UI"/>
              </a:defRPr>
            </a:pPr>
            <a:r>
              <a:t>Analogia: formatacao do relatorio</a:t>
            </a:r>
          </a:p>
          <a:p>
            <a:pPr algn="l">
              <a:spcBef>
                <a:spcPts val="600"/>
              </a:spcBef>
              <a:defRPr sz="800" b="0" i="0">
                <a:solidFill>
                  <a:srgbClr val="FFFFFF"/>
                </a:solidFill>
                <a:latin typeface="Segoe UI"/>
              </a:defRPr>
            </a:pPr>
            <a:endParaRPr/>
          </a:p>
          <a:p>
            <a:pPr algn="l">
              <a:spcBef>
                <a:spcPts val="600"/>
              </a:spcBef>
              <a:defRPr sz="1600" b="1" i="0">
                <a:solidFill>
                  <a:srgbClr val="F78166"/>
                </a:solidFill>
                <a:latin typeface="Segoe UI"/>
              </a:defRPr>
            </a:pPr>
            <a:r>
              <a:t>JavaScript = Comportamento (musculos)</a:t>
            </a:r>
          </a:p>
          <a:p>
            <a:pPr algn="l">
              <a:spcBef>
                <a:spcPts val="600"/>
              </a:spcBef>
              <a:defRPr sz="1400" b="0" i="0">
                <a:solidFill>
                  <a:srgbClr val="B0B8C4"/>
                </a:solidFill>
                <a:latin typeface="Segoe UI"/>
              </a:defRPr>
            </a:pPr>
            <a:r>
              <a:t>O QUE FAZ: logica, interacoes</a:t>
            </a:r>
          </a:p>
          <a:p>
            <a:pPr algn="l">
              <a:spcBef>
                <a:spcPts val="600"/>
              </a:spcBef>
              <a:defRPr sz="1400" b="0" i="1">
                <a:solidFill>
                  <a:srgbClr val="6E7681"/>
                </a:solidFill>
                <a:latin typeface="Segoe UI"/>
              </a:defRPr>
            </a:pPr>
            <a:r>
              <a:t>Analogia: instrucoes de tratamento</a:t>
            </a:r>
          </a:p>
          <a:p>
            <a:pPr algn="l">
              <a:spcBef>
                <a:spcPts val="600"/>
              </a:spcBef>
              <a:defRPr sz="1000" b="0" i="0">
                <a:solidFill>
                  <a:srgbClr val="FFFFFF"/>
                </a:solidFill>
                <a:latin typeface="Segoe UI"/>
              </a:defRPr>
            </a:pPr>
            <a:endParaRPr/>
          </a:p>
          <a:p>
            <a:pPr algn="l">
              <a:spcBef>
                <a:spcPts val="600"/>
              </a:spcBef>
              <a:defRPr sz="1600" b="1" i="0">
                <a:solidFill>
                  <a:srgbClr val="58A6FF"/>
                </a:solidFill>
                <a:latin typeface="Segoe UI"/>
              </a:defRPr>
            </a:pPr>
            <a:r>
              <a:t>Nesta aula: usamos so HTML!</a:t>
            </a:r>
          </a:p>
          <a:p>
            <a:pPr algn="l">
              <a:spcBef>
                <a:spcPts val="600"/>
              </a:spcBef>
              <a:defRPr sz="1400" b="0" i="0">
                <a:solidFill>
                  <a:srgbClr val="B0B8C4"/>
                </a:solidFill>
                <a:latin typeface="Segoe UI"/>
              </a:defRPr>
            </a:pPr>
            <a:r>
              <a:t>A-Frame transforma HTML em 3D/VR.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A-Frame: VR com HTML</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486400" cy="4572000"/>
          </a:xfrm>
          <a:prstGeom prst="rect">
            <a:avLst/>
          </a:prstGeom>
          <a:noFill/>
        </p:spPr>
        <p:txBody>
          <a:bodyPr wrap="square">
            <a:spAutoFit/>
          </a:bodyPr>
          <a:lstStyle/>
          <a:p>
            <a:pPr algn="l">
              <a:defRPr sz="1800" b="1">
                <a:solidFill>
                  <a:srgbClr val="58A6FF"/>
                </a:solidFill>
                <a:latin typeface="Segoe UI"/>
              </a:defRPr>
            </a:pPr>
            <a:r>
              <a:t>Framework open-source para WebXR</a:t>
            </a:r>
          </a:p>
          <a:p>
            <a:pPr algn="l">
              <a:spcBef>
                <a:spcPts val="800"/>
              </a:spcBef>
              <a:defRPr sz="1500" b="0" i="0">
                <a:solidFill>
                  <a:srgbClr val="B0B8C4"/>
                </a:solidFill>
                <a:latin typeface="Segoe UI"/>
              </a:defRPr>
            </a:pPr>
            <a:r>
              <a:t>Criado por Mozilla (2015), mantido pela comunidade.</a:t>
            </a:r>
          </a:p>
          <a:p>
            <a:pPr algn="l">
              <a:spcBef>
                <a:spcPts val="600"/>
              </a:spcBef>
              <a:defRPr sz="1500" b="0" i="0">
                <a:solidFill>
                  <a:srgbClr val="B0B8C4"/>
                </a:solidFill>
                <a:latin typeface="Segoe UI"/>
              </a:defRPr>
            </a:pPr>
            <a:r>
              <a:t>Construido sobre Three.js (biblioteca 3D JavaScript).</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Exemplo — cubo vermelho em VR:</a:t>
            </a:r>
          </a:p>
          <a:p>
            <a:pPr algn="l">
              <a:spcBef>
                <a:spcPts val="600"/>
              </a:spcBef>
              <a:defRPr sz="1600" b="0" i="0">
                <a:solidFill>
                  <a:srgbClr val="3FB950"/>
                </a:solidFill>
                <a:latin typeface="Segoe UI"/>
              </a:defRPr>
            </a:pPr>
            <a:r>
              <a:t>&lt;a-box position="0 1 -5" color="red"&gt;&lt;/a-box&gt;</a:t>
            </a:r>
          </a:p>
          <a:p>
            <a:pPr algn="l">
              <a:spcBef>
                <a:spcPts val="800"/>
              </a:spcBef>
              <a:defRPr sz="1600" b="1" i="0">
                <a:solidFill>
                  <a:srgbClr val="58A6FF"/>
                </a:solidFill>
                <a:latin typeface="Segoe UI"/>
              </a:defRPr>
            </a:pPr>
            <a:r>
              <a:t>Sim, e so isto. Uma linha de HTML = um objeto 3D.</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Suporte WebXR (W3C standard):</a:t>
            </a:r>
          </a:p>
          <a:p>
            <a:pPr algn="l">
              <a:spcBef>
                <a:spcPts val="600"/>
              </a:spcBef>
              <a:defRPr sz="1500" b="0" i="0">
                <a:solidFill>
                  <a:srgbClr val="B0B8C4"/>
                </a:solidFill>
                <a:latin typeface="Segoe UI"/>
              </a:defRPr>
            </a:pPr>
            <a:r>
              <a:t>• Chrome, Edge, Firefox, Safari (2025+)</a:t>
            </a:r>
          </a:p>
          <a:p>
            <a:pPr algn="l">
              <a:spcBef>
                <a:spcPts val="600"/>
              </a:spcBef>
              <a:defRPr sz="1500" b="0" i="0">
                <a:solidFill>
                  <a:srgbClr val="B0B8C4"/>
                </a:solidFill>
                <a:latin typeface="Segoe UI"/>
              </a:defRPr>
            </a:pPr>
            <a:r>
              <a:t>• Meta Quest Browser (nativo)</a:t>
            </a:r>
          </a:p>
          <a:p>
            <a:pPr algn="l">
              <a:spcBef>
                <a:spcPts val="600"/>
              </a:spcBef>
              <a:defRPr sz="1500" b="0" i="0">
                <a:solidFill>
                  <a:srgbClr val="B0B8C4"/>
                </a:solidFill>
                <a:latin typeface="Segoe UI"/>
              </a:defRPr>
            </a:pPr>
            <a:r>
              <a:t>• Funciona em PC, mobile E headset VR</a:t>
            </a:r>
          </a:p>
        </p:txBody>
      </p:sp>
      <p:sp>
        <p:nvSpPr>
          <p:cNvPr id="5" name="Rounded Rectangle 4"/>
          <p:cNvSpPr/>
          <p:nvPr/>
        </p:nvSpPr>
        <p:spPr>
          <a:xfrm>
            <a:off x="6858000" y="1463040"/>
            <a:ext cx="4754880" cy="457200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800" b="1">
                <a:solidFill>
                  <a:srgbClr val="58A6FF"/>
                </a:solidFill>
                <a:latin typeface="Segoe UI"/>
              </a:defRPr>
            </a:pPr>
            <a:r>
              <a:t>Vantagens:</a:t>
            </a:r>
          </a:p>
          <a:p>
            <a:pPr algn="l">
              <a:spcBef>
                <a:spcPts val="500"/>
              </a:spcBef>
              <a:defRPr sz="1500" b="0" i="0">
                <a:solidFill>
                  <a:srgbClr val="B0B8C4"/>
                </a:solidFill>
                <a:latin typeface="Segoe UI"/>
              </a:defRPr>
            </a:pPr>
            <a:r>
              <a:t>✓ Baseado em HTML (familiar)</a:t>
            </a:r>
          </a:p>
          <a:p>
            <a:pPr algn="l">
              <a:spcBef>
                <a:spcPts val="500"/>
              </a:spcBef>
              <a:defRPr sz="1500" b="0" i="0">
                <a:solidFill>
                  <a:srgbClr val="B0B8C4"/>
                </a:solidFill>
                <a:latin typeface="Segoe UI"/>
              </a:defRPr>
            </a:pPr>
            <a:r>
              <a:t>✓ Zero instalacao</a:t>
            </a:r>
          </a:p>
          <a:p>
            <a:pPr algn="l">
              <a:spcBef>
                <a:spcPts val="500"/>
              </a:spcBef>
              <a:defRPr sz="1500" b="0" i="0">
                <a:solidFill>
                  <a:srgbClr val="B0B8C4"/>
                </a:solidFill>
                <a:latin typeface="Segoe UI"/>
              </a:defRPr>
            </a:pPr>
            <a:r>
              <a:t>✓ Partilha com URL</a:t>
            </a:r>
          </a:p>
          <a:p>
            <a:pPr algn="l">
              <a:spcBef>
                <a:spcPts val="500"/>
              </a:spcBef>
              <a:defRPr sz="1500" b="0" i="0">
                <a:solidFill>
                  <a:srgbClr val="B0B8C4"/>
                </a:solidFill>
                <a:latin typeface="Segoe UI"/>
              </a:defRPr>
            </a:pPr>
            <a:r>
              <a:t>✓ VR-ready automaticamente</a:t>
            </a:r>
          </a:p>
          <a:p>
            <a:pPr algn="l">
              <a:spcBef>
                <a:spcPts val="500"/>
              </a:spcBef>
              <a:defRPr sz="1500" b="0" i="0">
                <a:solidFill>
                  <a:srgbClr val="B0B8C4"/>
                </a:solidFill>
                <a:latin typeface="Segoe UI"/>
              </a:defRPr>
            </a:pPr>
            <a:r>
              <a:t>✓ WebXR completo (W3C)</a:t>
            </a:r>
          </a:p>
          <a:p>
            <a:pPr algn="l">
              <a:spcBef>
                <a:spcPts val="500"/>
              </a:spcBef>
              <a:defRPr sz="1500" b="0" i="0">
                <a:solidFill>
                  <a:srgbClr val="B0B8C4"/>
                </a:solidFill>
                <a:latin typeface="Segoe UI"/>
              </a:defRPr>
            </a:pPr>
            <a:r>
              <a:t>✓ Centenas de componentes comunitarios</a:t>
            </a:r>
          </a:p>
          <a:p>
            <a:pPr algn="l">
              <a:spcBef>
                <a:spcPts val="500"/>
              </a:spcBef>
              <a:defRPr sz="1500" b="0" i="0">
                <a:solidFill>
                  <a:srgbClr val="B0B8C4"/>
                </a:solidFill>
                <a:latin typeface="Segoe UI"/>
              </a:defRPr>
            </a:pPr>
            <a:r>
              <a:t>✓ Completamente gratuito (MIT license)</a:t>
            </a:r>
          </a:p>
          <a:p>
            <a:pPr algn="l">
              <a:spcBef>
                <a:spcPts val="500"/>
              </a:spcBef>
              <a:defRPr sz="1500" b="0" i="0">
                <a:solidFill>
                  <a:srgbClr val="B0B8C4"/>
                </a:solidFill>
                <a:latin typeface="Segoe UI"/>
              </a:defRPr>
            </a:pPr>
            <a:r>
              <a:t>✓ Resultado em MINUTOS</a:t>
            </a:r>
          </a:p>
        </p:txBody>
      </p:sp>
      <p:pic>
        <p:nvPicPr>
          <p:cNvPr id="7" name="Picture 6" descr="tmpdgfqre63.png"/>
          <p:cNvPicPr>
            <a:picLocks noChangeAspect="1"/>
          </p:cNvPicPr>
          <p:nvPr/>
        </p:nvPicPr>
        <p:blipFill>
          <a:blip r:embed="rId2"/>
          <a:stretch>
            <a:fillRect/>
          </a:stretch>
        </p:blipFill>
        <p:spPr>
          <a:xfrm>
            <a:off x="7772400" y="5029200"/>
            <a:ext cx="1371600" cy="1371600"/>
          </a:xfrm>
          <a:prstGeom prst="rect">
            <a:avLst/>
          </a:prstGeom>
        </p:spPr>
      </p:pic>
      <p:sp>
        <p:nvSpPr>
          <p:cNvPr id="8" name="TextBox 7"/>
          <p:cNvSpPr txBox="1"/>
          <p:nvPr/>
        </p:nvSpPr>
        <p:spPr>
          <a:xfrm>
            <a:off x="9326880" y="5303520"/>
            <a:ext cx="2286000" cy="731520"/>
          </a:xfrm>
          <a:prstGeom prst="rect">
            <a:avLst/>
          </a:prstGeom>
          <a:noFill/>
        </p:spPr>
        <p:txBody>
          <a:bodyPr wrap="square">
            <a:spAutoFit/>
          </a:bodyPr>
          <a:lstStyle/>
          <a:p>
            <a:pPr algn="l">
              <a:defRPr sz="1400" b="1">
                <a:solidFill>
                  <a:srgbClr val="58A6FF"/>
                </a:solidFill>
                <a:latin typeface="Segoe UI"/>
              </a:defRPr>
            </a:pPr>
            <a:r>
              <a:t>aframe.io</a:t>
            </a:r>
          </a:p>
        </p:txBody>
      </p:sp>
      <p:sp>
        <p:nvSpPr>
          <p:cNvPr id="9" name="TextBox 8"/>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A-Frame (aframe.io) | MIT License | Three.js (threejs.org) | WebXR Device API (W3C)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A-Frame: Glossario Tecnico (ECS Architecture)</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3103877137"/>
              </p:ext>
            </p:extLst>
          </p:nvPr>
        </p:nvGraphicFramePr>
        <p:xfrm>
          <a:off x="731520" y="1257996"/>
          <a:ext cx="10515600" cy="5087385"/>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32261">
                <a:tc>
                  <a:txBody>
                    <a:bodyPr/>
                    <a:lstStyle/>
                    <a:p>
                      <a:pPr>
                        <a:defRPr sz="1400" b="1">
                          <a:solidFill>
                            <a:srgbClr val="FFFFFF"/>
                          </a:solidFill>
                          <a:latin typeface="Segoe UI"/>
                        </a:defRPr>
                      </a:pPr>
                      <a:r>
                        <a:t>Termo</a:t>
                      </a:r>
                    </a:p>
                  </a:txBody>
                  <a:tcPr>
                    <a:solidFill>
                      <a:srgbClr val="1A2A3A"/>
                    </a:solidFill>
                  </a:tcPr>
                </a:tc>
                <a:tc>
                  <a:txBody>
                    <a:bodyPr/>
                    <a:lstStyle/>
                    <a:p>
                      <a:pPr>
                        <a:defRPr sz="1400" b="1">
                          <a:solidFill>
                            <a:srgbClr val="FFFFFF"/>
                          </a:solidFill>
                          <a:latin typeface="Segoe UI"/>
                        </a:defRPr>
                      </a:pPr>
                      <a:r>
                        <a:t>Definicao</a:t>
                      </a:r>
                    </a:p>
                  </a:txBody>
                  <a:tcPr>
                    <a:solidFill>
                      <a:srgbClr val="1A2A3A"/>
                    </a:solidFill>
                  </a:tcPr>
                </a:tc>
                <a:tc>
                  <a:txBody>
                    <a:bodyPr/>
                    <a:lstStyle/>
                    <a:p>
                      <a:pPr>
                        <a:defRPr sz="1400" b="1">
                          <a:solidFill>
                            <a:srgbClr val="FFFFFF"/>
                          </a:solidFill>
                          <a:latin typeface="Segoe UI"/>
                        </a:defRPr>
                      </a:pPr>
                      <a:r>
                        <a:t>Exemplo</a:t>
                      </a:r>
                    </a:p>
                  </a:txBody>
                  <a:tcPr>
                    <a:solidFill>
                      <a:srgbClr val="1A2A3A"/>
                    </a:solidFill>
                  </a:tcPr>
                </a:tc>
                <a:extLst>
                  <a:ext uri="{0D108BD9-81ED-4DB2-BD59-A6C34878D82A}">
                    <a16:rowId xmlns:a16="http://schemas.microsoft.com/office/drawing/2014/main" val="10000"/>
                  </a:ext>
                </a:extLst>
              </a:tr>
              <a:tr h="432261">
                <a:tc>
                  <a:txBody>
                    <a:bodyPr/>
                    <a:lstStyle/>
                    <a:p>
                      <a:pPr>
                        <a:defRPr sz="1300">
                          <a:solidFill>
                            <a:srgbClr val="B0B8C4"/>
                          </a:solidFill>
                          <a:latin typeface="Segoe UI"/>
                        </a:defRPr>
                      </a:pPr>
                      <a:r>
                        <a:t>Entity (&lt;a-entity&gt;)</a:t>
                      </a:r>
                    </a:p>
                  </a:txBody>
                  <a:tcPr>
                    <a:solidFill>
                      <a:srgbClr val="121820"/>
                    </a:solidFill>
                  </a:tcPr>
                </a:tc>
                <a:tc>
                  <a:txBody>
                    <a:bodyPr/>
                    <a:lstStyle/>
                    <a:p>
                      <a:pPr>
                        <a:defRPr sz="1300">
                          <a:solidFill>
                            <a:srgbClr val="B0B8C4"/>
                          </a:solidFill>
                          <a:latin typeface="Segoe UI"/>
                        </a:defRPr>
                      </a:pPr>
                      <a:r>
                        <a:t>Objeto generico/container. Sozinho nao faz nada.</a:t>
                      </a:r>
                    </a:p>
                  </a:txBody>
                  <a:tcPr>
                    <a:solidFill>
                      <a:srgbClr val="121820"/>
                    </a:solidFill>
                  </a:tcPr>
                </a:tc>
                <a:tc>
                  <a:txBody>
                    <a:bodyPr/>
                    <a:lstStyle/>
                    <a:p>
                      <a:pPr>
                        <a:defRPr sz="1300">
                          <a:solidFill>
                            <a:srgbClr val="B0B8C4"/>
                          </a:solidFill>
                          <a:latin typeface="Segoe UI"/>
                        </a:defRPr>
                      </a:pPr>
                      <a:r>
                        <a:t>&lt;a-entity&gt;&lt;/a-entity&gt;</a:t>
                      </a:r>
                    </a:p>
                  </a:txBody>
                  <a:tcPr>
                    <a:solidFill>
                      <a:srgbClr val="121820"/>
                    </a:solidFill>
                  </a:tcPr>
                </a:tc>
                <a:extLst>
                  <a:ext uri="{0D108BD9-81ED-4DB2-BD59-A6C34878D82A}">
                    <a16:rowId xmlns:a16="http://schemas.microsoft.com/office/drawing/2014/main" val="10001"/>
                  </a:ext>
                </a:extLst>
              </a:tr>
              <a:tr h="432261">
                <a:tc>
                  <a:txBody>
                    <a:bodyPr/>
                    <a:lstStyle/>
                    <a:p>
                      <a:pPr>
                        <a:defRPr sz="1300">
                          <a:solidFill>
                            <a:srgbClr val="B0B8C4"/>
                          </a:solidFill>
                          <a:latin typeface="Segoe UI"/>
                        </a:defRPr>
                      </a:pPr>
                      <a:r>
                        <a:t>Component</a:t>
                      </a:r>
                    </a:p>
                  </a:txBody>
                  <a:tcPr>
                    <a:solidFill>
                      <a:srgbClr val="161E28"/>
                    </a:solidFill>
                  </a:tcPr>
                </a:tc>
                <a:tc>
                  <a:txBody>
                    <a:bodyPr/>
                    <a:lstStyle/>
                    <a:p>
                      <a:pPr>
                        <a:defRPr sz="1300">
                          <a:solidFill>
                            <a:srgbClr val="B0B8C4"/>
                          </a:solidFill>
                          <a:latin typeface="Segoe UI"/>
                        </a:defRPr>
                      </a:pPr>
                      <a:r>
                        <a:t>Atributo que da funcionalidade a uma entity.</a:t>
                      </a:r>
                    </a:p>
                  </a:txBody>
                  <a:tcPr>
                    <a:solidFill>
                      <a:srgbClr val="161E28"/>
                    </a:solidFill>
                  </a:tcPr>
                </a:tc>
                <a:tc>
                  <a:txBody>
                    <a:bodyPr/>
                    <a:lstStyle/>
                    <a:p>
                      <a:pPr>
                        <a:defRPr sz="1300">
                          <a:solidFill>
                            <a:srgbClr val="B0B8C4"/>
                          </a:solidFill>
                          <a:latin typeface="Segoe UI"/>
                        </a:defRPr>
                      </a:pPr>
                      <a:r>
                        <a:t>position="0 1 -5"</a:t>
                      </a:r>
                    </a:p>
                  </a:txBody>
                  <a:tcPr>
                    <a:solidFill>
                      <a:srgbClr val="161E28"/>
                    </a:solidFill>
                  </a:tcPr>
                </a:tc>
                <a:extLst>
                  <a:ext uri="{0D108BD9-81ED-4DB2-BD59-A6C34878D82A}">
                    <a16:rowId xmlns:a16="http://schemas.microsoft.com/office/drawing/2014/main" val="10002"/>
                  </a:ext>
                </a:extLst>
              </a:tr>
              <a:tr h="432261">
                <a:tc>
                  <a:txBody>
                    <a:bodyPr/>
                    <a:lstStyle/>
                    <a:p>
                      <a:pPr>
                        <a:defRPr sz="1300">
                          <a:solidFill>
                            <a:srgbClr val="B0B8C4"/>
                          </a:solidFill>
                          <a:latin typeface="Segoe UI"/>
                        </a:defRPr>
                      </a:pPr>
                      <a:r>
                        <a:t>Primitive</a:t>
                      </a:r>
                    </a:p>
                  </a:txBody>
                  <a:tcPr>
                    <a:solidFill>
                      <a:srgbClr val="121820"/>
                    </a:solidFill>
                  </a:tcPr>
                </a:tc>
                <a:tc>
                  <a:txBody>
                    <a:bodyPr/>
                    <a:lstStyle/>
                    <a:p>
                      <a:pPr>
                        <a:defRPr sz="1300">
                          <a:solidFill>
                            <a:srgbClr val="B0B8C4"/>
                          </a:solidFill>
                          <a:latin typeface="Segoe UI"/>
                        </a:defRPr>
                      </a:pPr>
                      <a:r>
                        <a:t>Entity pre-configurada com componentes default.</a:t>
                      </a:r>
                    </a:p>
                  </a:txBody>
                  <a:tcPr>
                    <a:solidFill>
                      <a:srgbClr val="121820"/>
                    </a:solidFill>
                  </a:tcPr>
                </a:tc>
                <a:tc>
                  <a:txBody>
                    <a:bodyPr/>
                    <a:lstStyle/>
                    <a:p>
                      <a:pPr>
                        <a:defRPr sz="1300">
                          <a:solidFill>
                            <a:srgbClr val="B0B8C4"/>
                          </a:solidFill>
                          <a:latin typeface="Segoe UI"/>
                        </a:defRPr>
                      </a:pPr>
                      <a:r>
                        <a:t>&lt;a-box&gt;, &lt;a-sphere&gt;, &lt;a-sky&gt;</a:t>
                      </a:r>
                    </a:p>
                  </a:txBody>
                  <a:tcPr>
                    <a:solidFill>
                      <a:srgbClr val="121820"/>
                    </a:solidFill>
                  </a:tcPr>
                </a:tc>
                <a:extLst>
                  <a:ext uri="{0D108BD9-81ED-4DB2-BD59-A6C34878D82A}">
                    <a16:rowId xmlns:a16="http://schemas.microsoft.com/office/drawing/2014/main" val="10003"/>
                  </a:ext>
                </a:extLst>
              </a:tr>
              <a:tr h="432261">
                <a:tc>
                  <a:txBody>
                    <a:bodyPr/>
                    <a:lstStyle/>
                    <a:p>
                      <a:pPr>
                        <a:defRPr sz="1300">
                          <a:solidFill>
                            <a:srgbClr val="B0B8C4"/>
                          </a:solidFill>
                          <a:latin typeface="Segoe UI"/>
                        </a:defRPr>
                      </a:pPr>
                      <a:r>
                        <a:t>Scene (&lt;a-scene&gt;)</a:t>
                      </a:r>
                    </a:p>
                  </a:txBody>
                  <a:tcPr>
                    <a:solidFill>
                      <a:srgbClr val="161E28"/>
                    </a:solidFill>
                  </a:tcPr>
                </a:tc>
                <a:tc>
                  <a:txBody>
                    <a:bodyPr/>
                    <a:lstStyle/>
                    <a:p>
                      <a:pPr>
                        <a:defRPr sz="1300">
                          <a:solidFill>
                            <a:srgbClr val="B0B8C4"/>
                          </a:solidFill>
                          <a:latin typeface="Segoe UI"/>
                        </a:defRPr>
                      </a:pPr>
                      <a:r>
                        <a:t>Raiz: contem TUDO. Inicia o renderer WebGL.</a:t>
                      </a:r>
                    </a:p>
                  </a:txBody>
                  <a:tcPr>
                    <a:solidFill>
                      <a:srgbClr val="161E28"/>
                    </a:solidFill>
                  </a:tcPr>
                </a:tc>
                <a:tc>
                  <a:txBody>
                    <a:bodyPr/>
                    <a:lstStyle/>
                    <a:p>
                      <a:pPr>
                        <a:defRPr sz="1300">
                          <a:solidFill>
                            <a:srgbClr val="B0B8C4"/>
                          </a:solidFill>
                          <a:latin typeface="Segoe UI"/>
                        </a:defRPr>
                      </a:pPr>
                      <a:r>
                        <a:t>&lt;a-scene&gt;...&lt;/a-scene&gt;</a:t>
                      </a:r>
                    </a:p>
                  </a:txBody>
                  <a:tcPr>
                    <a:solidFill>
                      <a:srgbClr val="161E28"/>
                    </a:solidFill>
                  </a:tcPr>
                </a:tc>
                <a:extLst>
                  <a:ext uri="{0D108BD9-81ED-4DB2-BD59-A6C34878D82A}">
                    <a16:rowId xmlns:a16="http://schemas.microsoft.com/office/drawing/2014/main" val="10004"/>
                  </a:ext>
                </a:extLst>
              </a:tr>
              <a:tr h="432261">
                <a:tc>
                  <a:txBody>
                    <a:bodyPr/>
                    <a:lstStyle/>
                    <a:p>
                      <a:pPr>
                        <a:defRPr sz="1300">
                          <a:solidFill>
                            <a:srgbClr val="B0B8C4"/>
                          </a:solidFill>
                          <a:latin typeface="Segoe UI"/>
                        </a:defRPr>
                      </a:pPr>
                      <a:r>
                        <a:t>Assets (&lt;a-assets&gt;)</a:t>
                      </a:r>
                    </a:p>
                  </a:txBody>
                  <a:tcPr>
                    <a:solidFill>
                      <a:srgbClr val="121820"/>
                    </a:solidFill>
                  </a:tcPr>
                </a:tc>
                <a:tc>
                  <a:txBody>
                    <a:bodyPr/>
                    <a:lstStyle/>
                    <a:p>
                      <a:pPr>
                        <a:defRPr sz="1300">
                          <a:solidFill>
                            <a:srgbClr val="B0B8C4"/>
                          </a:solidFill>
                          <a:latin typeface="Segoe UI"/>
                        </a:defRPr>
                      </a:pPr>
                      <a:r>
                        <a:t>Pre-carrega ficheiros (imagens, modelos, audio).</a:t>
                      </a:r>
                    </a:p>
                  </a:txBody>
                  <a:tcPr>
                    <a:solidFill>
                      <a:srgbClr val="121820"/>
                    </a:solidFill>
                  </a:tcPr>
                </a:tc>
                <a:tc>
                  <a:txBody>
                    <a:bodyPr/>
                    <a:lstStyle/>
                    <a:p>
                      <a:pPr>
                        <a:defRPr sz="1300">
                          <a:solidFill>
                            <a:srgbClr val="B0B8C4"/>
                          </a:solidFill>
                          <a:latin typeface="Segoe UI"/>
                        </a:defRPr>
                      </a:pPr>
                      <a:r>
                        <a:t>&lt;img id="x" src="foto.jpg"&gt;</a:t>
                      </a:r>
                    </a:p>
                  </a:txBody>
                  <a:tcPr>
                    <a:solidFill>
                      <a:srgbClr val="121820"/>
                    </a:solidFill>
                  </a:tcPr>
                </a:tc>
                <a:extLst>
                  <a:ext uri="{0D108BD9-81ED-4DB2-BD59-A6C34878D82A}">
                    <a16:rowId xmlns:a16="http://schemas.microsoft.com/office/drawing/2014/main" val="10005"/>
                  </a:ext>
                </a:extLst>
              </a:tr>
              <a:tr h="432261">
                <a:tc>
                  <a:txBody>
                    <a:bodyPr/>
                    <a:lstStyle/>
                    <a:p>
                      <a:pPr>
                        <a:defRPr sz="1300">
                          <a:solidFill>
                            <a:srgbClr val="B0B8C4"/>
                          </a:solidFill>
                          <a:latin typeface="Segoe UI"/>
                        </a:defRPr>
                      </a:pPr>
                      <a:r>
                        <a:t>Attribute</a:t>
                      </a:r>
                    </a:p>
                  </a:txBody>
                  <a:tcPr>
                    <a:solidFill>
                      <a:srgbClr val="161E28"/>
                    </a:solidFill>
                  </a:tcPr>
                </a:tc>
                <a:tc>
                  <a:txBody>
                    <a:bodyPr/>
                    <a:lstStyle/>
                    <a:p>
                      <a:pPr>
                        <a:defRPr sz="1300">
                          <a:solidFill>
                            <a:srgbClr val="B0B8C4"/>
                          </a:solidFill>
                          <a:latin typeface="Segoe UI"/>
                        </a:defRPr>
                      </a:pPr>
                      <a:r>
                        <a:rPr dirty="0"/>
                        <a:t>valor que </a:t>
                      </a:r>
                      <a:r>
                        <a:rPr dirty="0" err="1"/>
                        <a:t>configura</a:t>
                      </a:r>
                      <a:r>
                        <a:rPr dirty="0"/>
                        <a:t> um </a:t>
                      </a:r>
                      <a:r>
                        <a:rPr dirty="0" err="1"/>
                        <a:t>componente</a:t>
                      </a:r>
                      <a:r>
                        <a:rPr dirty="0"/>
                        <a:t>.</a:t>
                      </a:r>
                    </a:p>
                  </a:txBody>
                  <a:tcPr>
                    <a:solidFill>
                      <a:srgbClr val="161E28"/>
                    </a:solidFill>
                  </a:tcPr>
                </a:tc>
                <a:tc>
                  <a:txBody>
                    <a:bodyPr/>
                    <a:lstStyle/>
                    <a:p>
                      <a:pPr>
                        <a:defRPr sz="1300">
                          <a:solidFill>
                            <a:srgbClr val="B0B8C4"/>
                          </a:solidFill>
                          <a:latin typeface="Segoe UI"/>
                        </a:defRPr>
                      </a:pPr>
                      <a:r>
                        <a:t>color="#FF0000"</a:t>
                      </a:r>
                    </a:p>
                  </a:txBody>
                  <a:tcPr>
                    <a:solidFill>
                      <a:srgbClr val="161E28"/>
                    </a:solidFill>
                  </a:tcPr>
                </a:tc>
                <a:extLst>
                  <a:ext uri="{0D108BD9-81ED-4DB2-BD59-A6C34878D82A}">
                    <a16:rowId xmlns:a16="http://schemas.microsoft.com/office/drawing/2014/main" val="10006"/>
                  </a:ext>
                </a:extLst>
              </a:tr>
              <a:tr h="432261">
                <a:tc>
                  <a:txBody>
                    <a:bodyPr/>
                    <a:lstStyle/>
                    <a:p>
                      <a:pPr>
                        <a:defRPr sz="1300">
                          <a:solidFill>
                            <a:srgbClr val="B0B8C4"/>
                          </a:solidFill>
                          <a:latin typeface="Segoe UI"/>
                        </a:defRPr>
                      </a:pPr>
                      <a:r>
                        <a:rPr dirty="0"/>
                        <a:t>Animation</a:t>
                      </a:r>
                    </a:p>
                  </a:txBody>
                  <a:tcPr>
                    <a:solidFill>
                      <a:srgbClr val="121820"/>
                    </a:solidFill>
                  </a:tcPr>
                </a:tc>
                <a:tc>
                  <a:txBody>
                    <a:bodyPr/>
                    <a:lstStyle/>
                    <a:p>
                      <a:pPr>
                        <a:defRPr sz="1300">
                          <a:solidFill>
                            <a:srgbClr val="B0B8C4"/>
                          </a:solidFill>
                          <a:latin typeface="Segoe UI"/>
                        </a:defRPr>
                      </a:pPr>
                      <a:r>
                        <a:t>Anima qualquer propriedade ao longo do tempo.</a:t>
                      </a:r>
                    </a:p>
                  </a:txBody>
                  <a:tcPr>
                    <a:solidFill>
                      <a:srgbClr val="121820"/>
                    </a:solidFill>
                  </a:tcPr>
                </a:tc>
                <a:tc>
                  <a:txBody>
                    <a:bodyPr/>
                    <a:lstStyle/>
                    <a:p>
                      <a:pPr>
                        <a:defRPr sz="1300">
                          <a:solidFill>
                            <a:srgbClr val="B0B8C4"/>
                          </a:solidFill>
                          <a:latin typeface="Segoe UI"/>
                        </a:defRPr>
                      </a:pPr>
                      <a:r>
                        <a:t>animation="property: rotation; ..."</a:t>
                      </a:r>
                    </a:p>
                  </a:txBody>
                  <a:tcPr>
                    <a:solidFill>
                      <a:srgbClr val="121820"/>
                    </a:solidFill>
                  </a:tcPr>
                </a:tc>
                <a:extLst>
                  <a:ext uri="{0D108BD9-81ED-4DB2-BD59-A6C34878D82A}">
                    <a16:rowId xmlns:a16="http://schemas.microsoft.com/office/drawing/2014/main" val="10007"/>
                  </a:ext>
                </a:extLst>
              </a:tr>
              <a:tr h="432261">
                <a:tc>
                  <a:txBody>
                    <a:bodyPr/>
                    <a:lstStyle/>
                    <a:p>
                      <a:pPr>
                        <a:defRPr sz="1300">
                          <a:solidFill>
                            <a:srgbClr val="B0B8C4"/>
                          </a:solidFill>
                          <a:latin typeface="Segoe UI"/>
                        </a:defRPr>
                      </a:pPr>
                      <a:r>
                        <a:t>Event</a:t>
                      </a:r>
                    </a:p>
                  </a:txBody>
                  <a:tcPr>
                    <a:solidFill>
                      <a:srgbClr val="161E28"/>
                    </a:solidFill>
                  </a:tcPr>
                </a:tc>
                <a:tc>
                  <a:txBody>
                    <a:bodyPr/>
                    <a:lstStyle/>
                    <a:p>
                      <a:pPr>
                        <a:defRPr sz="1300">
                          <a:solidFill>
                            <a:srgbClr val="B0B8C4"/>
                          </a:solidFill>
                          <a:latin typeface="Segoe UI"/>
                        </a:defRPr>
                      </a:pPr>
                      <a:r>
                        <a:t>Acao que dispara algo (mouseenter, click, fusing).</a:t>
                      </a:r>
                    </a:p>
                  </a:txBody>
                  <a:tcPr>
                    <a:solidFill>
                      <a:srgbClr val="161E28"/>
                    </a:solidFill>
                  </a:tcPr>
                </a:tc>
                <a:tc>
                  <a:txBody>
                    <a:bodyPr/>
                    <a:lstStyle/>
                    <a:p>
                      <a:pPr>
                        <a:defRPr sz="1300">
                          <a:solidFill>
                            <a:srgbClr val="B0B8C4"/>
                          </a:solidFill>
                          <a:latin typeface="Segoe UI"/>
                        </a:defRPr>
                      </a:pPr>
                      <a:r>
                        <a:t>_event: mouseenter</a:t>
                      </a:r>
                    </a:p>
                  </a:txBody>
                  <a:tcPr>
                    <a:solidFill>
                      <a:srgbClr val="161E28"/>
                    </a:solidFill>
                  </a:tcPr>
                </a:tc>
                <a:extLst>
                  <a:ext uri="{0D108BD9-81ED-4DB2-BD59-A6C34878D82A}">
                    <a16:rowId xmlns:a16="http://schemas.microsoft.com/office/drawing/2014/main" val="10008"/>
                  </a:ext>
                </a:extLst>
              </a:tr>
              <a:tr h="432261">
                <a:tc>
                  <a:txBody>
                    <a:bodyPr/>
                    <a:lstStyle/>
                    <a:p>
                      <a:pPr>
                        <a:defRPr sz="1300">
                          <a:solidFill>
                            <a:srgbClr val="B0B8C4"/>
                          </a:solidFill>
                          <a:latin typeface="Segoe UI"/>
                        </a:defRPr>
                      </a:pPr>
                      <a:r>
                        <a:t>Mixin (&lt;a-mixin&gt;)</a:t>
                      </a:r>
                    </a:p>
                  </a:txBody>
                  <a:tcPr>
                    <a:solidFill>
                      <a:srgbClr val="121820"/>
                    </a:solidFill>
                  </a:tcPr>
                </a:tc>
                <a:tc>
                  <a:txBody>
                    <a:bodyPr/>
                    <a:lstStyle/>
                    <a:p>
                      <a:pPr>
                        <a:defRPr sz="1300">
                          <a:solidFill>
                            <a:srgbClr val="B0B8C4"/>
                          </a:solidFill>
                          <a:latin typeface="Segoe UI"/>
                        </a:defRPr>
                      </a:pPr>
                      <a:r>
                        <a:t>Template reutilizavel de componentes.</a:t>
                      </a:r>
                    </a:p>
                  </a:txBody>
                  <a:tcPr>
                    <a:solidFill>
                      <a:srgbClr val="121820"/>
                    </a:solidFill>
                  </a:tcPr>
                </a:tc>
                <a:tc>
                  <a:txBody>
                    <a:bodyPr/>
                    <a:lstStyle/>
                    <a:p>
                      <a:pPr>
                        <a:defRPr sz="1300">
                          <a:solidFill>
                            <a:srgbClr val="B0B8C4"/>
                          </a:solidFill>
                          <a:latin typeface="Segoe UI"/>
                        </a:defRPr>
                      </a:pPr>
                      <a:r>
                        <a:t>&lt;a-mixin id="red" color="red"&gt;</a:t>
                      </a:r>
                    </a:p>
                  </a:txBody>
                  <a:tcPr>
                    <a:solidFill>
                      <a:srgbClr val="121820"/>
                    </a:solidFill>
                  </a:tcPr>
                </a:tc>
                <a:extLst>
                  <a:ext uri="{0D108BD9-81ED-4DB2-BD59-A6C34878D82A}">
                    <a16:rowId xmlns:a16="http://schemas.microsoft.com/office/drawing/2014/main" val="10009"/>
                  </a:ext>
                </a:extLst>
              </a:tr>
              <a:tr h="432270">
                <a:tc>
                  <a:txBody>
                    <a:bodyPr/>
                    <a:lstStyle/>
                    <a:p>
                      <a:pPr>
                        <a:defRPr sz="1300">
                          <a:solidFill>
                            <a:srgbClr val="B0B8C4"/>
                          </a:solidFill>
                          <a:latin typeface="Segoe UI"/>
                        </a:defRPr>
                      </a:pPr>
                      <a:r>
                        <a:t>System</a:t>
                      </a:r>
                    </a:p>
                  </a:txBody>
                  <a:tcPr>
                    <a:solidFill>
                      <a:srgbClr val="161E28"/>
                    </a:solidFill>
                  </a:tcPr>
                </a:tc>
                <a:tc>
                  <a:txBody>
                    <a:bodyPr/>
                    <a:lstStyle/>
                    <a:p>
                      <a:pPr>
                        <a:defRPr sz="1300">
                          <a:solidFill>
                            <a:srgbClr val="B0B8C4"/>
                          </a:solidFill>
                          <a:latin typeface="Segoe UI"/>
                        </a:defRPr>
                      </a:pPr>
                      <a:r>
                        <a:t>Logica global singleton. Gere componentes do mesmo tipo.</a:t>
                      </a:r>
                    </a:p>
                  </a:txBody>
                  <a:tcPr>
                    <a:solidFill>
                      <a:srgbClr val="161E28"/>
                    </a:solidFill>
                  </a:tcPr>
                </a:tc>
                <a:tc>
                  <a:txBody>
                    <a:bodyPr/>
                    <a:lstStyle/>
                    <a:p>
                      <a:pPr>
                        <a:defRPr sz="1300">
                          <a:solidFill>
                            <a:srgbClr val="B0B8C4"/>
                          </a:solidFill>
                          <a:latin typeface="Segoe UI"/>
                        </a:defRPr>
                      </a:pPr>
                      <a:r>
                        <a:rPr dirty="0"/>
                        <a:t>renderer system, physics system</a:t>
                      </a:r>
                    </a:p>
                  </a:txBody>
                  <a:tcPr>
                    <a:solidFill>
                      <a:srgbClr val="161E28"/>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Documentacao: aframe.io/docs | ECS = Entity-Component-System (padrao de arquitetura de game engines)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A-Frame: Primitivos Disponiveis (Built-in)</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45720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81000">
                <a:tc>
                  <a:txBody>
                    <a:bodyPr/>
                    <a:lstStyle/>
                    <a:p>
                      <a:pPr>
                        <a:defRPr sz="1400" b="1">
                          <a:solidFill>
                            <a:srgbClr val="FFFFFF"/>
                          </a:solidFill>
                          <a:latin typeface="Segoe UI"/>
                        </a:defRPr>
                      </a:pPr>
                      <a:r>
                        <a:t>Primitivo</a:t>
                      </a:r>
                    </a:p>
                  </a:txBody>
                  <a:tcPr>
                    <a:solidFill>
                      <a:srgbClr val="1A2A3A"/>
                    </a:solidFill>
                  </a:tcPr>
                </a:tc>
                <a:tc>
                  <a:txBody>
                    <a:bodyPr/>
                    <a:lstStyle/>
                    <a:p>
                      <a:pPr>
                        <a:defRPr sz="1400" b="1">
                          <a:solidFill>
                            <a:srgbClr val="FFFFFF"/>
                          </a:solidFill>
                          <a:latin typeface="Segoe UI"/>
                        </a:defRPr>
                      </a:pPr>
                      <a:r>
                        <a:t>Componentes implicitios</a:t>
                      </a:r>
                    </a:p>
                  </a:txBody>
                  <a:tcPr>
                    <a:solidFill>
                      <a:srgbClr val="1A2A3A"/>
                    </a:solidFill>
                  </a:tcPr>
                </a:tc>
                <a:tc>
                  <a:txBody>
                    <a:bodyPr/>
                    <a:lstStyle/>
                    <a:p>
                      <a:pPr>
                        <a:defRPr sz="1400" b="1">
                          <a:solidFill>
                            <a:srgbClr val="FFFFFF"/>
                          </a:solidFill>
                          <a:latin typeface="Segoe UI"/>
                        </a:defRPr>
                      </a:pPr>
                      <a:r>
                        <a:t>Uso tipico</a:t>
                      </a:r>
                    </a:p>
                  </a:txBody>
                  <a:tcPr>
                    <a:solidFill>
                      <a:srgbClr val="1A2A3A"/>
                    </a:solidFill>
                  </a:tcPr>
                </a:tc>
                <a:extLst>
                  <a:ext uri="{0D108BD9-81ED-4DB2-BD59-A6C34878D82A}">
                    <a16:rowId xmlns:a16="http://schemas.microsoft.com/office/drawing/2014/main" val="10000"/>
                  </a:ext>
                </a:extLst>
              </a:tr>
              <a:tr h="381000">
                <a:tc>
                  <a:txBody>
                    <a:bodyPr/>
                    <a:lstStyle/>
                    <a:p>
                      <a:pPr>
                        <a:defRPr sz="1300">
                          <a:solidFill>
                            <a:srgbClr val="B0B8C4"/>
                          </a:solidFill>
                          <a:latin typeface="Segoe UI"/>
                        </a:defRPr>
                      </a:pPr>
                      <a:r>
                        <a:t>&lt;a-box&gt;</a:t>
                      </a:r>
                    </a:p>
                  </a:txBody>
                  <a:tcPr>
                    <a:solidFill>
                      <a:srgbClr val="121820"/>
                    </a:solidFill>
                  </a:tcPr>
                </a:tc>
                <a:tc>
                  <a:txBody>
                    <a:bodyPr/>
                    <a:lstStyle/>
                    <a:p>
                      <a:pPr>
                        <a:defRPr sz="1300">
                          <a:solidFill>
                            <a:srgbClr val="B0B8C4"/>
                          </a:solidFill>
                          <a:latin typeface="Segoe UI"/>
                        </a:defRPr>
                      </a:pPr>
                      <a:r>
                        <a:t>geometry(box), material</a:t>
                      </a:r>
                    </a:p>
                  </a:txBody>
                  <a:tcPr>
                    <a:solidFill>
                      <a:srgbClr val="121820"/>
                    </a:solidFill>
                  </a:tcPr>
                </a:tc>
                <a:tc>
                  <a:txBody>
                    <a:bodyPr/>
                    <a:lstStyle/>
                    <a:p>
                      <a:pPr>
                        <a:defRPr sz="1300">
                          <a:solidFill>
                            <a:srgbClr val="B0B8C4"/>
                          </a:solidFill>
                          <a:latin typeface="Segoe UI"/>
                        </a:defRPr>
                      </a:pPr>
                      <a:r>
                        <a:t>Edificios, paredes, caixas</a:t>
                      </a:r>
                    </a:p>
                  </a:txBody>
                  <a:tcPr>
                    <a:solidFill>
                      <a:srgbClr val="121820"/>
                    </a:solidFill>
                  </a:tcPr>
                </a:tc>
                <a:extLst>
                  <a:ext uri="{0D108BD9-81ED-4DB2-BD59-A6C34878D82A}">
                    <a16:rowId xmlns:a16="http://schemas.microsoft.com/office/drawing/2014/main" val="10001"/>
                  </a:ext>
                </a:extLst>
              </a:tr>
              <a:tr h="381000">
                <a:tc>
                  <a:txBody>
                    <a:bodyPr/>
                    <a:lstStyle/>
                    <a:p>
                      <a:pPr>
                        <a:defRPr sz="1300">
                          <a:solidFill>
                            <a:srgbClr val="B0B8C4"/>
                          </a:solidFill>
                          <a:latin typeface="Segoe UI"/>
                        </a:defRPr>
                      </a:pPr>
                      <a:r>
                        <a:t>&lt;a-sphere&gt;</a:t>
                      </a:r>
                    </a:p>
                  </a:txBody>
                  <a:tcPr>
                    <a:solidFill>
                      <a:srgbClr val="161E28"/>
                    </a:solidFill>
                  </a:tcPr>
                </a:tc>
                <a:tc>
                  <a:txBody>
                    <a:bodyPr/>
                    <a:lstStyle/>
                    <a:p>
                      <a:pPr>
                        <a:defRPr sz="1300">
                          <a:solidFill>
                            <a:srgbClr val="B0B8C4"/>
                          </a:solidFill>
                          <a:latin typeface="Segoe UI"/>
                        </a:defRPr>
                      </a:pPr>
                      <a:r>
                        <a:t>geometry(sphere), material</a:t>
                      </a:r>
                    </a:p>
                  </a:txBody>
                  <a:tcPr>
                    <a:solidFill>
                      <a:srgbClr val="161E28"/>
                    </a:solidFill>
                  </a:tcPr>
                </a:tc>
                <a:tc>
                  <a:txBody>
                    <a:bodyPr/>
                    <a:lstStyle/>
                    <a:p>
                      <a:pPr>
                        <a:defRPr sz="1300">
                          <a:solidFill>
                            <a:srgbClr val="B0B8C4"/>
                          </a:solidFill>
                          <a:latin typeface="Segoe UI"/>
                        </a:defRPr>
                      </a:pPr>
                      <a:r>
                        <a:t>Planetas, bolas, atomos</a:t>
                      </a:r>
                    </a:p>
                  </a:txBody>
                  <a:tcPr>
                    <a:solidFill>
                      <a:srgbClr val="161E28"/>
                    </a:solidFill>
                  </a:tcPr>
                </a:tc>
                <a:extLst>
                  <a:ext uri="{0D108BD9-81ED-4DB2-BD59-A6C34878D82A}">
                    <a16:rowId xmlns:a16="http://schemas.microsoft.com/office/drawing/2014/main" val="10002"/>
                  </a:ext>
                </a:extLst>
              </a:tr>
              <a:tr h="381000">
                <a:tc>
                  <a:txBody>
                    <a:bodyPr/>
                    <a:lstStyle/>
                    <a:p>
                      <a:pPr>
                        <a:defRPr sz="1300">
                          <a:solidFill>
                            <a:srgbClr val="B0B8C4"/>
                          </a:solidFill>
                          <a:latin typeface="Segoe UI"/>
                        </a:defRPr>
                      </a:pPr>
                      <a:r>
                        <a:t>&lt;a-cylinder&gt;</a:t>
                      </a:r>
                    </a:p>
                  </a:txBody>
                  <a:tcPr>
                    <a:solidFill>
                      <a:srgbClr val="121820"/>
                    </a:solidFill>
                  </a:tcPr>
                </a:tc>
                <a:tc>
                  <a:txBody>
                    <a:bodyPr/>
                    <a:lstStyle/>
                    <a:p>
                      <a:pPr>
                        <a:defRPr sz="1300">
                          <a:solidFill>
                            <a:srgbClr val="B0B8C4"/>
                          </a:solidFill>
                          <a:latin typeface="Segoe UI"/>
                        </a:defRPr>
                      </a:pPr>
                      <a:r>
                        <a:t>geometry(cylinder), material</a:t>
                      </a:r>
                    </a:p>
                  </a:txBody>
                  <a:tcPr>
                    <a:solidFill>
                      <a:srgbClr val="121820"/>
                    </a:solidFill>
                  </a:tcPr>
                </a:tc>
                <a:tc>
                  <a:txBody>
                    <a:bodyPr/>
                    <a:lstStyle/>
                    <a:p>
                      <a:pPr>
                        <a:defRPr sz="1300">
                          <a:solidFill>
                            <a:srgbClr val="B0B8C4"/>
                          </a:solidFill>
                          <a:latin typeface="Segoe UI"/>
                        </a:defRPr>
                      </a:pPr>
                      <a:r>
                        <a:t>Pilares, tubos, vasos</a:t>
                      </a:r>
                    </a:p>
                  </a:txBody>
                  <a:tcPr>
                    <a:solidFill>
                      <a:srgbClr val="121820"/>
                    </a:solidFill>
                  </a:tcPr>
                </a:tc>
                <a:extLst>
                  <a:ext uri="{0D108BD9-81ED-4DB2-BD59-A6C34878D82A}">
                    <a16:rowId xmlns:a16="http://schemas.microsoft.com/office/drawing/2014/main" val="10003"/>
                  </a:ext>
                </a:extLst>
              </a:tr>
              <a:tr h="381000">
                <a:tc>
                  <a:txBody>
                    <a:bodyPr/>
                    <a:lstStyle/>
                    <a:p>
                      <a:pPr>
                        <a:defRPr sz="1300">
                          <a:solidFill>
                            <a:srgbClr val="B0B8C4"/>
                          </a:solidFill>
                          <a:latin typeface="Segoe UI"/>
                        </a:defRPr>
                      </a:pPr>
                      <a:r>
                        <a:t>&lt;a-plane&gt;</a:t>
                      </a:r>
                    </a:p>
                  </a:txBody>
                  <a:tcPr>
                    <a:solidFill>
                      <a:srgbClr val="161E28"/>
                    </a:solidFill>
                  </a:tcPr>
                </a:tc>
                <a:tc>
                  <a:txBody>
                    <a:bodyPr/>
                    <a:lstStyle/>
                    <a:p>
                      <a:pPr>
                        <a:defRPr sz="1300">
                          <a:solidFill>
                            <a:srgbClr val="B0B8C4"/>
                          </a:solidFill>
                          <a:latin typeface="Segoe UI"/>
                        </a:defRPr>
                      </a:pPr>
                      <a:r>
                        <a:t>geometry(plane), material</a:t>
                      </a:r>
                    </a:p>
                  </a:txBody>
                  <a:tcPr>
                    <a:solidFill>
                      <a:srgbClr val="161E28"/>
                    </a:solidFill>
                  </a:tcPr>
                </a:tc>
                <a:tc>
                  <a:txBody>
                    <a:bodyPr/>
                    <a:lstStyle/>
                    <a:p>
                      <a:pPr>
                        <a:defRPr sz="1300">
                          <a:solidFill>
                            <a:srgbClr val="B0B8C4"/>
                          </a:solidFill>
                          <a:latin typeface="Segoe UI"/>
                        </a:defRPr>
                      </a:pPr>
                      <a:r>
                        <a:t>Chao, paredes, ecras</a:t>
                      </a:r>
                    </a:p>
                  </a:txBody>
                  <a:tcPr>
                    <a:solidFill>
                      <a:srgbClr val="161E28"/>
                    </a:solidFill>
                  </a:tcPr>
                </a:tc>
                <a:extLst>
                  <a:ext uri="{0D108BD9-81ED-4DB2-BD59-A6C34878D82A}">
                    <a16:rowId xmlns:a16="http://schemas.microsoft.com/office/drawing/2014/main" val="10004"/>
                  </a:ext>
                </a:extLst>
              </a:tr>
              <a:tr h="381000">
                <a:tc>
                  <a:txBody>
                    <a:bodyPr/>
                    <a:lstStyle/>
                    <a:p>
                      <a:pPr>
                        <a:defRPr sz="1300">
                          <a:solidFill>
                            <a:srgbClr val="B0B8C4"/>
                          </a:solidFill>
                          <a:latin typeface="Segoe UI"/>
                        </a:defRPr>
                      </a:pPr>
                      <a:r>
                        <a:t>&lt;a-sky&gt;</a:t>
                      </a:r>
                    </a:p>
                  </a:txBody>
                  <a:tcPr>
                    <a:solidFill>
                      <a:srgbClr val="121820"/>
                    </a:solidFill>
                  </a:tcPr>
                </a:tc>
                <a:tc>
                  <a:txBody>
                    <a:bodyPr/>
                    <a:lstStyle/>
                    <a:p>
                      <a:pPr>
                        <a:defRPr sz="1300">
                          <a:solidFill>
                            <a:srgbClr val="B0B8C4"/>
                          </a:solidFill>
                          <a:latin typeface="Segoe UI"/>
                        </a:defRPr>
                      </a:pPr>
                      <a:r>
                        <a:t>geometry(sphere r:5000), material</a:t>
                      </a:r>
                    </a:p>
                  </a:txBody>
                  <a:tcPr>
                    <a:solidFill>
                      <a:srgbClr val="121820"/>
                    </a:solidFill>
                  </a:tcPr>
                </a:tc>
                <a:tc>
                  <a:txBody>
                    <a:bodyPr/>
                    <a:lstStyle/>
                    <a:p>
                      <a:pPr>
                        <a:defRPr sz="1300">
                          <a:solidFill>
                            <a:srgbClr val="B0B8C4"/>
                          </a:solidFill>
                          <a:latin typeface="Segoe UI"/>
                        </a:defRPr>
                      </a:pPr>
                      <a:r>
                        <a:t>Panorama 360 (equirectangular)</a:t>
                      </a:r>
                    </a:p>
                  </a:txBody>
                  <a:tcPr>
                    <a:solidFill>
                      <a:srgbClr val="121820"/>
                    </a:solidFill>
                  </a:tcPr>
                </a:tc>
                <a:extLst>
                  <a:ext uri="{0D108BD9-81ED-4DB2-BD59-A6C34878D82A}">
                    <a16:rowId xmlns:a16="http://schemas.microsoft.com/office/drawing/2014/main" val="10005"/>
                  </a:ext>
                </a:extLst>
              </a:tr>
              <a:tr h="381000">
                <a:tc>
                  <a:txBody>
                    <a:bodyPr/>
                    <a:lstStyle/>
                    <a:p>
                      <a:pPr>
                        <a:defRPr sz="1300">
                          <a:solidFill>
                            <a:srgbClr val="B0B8C4"/>
                          </a:solidFill>
                          <a:latin typeface="Segoe UI"/>
                        </a:defRPr>
                      </a:pPr>
                      <a:r>
                        <a:t>&lt;a-torus&gt;</a:t>
                      </a:r>
                    </a:p>
                  </a:txBody>
                  <a:tcPr>
                    <a:solidFill>
                      <a:srgbClr val="161E28"/>
                    </a:solidFill>
                  </a:tcPr>
                </a:tc>
                <a:tc>
                  <a:txBody>
                    <a:bodyPr/>
                    <a:lstStyle/>
                    <a:p>
                      <a:pPr>
                        <a:defRPr sz="1300">
                          <a:solidFill>
                            <a:srgbClr val="B0B8C4"/>
                          </a:solidFill>
                          <a:latin typeface="Segoe UI"/>
                        </a:defRPr>
                      </a:pPr>
                      <a:r>
                        <a:t>geometry(torus), material</a:t>
                      </a:r>
                    </a:p>
                  </a:txBody>
                  <a:tcPr>
                    <a:solidFill>
                      <a:srgbClr val="161E28"/>
                    </a:solidFill>
                  </a:tcPr>
                </a:tc>
                <a:tc>
                  <a:txBody>
                    <a:bodyPr/>
                    <a:lstStyle/>
                    <a:p>
                      <a:pPr>
                        <a:defRPr sz="1300">
                          <a:solidFill>
                            <a:srgbClr val="B0B8C4"/>
                          </a:solidFill>
                          <a:latin typeface="Segoe UI"/>
                        </a:defRPr>
                      </a:pPr>
                      <a:r>
                        <a:t>Aneis, donuts, orbitas</a:t>
                      </a:r>
                    </a:p>
                  </a:txBody>
                  <a:tcPr>
                    <a:solidFill>
                      <a:srgbClr val="161E28"/>
                    </a:solidFill>
                  </a:tcPr>
                </a:tc>
                <a:extLst>
                  <a:ext uri="{0D108BD9-81ED-4DB2-BD59-A6C34878D82A}">
                    <a16:rowId xmlns:a16="http://schemas.microsoft.com/office/drawing/2014/main" val="10006"/>
                  </a:ext>
                </a:extLst>
              </a:tr>
              <a:tr h="381000">
                <a:tc>
                  <a:txBody>
                    <a:bodyPr/>
                    <a:lstStyle/>
                    <a:p>
                      <a:pPr>
                        <a:defRPr sz="1300">
                          <a:solidFill>
                            <a:srgbClr val="B0B8C4"/>
                          </a:solidFill>
                          <a:latin typeface="Segoe UI"/>
                        </a:defRPr>
                      </a:pPr>
                      <a:r>
                        <a:t>&lt;a-cone&gt;</a:t>
                      </a:r>
                    </a:p>
                  </a:txBody>
                  <a:tcPr>
                    <a:solidFill>
                      <a:srgbClr val="121820"/>
                    </a:solidFill>
                  </a:tcPr>
                </a:tc>
                <a:tc>
                  <a:txBody>
                    <a:bodyPr/>
                    <a:lstStyle/>
                    <a:p>
                      <a:pPr>
                        <a:defRPr sz="1300">
                          <a:solidFill>
                            <a:srgbClr val="B0B8C4"/>
                          </a:solidFill>
                          <a:latin typeface="Segoe UI"/>
                        </a:defRPr>
                      </a:pPr>
                      <a:r>
                        <a:t>geometry(cone), material</a:t>
                      </a:r>
                    </a:p>
                  </a:txBody>
                  <a:tcPr>
                    <a:solidFill>
                      <a:srgbClr val="121820"/>
                    </a:solidFill>
                  </a:tcPr>
                </a:tc>
                <a:tc>
                  <a:txBody>
                    <a:bodyPr/>
                    <a:lstStyle/>
                    <a:p>
                      <a:pPr>
                        <a:defRPr sz="1300">
                          <a:solidFill>
                            <a:srgbClr val="B0B8C4"/>
                          </a:solidFill>
                          <a:latin typeface="Segoe UI"/>
                        </a:defRPr>
                      </a:pPr>
                      <a:r>
                        <a:t>Setas, indicadores</a:t>
                      </a:r>
                    </a:p>
                  </a:txBody>
                  <a:tcPr>
                    <a:solidFill>
                      <a:srgbClr val="121820"/>
                    </a:solidFill>
                  </a:tcPr>
                </a:tc>
                <a:extLst>
                  <a:ext uri="{0D108BD9-81ED-4DB2-BD59-A6C34878D82A}">
                    <a16:rowId xmlns:a16="http://schemas.microsoft.com/office/drawing/2014/main" val="10007"/>
                  </a:ext>
                </a:extLst>
              </a:tr>
              <a:tr h="381000">
                <a:tc>
                  <a:txBody>
                    <a:bodyPr/>
                    <a:lstStyle/>
                    <a:p>
                      <a:pPr>
                        <a:defRPr sz="1300">
                          <a:solidFill>
                            <a:srgbClr val="B0B8C4"/>
                          </a:solidFill>
                          <a:latin typeface="Segoe UI"/>
                        </a:defRPr>
                      </a:pPr>
                      <a:r>
                        <a:t>&lt;a-circle&gt;</a:t>
                      </a:r>
                    </a:p>
                  </a:txBody>
                  <a:tcPr>
                    <a:solidFill>
                      <a:srgbClr val="161E28"/>
                    </a:solidFill>
                  </a:tcPr>
                </a:tc>
                <a:tc>
                  <a:txBody>
                    <a:bodyPr/>
                    <a:lstStyle/>
                    <a:p>
                      <a:pPr>
                        <a:defRPr sz="1300">
                          <a:solidFill>
                            <a:srgbClr val="B0B8C4"/>
                          </a:solidFill>
                          <a:latin typeface="Segoe UI"/>
                        </a:defRPr>
                      </a:pPr>
                      <a:r>
                        <a:t>geometry(circle), material</a:t>
                      </a:r>
                    </a:p>
                  </a:txBody>
                  <a:tcPr>
                    <a:solidFill>
                      <a:srgbClr val="161E28"/>
                    </a:solidFill>
                  </a:tcPr>
                </a:tc>
                <a:tc>
                  <a:txBody>
                    <a:bodyPr/>
                    <a:lstStyle/>
                    <a:p>
                      <a:pPr>
                        <a:defRPr sz="1300">
                          <a:solidFill>
                            <a:srgbClr val="B0B8C4"/>
                          </a:solidFill>
                          <a:latin typeface="Segoe UI"/>
                        </a:defRPr>
                      </a:pPr>
                      <a:r>
                        <a:t>Circulos, relogios</a:t>
                      </a:r>
                    </a:p>
                  </a:txBody>
                  <a:tcPr>
                    <a:solidFill>
                      <a:srgbClr val="161E28"/>
                    </a:solidFill>
                  </a:tcPr>
                </a:tc>
                <a:extLst>
                  <a:ext uri="{0D108BD9-81ED-4DB2-BD59-A6C34878D82A}">
                    <a16:rowId xmlns:a16="http://schemas.microsoft.com/office/drawing/2014/main" val="10008"/>
                  </a:ext>
                </a:extLst>
              </a:tr>
              <a:tr h="381000">
                <a:tc>
                  <a:txBody>
                    <a:bodyPr/>
                    <a:lstStyle/>
                    <a:p>
                      <a:pPr>
                        <a:defRPr sz="1300">
                          <a:solidFill>
                            <a:srgbClr val="B0B8C4"/>
                          </a:solidFill>
                          <a:latin typeface="Segoe UI"/>
                        </a:defRPr>
                      </a:pPr>
                      <a:r>
                        <a:t>&lt;a-text&gt;</a:t>
                      </a:r>
                    </a:p>
                  </a:txBody>
                  <a:tcPr>
                    <a:solidFill>
                      <a:srgbClr val="121820"/>
                    </a:solidFill>
                  </a:tcPr>
                </a:tc>
                <a:tc>
                  <a:txBody>
                    <a:bodyPr/>
                    <a:lstStyle/>
                    <a:p>
                      <a:pPr>
                        <a:defRPr sz="1300">
                          <a:solidFill>
                            <a:srgbClr val="B0B8C4"/>
                          </a:solidFill>
                          <a:latin typeface="Segoe UI"/>
                        </a:defRPr>
                      </a:pPr>
                      <a:r>
                        <a:t>text</a:t>
                      </a:r>
                    </a:p>
                  </a:txBody>
                  <a:tcPr>
                    <a:solidFill>
                      <a:srgbClr val="121820"/>
                    </a:solidFill>
                  </a:tcPr>
                </a:tc>
                <a:tc>
                  <a:txBody>
                    <a:bodyPr/>
                    <a:lstStyle/>
                    <a:p>
                      <a:pPr>
                        <a:defRPr sz="1300">
                          <a:solidFill>
                            <a:srgbClr val="B0B8C4"/>
                          </a:solidFill>
                          <a:latin typeface="Segoe UI"/>
                        </a:defRPr>
                      </a:pPr>
                      <a:r>
                        <a:t>Labels, titulos, instrucoes</a:t>
                      </a:r>
                    </a:p>
                  </a:txBody>
                  <a:tcPr>
                    <a:solidFill>
                      <a:srgbClr val="121820"/>
                    </a:solidFill>
                  </a:tcPr>
                </a:tc>
                <a:extLst>
                  <a:ext uri="{0D108BD9-81ED-4DB2-BD59-A6C34878D82A}">
                    <a16:rowId xmlns:a16="http://schemas.microsoft.com/office/drawing/2014/main" val="10009"/>
                  </a:ext>
                </a:extLst>
              </a:tr>
              <a:tr h="381000">
                <a:tc>
                  <a:txBody>
                    <a:bodyPr/>
                    <a:lstStyle/>
                    <a:p>
                      <a:pPr>
                        <a:defRPr sz="1300">
                          <a:solidFill>
                            <a:srgbClr val="B0B8C4"/>
                          </a:solidFill>
                          <a:latin typeface="Segoe UI"/>
                        </a:defRPr>
                      </a:pPr>
                      <a:r>
                        <a:t>&lt;a-image&gt;</a:t>
                      </a:r>
                    </a:p>
                  </a:txBody>
                  <a:tcPr>
                    <a:solidFill>
                      <a:srgbClr val="161E28"/>
                    </a:solidFill>
                  </a:tcPr>
                </a:tc>
                <a:tc>
                  <a:txBody>
                    <a:bodyPr/>
                    <a:lstStyle/>
                    <a:p>
                      <a:pPr>
                        <a:defRPr sz="1300">
                          <a:solidFill>
                            <a:srgbClr val="B0B8C4"/>
                          </a:solidFill>
                          <a:latin typeface="Segoe UI"/>
                        </a:defRPr>
                      </a:pPr>
                      <a:r>
                        <a:t>geometry(plane), material(src)</a:t>
                      </a:r>
                    </a:p>
                  </a:txBody>
                  <a:tcPr>
                    <a:solidFill>
                      <a:srgbClr val="161E28"/>
                    </a:solidFill>
                  </a:tcPr>
                </a:tc>
                <a:tc>
                  <a:txBody>
                    <a:bodyPr/>
                    <a:lstStyle/>
                    <a:p>
                      <a:pPr>
                        <a:defRPr sz="1300">
                          <a:solidFill>
                            <a:srgbClr val="B0B8C4"/>
                          </a:solidFill>
                          <a:latin typeface="Segoe UI"/>
                        </a:defRPr>
                      </a:pPr>
                      <a:r>
                        <a:t>Fotos, diagramas 2D em VR</a:t>
                      </a:r>
                    </a:p>
                  </a:txBody>
                  <a:tcPr>
                    <a:solidFill>
                      <a:srgbClr val="161E28"/>
                    </a:solidFill>
                  </a:tcPr>
                </a:tc>
                <a:extLst>
                  <a:ext uri="{0D108BD9-81ED-4DB2-BD59-A6C34878D82A}">
                    <a16:rowId xmlns:a16="http://schemas.microsoft.com/office/drawing/2014/main" val="10010"/>
                  </a:ext>
                </a:extLst>
              </a:tr>
              <a:tr h="381000">
                <a:tc>
                  <a:txBody>
                    <a:bodyPr/>
                    <a:lstStyle/>
                    <a:p>
                      <a:pPr>
                        <a:defRPr sz="1300">
                          <a:solidFill>
                            <a:srgbClr val="B0B8C4"/>
                          </a:solidFill>
                          <a:latin typeface="Segoe UI"/>
                        </a:defRPr>
                      </a:pPr>
                      <a:r>
                        <a:t>&lt;a-video&gt;</a:t>
                      </a:r>
                    </a:p>
                  </a:txBody>
                  <a:tcPr>
                    <a:solidFill>
                      <a:srgbClr val="121820"/>
                    </a:solidFill>
                  </a:tcPr>
                </a:tc>
                <a:tc>
                  <a:txBody>
                    <a:bodyPr/>
                    <a:lstStyle/>
                    <a:p>
                      <a:pPr>
                        <a:defRPr sz="1300">
                          <a:solidFill>
                            <a:srgbClr val="B0B8C4"/>
                          </a:solidFill>
                          <a:latin typeface="Segoe UI"/>
                        </a:defRPr>
                      </a:pPr>
                      <a:r>
                        <a:t>geometry(plane), material(src)</a:t>
                      </a:r>
                    </a:p>
                  </a:txBody>
                  <a:tcPr>
                    <a:solidFill>
                      <a:srgbClr val="121820"/>
                    </a:solidFill>
                  </a:tcPr>
                </a:tc>
                <a:tc>
                  <a:txBody>
                    <a:bodyPr/>
                    <a:lstStyle/>
                    <a:p>
                      <a:pPr>
                        <a:defRPr sz="1300">
                          <a:solidFill>
                            <a:srgbClr val="B0B8C4"/>
                          </a:solidFill>
                          <a:latin typeface="Segoe UI"/>
                        </a:defRPr>
                      </a:pPr>
                      <a:r>
                        <a:t>Videos 2D dentro da cena VR</a:t>
                      </a:r>
                    </a:p>
                  </a:txBody>
                  <a:tcPr>
                    <a:solidFill>
                      <a:srgbClr val="12182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A-Frame Inspector: Editor Visual Integrado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486400" cy="5029200"/>
          </a:xfrm>
          <a:prstGeom prst="rect">
            <a:avLst/>
          </a:prstGeom>
          <a:noFill/>
        </p:spPr>
        <p:txBody>
          <a:bodyPr wrap="square">
            <a:spAutoFit/>
          </a:bodyPr>
          <a:lstStyle/>
          <a:p>
            <a:pPr algn="l">
              <a:defRPr sz="3600" b="1">
                <a:solidFill>
                  <a:srgbClr val="58A6FF"/>
                </a:solidFill>
                <a:latin typeface="Segoe UI"/>
              </a:defRPr>
            </a:pPr>
            <a:r>
              <a:t>Ctrl + Alt + I</a:t>
            </a:r>
          </a:p>
          <a:p>
            <a:pPr algn="l">
              <a:spcBef>
                <a:spcPts val="600"/>
              </a:spcBef>
              <a:defRPr sz="600" b="0" i="0">
                <a:solidFill>
                  <a:srgbClr val="FFFFFF"/>
                </a:solidFill>
                <a:latin typeface="Segoe UI"/>
              </a:defRPr>
            </a:pPr>
            <a:endParaRPr/>
          </a:p>
          <a:p>
            <a:pPr algn="l">
              <a:spcBef>
                <a:spcPts val="600"/>
              </a:spcBef>
              <a:defRPr sz="1700" b="0" i="0">
                <a:solidFill>
                  <a:srgbClr val="B0B8C4"/>
                </a:solidFill>
                <a:latin typeface="Segoe UI"/>
              </a:defRPr>
            </a:pPr>
            <a:r>
              <a:t>O Inspector e um editor visual BUILT-IN.</a:t>
            </a:r>
          </a:p>
          <a:p>
            <a:pPr algn="l">
              <a:spcBef>
                <a:spcPts val="600"/>
              </a:spcBef>
              <a:defRPr sz="1700" b="0" i="0">
                <a:solidFill>
                  <a:srgbClr val="B0B8C4"/>
                </a:solidFill>
                <a:latin typeface="Segoe UI"/>
              </a:defRPr>
            </a:pPr>
            <a:r>
              <a:t>Nao precisa instalar nada — esta incluido em</a:t>
            </a:r>
          </a:p>
          <a:p>
            <a:pPr algn="l">
              <a:spcBef>
                <a:spcPts val="600"/>
              </a:spcBef>
              <a:defRPr sz="1700" b="0" i="0">
                <a:solidFill>
                  <a:srgbClr val="B0B8C4"/>
                </a:solidFill>
                <a:latin typeface="Segoe UI"/>
              </a:defRPr>
            </a:pPr>
            <a:r>
              <a:t>QUALQUER cena A-Frame do mundo!</a:t>
            </a:r>
          </a:p>
          <a:p>
            <a:pPr algn="l">
              <a:spcBef>
                <a:spcPts val="600"/>
              </a:spcBef>
              <a:defRPr sz="1000" b="0" i="0">
                <a:solidFill>
                  <a:srgbClr val="FFFFFF"/>
                </a:solidFill>
                <a:latin typeface="Segoe UI"/>
              </a:defRPr>
            </a:pPr>
            <a:endParaRPr/>
          </a:p>
          <a:p>
            <a:pPr algn="l">
              <a:spcBef>
                <a:spcPts val="600"/>
              </a:spcBef>
              <a:defRPr sz="1700" b="1" i="0">
                <a:solidFill>
                  <a:srgbClr val="FFFFFF"/>
                </a:solidFill>
                <a:latin typeface="Segoe UI"/>
              </a:defRPr>
            </a:pPr>
            <a:r>
              <a:t>Funcionalidades:</a:t>
            </a:r>
          </a:p>
          <a:p>
            <a:pPr algn="l">
              <a:spcBef>
                <a:spcPts val="600"/>
              </a:spcBef>
              <a:defRPr sz="1500" b="0" i="0">
                <a:solidFill>
                  <a:srgbClr val="B0B8C4"/>
                </a:solidFill>
                <a:latin typeface="Segoe UI"/>
              </a:defRPr>
            </a:pPr>
            <a:r>
              <a:t>• Scene graph: arvore hierarquica de entities</a:t>
            </a:r>
          </a:p>
          <a:p>
            <a:pPr algn="l">
              <a:spcBef>
                <a:spcPts val="600"/>
              </a:spcBef>
              <a:defRPr sz="1500" b="0" i="0">
                <a:solidFill>
                  <a:srgbClr val="B0B8C4"/>
                </a:solidFill>
                <a:latin typeface="Segoe UI"/>
              </a:defRPr>
            </a:pPr>
            <a:r>
              <a:t>• Component editor: editar propriedades com UI</a:t>
            </a:r>
          </a:p>
          <a:p>
            <a:pPr algn="l">
              <a:spcBef>
                <a:spcPts val="600"/>
              </a:spcBef>
              <a:defRPr sz="1500" b="0" i="0">
                <a:solidFill>
                  <a:srgbClr val="B0B8C4"/>
                </a:solidFill>
                <a:latin typeface="Segoe UI"/>
              </a:defRPr>
            </a:pPr>
            <a:r>
              <a:t>• Transform gizmos: mover/rodar/escalar visual</a:t>
            </a:r>
          </a:p>
          <a:p>
            <a:pPr algn="l">
              <a:spcBef>
                <a:spcPts val="600"/>
              </a:spcBef>
              <a:defRPr sz="1500" b="0" i="0">
                <a:solidFill>
                  <a:srgbClr val="B0B8C4"/>
                </a:solidFill>
                <a:latin typeface="Segoe UI"/>
              </a:defRPr>
            </a:pPr>
            <a:r>
              <a:t>• Viewport 3D: navegar a cena livremente</a:t>
            </a:r>
          </a:p>
          <a:p>
            <a:pPr algn="l">
              <a:spcBef>
                <a:spcPts val="600"/>
              </a:spcBef>
              <a:defRPr sz="1500" b="0" i="0">
                <a:solidFill>
                  <a:srgbClr val="B0B8C4"/>
                </a:solidFill>
                <a:latin typeface="Segoe UI"/>
              </a:defRPr>
            </a:pPr>
            <a:r>
              <a:t>• Copy to clipboard: copiar HTML do objeto</a:t>
            </a:r>
          </a:p>
          <a:p>
            <a:pPr algn="l">
              <a:spcBef>
                <a:spcPts val="600"/>
              </a:spcBef>
              <a:defRPr sz="1000" b="0" i="0">
                <a:solidFill>
                  <a:srgbClr val="FFFFFF"/>
                </a:solidFill>
                <a:latin typeface="Segoe UI"/>
              </a:defRPr>
            </a:pPr>
            <a:endParaRPr/>
          </a:p>
          <a:p>
            <a:pPr algn="l">
              <a:spcBef>
                <a:spcPts val="600"/>
              </a:spcBef>
              <a:defRPr sz="1700" b="1" i="0">
                <a:solidFill>
                  <a:srgbClr val="3FB950"/>
                </a:solidFill>
                <a:latin typeface="Segoe UI"/>
              </a:defRPr>
            </a:pPr>
            <a:r>
              <a:t>Ideal para quem tem receio de 'partir o codigo'!</a:t>
            </a:r>
          </a:p>
          <a:p>
            <a:pPr algn="l">
              <a:spcBef>
                <a:spcPts val="600"/>
              </a:spcBef>
              <a:defRPr sz="1600" b="0" i="0">
                <a:solidFill>
                  <a:srgbClr val="B0B8C4"/>
                </a:solidFill>
                <a:latin typeface="Segoe UI"/>
              </a:defRPr>
            </a:pPr>
            <a:r>
              <a:t>Explorem visualmente, depois copiem valores.</a:t>
            </a:r>
          </a:p>
        </p:txBody>
      </p:sp>
      <p:sp>
        <p:nvSpPr>
          <p:cNvPr id="5" name="Rounded Rectangle 4"/>
          <p:cNvSpPr/>
          <p:nvPr/>
        </p:nvSpPr>
        <p:spPr>
          <a:xfrm>
            <a:off x="6858000" y="1463040"/>
            <a:ext cx="4754880" cy="475488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1800" b="1">
                <a:solidFill>
                  <a:srgbClr val="3FB950"/>
                </a:solidFill>
                <a:latin typeface="Segoe UI"/>
              </a:defRPr>
            </a:pPr>
            <a:r>
              <a:t>Passo a passo:</a:t>
            </a:r>
          </a:p>
          <a:p>
            <a:pPr algn="l">
              <a:spcBef>
                <a:spcPts val="400"/>
              </a:spcBef>
              <a:defRPr sz="1400" b="0" i="0">
                <a:solidFill>
                  <a:srgbClr val="B0B8C4"/>
                </a:solidFill>
                <a:latin typeface="Segoe UI"/>
              </a:defRPr>
            </a:pPr>
            <a:r>
              <a:t>1. Abrir a cena no Chrome</a:t>
            </a:r>
          </a:p>
          <a:p>
            <a:pPr algn="l">
              <a:spcBef>
                <a:spcPts val="400"/>
              </a:spcBef>
              <a:defRPr sz="1400" b="0" i="0">
                <a:solidFill>
                  <a:srgbClr val="B0B8C4"/>
                </a:solidFill>
                <a:latin typeface="Segoe UI"/>
              </a:defRPr>
            </a:pPr>
            <a:r>
              <a:t>2. Carregar Ctrl + Alt + I</a:t>
            </a:r>
          </a:p>
          <a:p>
            <a:pPr algn="l">
              <a:spcBef>
                <a:spcPts val="400"/>
              </a:spcBef>
              <a:defRPr sz="1400" b="0" i="0">
                <a:solidFill>
                  <a:srgbClr val="B0B8C4"/>
                </a:solidFill>
                <a:latin typeface="Segoe UI"/>
              </a:defRPr>
            </a:pPr>
            <a:r>
              <a:t>3. Painel esquerdo: lista de entities</a:t>
            </a:r>
          </a:p>
          <a:p>
            <a:pPr algn="l">
              <a:spcBef>
                <a:spcPts val="400"/>
              </a:spcBef>
              <a:defRPr sz="1400" b="0" i="0">
                <a:solidFill>
                  <a:srgbClr val="B0B8C4"/>
                </a:solidFill>
                <a:latin typeface="Segoe UI"/>
              </a:defRPr>
            </a:pPr>
            <a:r>
              <a:t>4. Clicar numa entity</a:t>
            </a:r>
          </a:p>
          <a:p>
            <a:pPr algn="l">
              <a:spcBef>
                <a:spcPts val="400"/>
              </a:spcBef>
              <a:defRPr sz="1400" b="0" i="0">
                <a:solidFill>
                  <a:srgbClr val="B0B8C4"/>
                </a:solidFill>
                <a:latin typeface="Segoe UI"/>
              </a:defRPr>
            </a:pPr>
            <a:r>
              <a:t>5. Painel direito: propriedades</a:t>
            </a:r>
          </a:p>
          <a:p>
            <a:pPr algn="l">
              <a:spcBef>
                <a:spcPts val="400"/>
              </a:spcBef>
              <a:defRPr sz="1400" b="0" i="0">
                <a:solidFill>
                  <a:srgbClr val="B0B8C4"/>
                </a:solidFill>
                <a:latin typeface="Segoe UI"/>
              </a:defRPr>
            </a:pPr>
            <a:r>
              <a:t>   (position, rotation, scale, color...)</a:t>
            </a:r>
          </a:p>
          <a:p>
            <a:pPr algn="l">
              <a:spcBef>
                <a:spcPts val="400"/>
              </a:spcBef>
              <a:defRPr sz="1400" b="0" i="0">
                <a:solidFill>
                  <a:srgbClr val="B0B8C4"/>
                </a:solidFill>
                <a:latin typeface="Segoe UI"/>
              </a:defRPr>
            </a:pPr>
            <a:r>
              <a:t>6. Editar valores com sliders/inputs</a:t>
            </a:r>
          </a:p>
          <a:p>
            <a:pPr algn="l">
              <a:spcBef>
                <a:spcPts val="400"/>
              </a:spcBef>
              <a:defRPr sz="1400" b="0" i="0">
                <a:solidFill>
                  <a:srgbClr val="B0B8C4"/>
                </a:solidFill>
                <a:latin typeface="Segoe UI"/>
              </a:defRPr>
            </a:pPr>
            <a:r>
              <a:t>7. Arrastar gizmos na viewport</a:t>
            </a:r>
          </a:p>
          <a:p>
            <a:pPr algn="l">
              <a:spcBef>
                <a:spcPts val="400"/>
              </a:spcBef>
              <a:defRPr sz="1400" b="0" i="0">
                <a:solidFill>
                  <a:srgbClr val="B0B8C4"/>
                </a:solidFill>
                <a:latin typeface="Segoe UI"/>
              </a:defRPr>
            </a:pPr>
            <a:r>
              <a:t>8. Ver alteracoes em tempo real</a:t>
            </a:r>
          </a:p>
          <a:p>
            <a:pPr algn="l">
              <a:spcBef>
                <a:spcPts val="400"/>
              </a:spcBef>
              <a:defRPr sz="1400" b="0" i="0">
                <a:solidFill>
                  <a:srgbClr val="B0B8C4"/>
                </a:solidFill>
                <a:latin typeface="Segoe UI"/>
              </a:defRPr>
            </a:pPr>
            <a:r>
              <a:t>9. Copiar valores para o HTML</a:t>
            </a:r>
          </a:p>
          <a:p>
            <a:pPr algn="l">
              <a:spcBef>
                <a:spcPts val="400"/>
              </a:spcBef>
              <a:defRPr sz="1400" b="0" i="0">
                <a:solidFill>
                  <a:srgbClr val="B0B8C4"/>
                </a:solidFill>
                <a:latin typeface="Segoe UI"/>
              </a:defRPr>
            </a:pPr>
            <a:endParaRPr/>
          </a:p>
          <a:p>
            <a:pPr algn="l">
              <a:spcBef>
                <a:spcPts val="400"/>
              </a:spcBef>
              <a:defRPr sz="1400" b="0" i="0">
                <a:solidFill>
                  <a:srgbClr val="B0B8C4"/>
                </a:solidFill>
                <a:latin typeface="Segoe UI"/>
              </a:defRPr>
            </a:pPr>
            <a:r>
              <a:t>Atalhos no Inspector:</a:t>
            </a:r>
          </a:p>
          <a:p>
            <a:pPr algn="l">
              <a:spcBef>
                <a:spcPts val="400"/>
              </a:spcBef>
              <a:defRPr sz="1400" b="0" i="0">
                <a:solidFill>
                  <a:srgbClr val="B0B8C4"/>
                </a:solidFill>
                <a:latin typeface="Segoe UI"/>
              </a:defRPr>
            </a:pPr>
            <a:r>
              <a:t>  W = translate | E = rotate</a:t>
            </a:r>
          </a:p>
          <a:p>
            <a:pPr algn="l">
              <a:spcBef>
                <a:spcPts val="400"/>
              </a:spcBef>
              <a:defRPr sz="1400" b="0" i="0">
                <a:solidFill>
                  <a:srgbClr val="B0B8C4"/>
                </a:solidFill>
                <a:latin typeface="Segoe UI"/>
              </a:defRPr>
            </a:pPr>
            <a:r>
              <a:t>  R = scale | Delete = apagar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828800" cy="1828800"/>
          </a:xfrm>
          <a:prstGeom prst="rect">
            <a:avLst/>
          </a:prstGeom>
          <a:noFill/>
        </p:spPr>
        <p:txBody>
          <a:bodyPr wrap="square">
            <a:spAutoFit/>
          </a:bodyPr>
          <a:lstStyle/>
          <a:p>
            <a:pPr algn="l">
              <a:defRPr sz="9600" b="1">
                <a:solidFill>
                  <a:srgbClr val="58A6FF"/>
                </a:solidFill>
                <a:latin typeface="Segoe UI Light"/>
              </a:defRPr>
            </a:pPr>
            <a:r>
              <a:t>04</a:t>
            </a:r>
          </a:p>
        </p:txBody>
      </p:sp>
      <p:sp>
        <p:nvSpPr>
          <p:cNvPr id="3" name="Rectangle 2"/>
          <p:cNvSpPr/>
          <p:nvPr/>
        </p:nvSpPr>
        <p:spPr>
          <a:xfrm>
            <a:off x="914400" y="3383280"/>
            <a:ext cx="137160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058400" cy="1097280"/>
          </a:xfrm>
          <a:prstGeom prst="rect">
            <a:avLst/>
          </a:prstGeom>
          <a:noFill/>
        </p:spPr>
        <p:txBody>
          <a:bodyPr wrap="square">
            <a:spAutoFit/>
          </a:bodyPr>
          <a:lstStyle/>
          <a:p>
            <a:pPr algn="l">
              <a:defRPr sz="3600" b="1">
                <a:solidFill>
                  <a:srgbClr val="FFFFFF"/>
                </a:solidFill>
                <a:latin typeface="Segoe UI Semibold"/>
              </a:defRPr>
            </a:pPr>
            <a:r>
              <a:t>Exercicio Pratico: A-Frame</a:t>
            </a:r>
          </a:p>
        </p:txBody>
      </p:sp>
      <p:sp>
        <p:nvSpPr>
          <p:cNvPr id="5" name="TextBox 4"/>
          <p:cNvSpPr txBox="1"/>
          <p:nvPr/>
        </p:nvSpPr>
        <p:spPr>
          <a:xfrm>
            <a:off x="914400" y="4754880"/>
            <a:ext cx="9144000" cy="914400"/>
          </a:xfrm>
          <a:prstGeom prst="rect">
            <a:avLst/>
          </a:prstGeom>
          <a:noFill/>
        </p:spPr>
        <p:txBody>
          <a:bodyPr wrap="square">
            <a:spAutoFit/>
          </a:bodyPr>
          <a:lstStyle/>
          <a:p>
            <a:pPr algn="l">
              <a:defRPr sz="2000" b="0">
                <a:solidFill>
                  <a:srgbClr val="B0B8C4"/>
                </a:solidFill>
                <a:latin typeface="Segoe UI"/>
              </a:defRPr>
            </a:pPr>
            <a:r>
              <a:t>Vamos construir uma cena VR passo a passo — sem medo!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A Nossa Abordagem Pedagogica</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4170372"/>
          </a:xfrm>
          <a:prstGeom prst="rect">
            <a:avLst/>
          </a:prstGeom>
          <a:noFill/>
        </p:spPr>
        <p:txBody>
          <a:bodyPr wrap="square">
            <a:spAutoFit/>
          </a:bodyPr>
          <a:lstStyle/>
          <a:p>
            <a:pPr algn="l">
              <a:defRPr sz="2800" b="1">
                <a:solidFill>
                  <a:srgbClr val="F78166"/>
                </a:solidFill>
                <a:latin typeface="Segoe UI"/>
              </a:defRPr>
            </a:pPr>
            <a:r>
              <a:rPr dirty="0"/>
              <a:t>Nao </a:t>
            </a:r>
            <a:r>
              <a:rPr dirty="0" err="1"/>
              <a:t>vao</a:t>
            </a:r>
            <a:r>
              <a:rPr dirty="0"/>
              <a:t> ser </a:t>
            </a:r>
            <a:r>
              <a:rPr dirty="0" err="1"/>
              <a:t>programadores</a:t>
            </a:r>
            <a:r>
              <a:rPr dirty="0"/>
              <a:t>.</a:t>
            </a:r>
          </a:p>
          <a:p>
            <a:pPr algn="l">
              <a:spcBef>
                <a:spcPts val="600"/>
              </a:spcBef>
              <a:defRPr sz="2400" b="1" i="0">
                <a:solidFill>
                  <a:srgbClr val="58A6FF"/>
                </a:solidFill>
                <a:latin typeface="Segoe UI"/>
              </a:defRPr>
            </a:pPr>
            <a:r>
              <a:rPr dirty="0" err="1"/>
              <a:t>Vao</a:t>
            </a:r>
            <a:r>
              <a:rPr dirty="0"/>
              <a:t> COMPREENDER a ferramenta e </a:t>
            </a:r>
            <a:r>
              <a:rPr dirty="0" err="1"/>
              <a:t>ver</a:t>
            </a:r>
            <a:r>
              <a:rPr dirty="0"/>
              <a:t> </a:t>
            </a:r>
            <a:r>
              <a:rPr dirty="0" err="1"/>
              <a:t>resultados</a:t>
            </a:r>
            <a:r>
              <a:rPr dirty="0"/>
              <a:t> </a:t>
            </a:r>
            <a:r>
              <a:rPr dirty="0" err="1"/>
              <a:t>imediatos</a:t>
            </a:r>
            <a:r>
              <a:rPr dirty="0"/>
              <a:t>.</a:t>
            </a:r>
          </a:p>
          <a:p>
            <a:pPr algn="l">
              <a:spcBef>
                <a:spcPts val="600"/>
              </a:spcBef>
              <a:defRPr sz="1000" b="0" i="0">
                <a:solidFill>
                  <a:srgbClr val="FFFFFF"/>
                </a:solidFill>
                <a:latin typeface="Segoe UI"/>
              </a:defRPr>
            </a:pPr>
            <a:endParaRPr dirty="0"/>
          </a:p>
          <a:p>
            <a:pPr algn="l">
              <a:spcBef>
                <a:spcPts val="600"/>
              </a:spcBef>
              <a:defRPr sz="1800" b="1" i="0">
                <a:solidFill>
                  <a:srgbClr val="FFFFFF"/>
                </a:solidFill>
                <a:latin typeface="Segoe UI"/>
              </a:defRPr>
            </a:pPr>
            <a:r>
              <a:rPr dirty="0" err="1"/>
              <a:t>Metodologia</a:t>
            </a:r>
            <a:r>
              <a:rPr dirty="0"/>
              <a:t> (modify-existing-code, evidence-based):</a:t>
            </a:r>
          </a:p>
          <a:p>
            <a:pPr algn="l">
              <a:spcBef>
                <a:spcPts val="600"/>
              </a:spcBef>
              <a:defRPr sz="1700" b="0" i="0">
                <a:solidFill>
                  <a:srgbClr val="B0B8C4"/>
                </a:solidFill>
                <a:latin typeface="Segoe UI"/>
              </a:defRPr>
            </a:pPr>
            <a:r>
              <a:rPr dirty="0"/>
              <a:t>• </a:t>
            </a:r>
            <a:r>
              <a:rPr dirty="0" err="1"/>
              <a:t>Comecar</a:t>
            </a:r>
            <a:r>
              <a:rPr dirty="0"/>
              <a:t> com </a:t>
            </a:r>
            <a:r>
              <a:rPr dirty="0" err="1"/>
              <a:t>codigo</a:t>
            </a:r>
            <a:r>
              <a:rPr dirty="0"/>
              <a:t> que JA FUNCIONA • Mudar UM valor de </a:t>
            </a:r>
            <a:r>
              <a:rPr dirty="0" err="1"/>
              <a:t>cada</a:t>
            </a:r>
            <a:r>
              <a:rPr dirty="0"/>
              <a:t> </a:t>
            </a:r>
            <a:r>
              <a:rPr dirty="0" err="1"/>
              <a:t>vez</a:t>
            </a:r>
            <a:r>
              <a:rPr dirty="0"/>
              <a:t> e </a:t>
            </a:r>
            <a:r>
              <a:rPr dirty="0" err="1"/>
              <a:t>observar</a:t>
            </a:r>
            <a:r>
              <a:rPr dirty="0"/>
              <a:t> o </a:t>
            </a:r>
            <a:r>
              <a:rPr dirty="0" err="1"/>
              <a:t>resultado</a:t>
            </a:r>
            <a:endParaRPr dirty="0"/>
          </a:p>
          <a:p>
            <a:pPr algn="l">
              <a:spcBef>
                <a:spcPts val="600"/>
              </a:spcBef>
              <a:defRPr sz="1700" b="0" i="0">
                <a:solidFill>
                  <a:srgbClr val="B0B8C4"/>
                </a:solidFill>
                <a:latin typeface="Segoe UI"/>
              </a:defRPr>
            </a:pPr>
            <a:r>
              <a:rPr dirty="0"/>
              <a:t>• </a:t>
            </a:r>
            <a:r>
              <a:rPr dirty="0" err="1"/>
              <a:t>Copiar-colar</a:t>
            </a:r>
            <a:r>
              <a:rPr dirty="0"/>
              <a:t> </a:t>
            </a:r>
            <a:r>
              <a:rPr dirty="0" err="1"/>
              <a:t>padroes</a:t>
            </a:r>
            <a:r>
              <a:rPr dirty="0"/>
              <a:t> </a:t>
            </a:r>
            <a:r>
              <a:rPr dirty="0" err="1"/>
              <a:t>existentes</a:t>
            </a:r>
            <a:r>
              <a:rPr dirty="0"/>
              <a:t> e </a:t>
            </a:r>
            <a:r>
              <a:rPr dirty="0" err="1"/>
              <a:t>adaptar</a:t>
            </a:r>
            <a:r>
              <a:rPr dirty="0"/>
              <a:t> (scaffolding)</a:t>
            </a:r>
          </a:p>
          <a:p>
            <a:pPr algn="l">
              <a:spcBef>
                <a:spcPts val="600"/>
              </a:spcBef>
              <a:defRPr sz="1700" b="0" i="0">
                <a:solidFill>
                  <a:srgbClr val="B0B8C4"/>
                </a:solidFill>
                <a:latin typeface="Segoe UI"/>
              </a:defRPr>
            </a:pPr>
            <a:r>
              <a:rPr dirty="0"/>
              <a:t>• Usar o Inspector para </a:t>
            </a:r>
            <a:r>
              <a:rPr dirty="0" err="1"/>
              <a:t>explorar</a:t>
            </a:r>
            <a:r>
              <a:rPr dirty="0"/>
              <a:t> </a:t>
            </a:r>
            <a:r>
              <a:rPr dirty="0" err="1"/>
              <a:t>visualmente</a:t>
            </a:r>
            <a:r>
              <a:rPr dirty="0"/>
              <a:t> (</a:t>
            </a:r>
            <a:r>
              <a:rPr dirty="0" err="1"/>
              <a:t>Ctrl+Alt+I</a:t>
            </a:r>
            <a:r>
              <a:rPr dirty="0"/>
              <a:t>)</a:t>
            </a:r>
          </a:p>
          <a:p>
            <a:pPr algn="l">
              <a:spcBef>
                <a:spcPts val="600"/>
              </a:spcBef>
              <a:defRPr sz="1000" b="0" i="0">
                <a:solidFill>
                  <a:srgbClr val="FFFFFF"/>
                </a:solidFill>
                <a:latin typeface="Segoe UI"/>
              </a:defRPr>
            </a:pPr>
            <a:endParaRPr dirty="0"/>
          </a:p>
          <a:p>
            <a:pPr algn="l">
              <a:spcBef>
                <a:spcPts val="600"/>
              </a:spcBef>
              <a:defRPr sz="1800" b="1" i="0">
                <a:solidFill>
                  <a:srgbClr val="FFFFFF"/>
                </a:solidFill>
                <a:latin typeface="Segoe UI"/>
              </a:defRPr>
            </a:pPr>
            <a:r>
              <a:rPr dirty="0" err="1"/>
              <a:t>Regras</a:t>
            </a:r>
            <a:r>
              <a:rPr dirty="0"/>
              <a:t> de </a:t>
            </a:r>
            <a:r>
              <a:rPr dirty="0" err="1"/>
              <a:t>ouro</a:t>
            </a:r>
            <a:r>
              <a:rPr dirty="0"/>
              <a:t>:</a:t>
            </a:r>
          </a:p>
          <a:p>
            <a:pPr algn="l">
              <a:spcBef>
                <a:spcPts val="600"/>
              </a:spcBef>
              <a:defRPr sz="1700" b="0" i="0">
                <a:solidFill>
                  <a:srgbClr val="3FB950"/>
                </a:solidFill>
                <a:latin typeface="Segoe UI"/>
              </a:defRPr>
            </a:pPr>
            <a:r>
              <a:rPr dirty="0"/>
              <a:t>• </a:t>
            </a:r>
            <a:r>
              <a:rPr dirty="0" err="1"/>
              <a:t>Ctrl+Z</a:t>
            </a:r>
            <a:r>
              <a:rPr dirty="0"/>
              <a:t> = </a:t>
            </a:r>
            <a:r>
              <a:rPr dirty="0" err="1"/>
              <a:t>desfazer</a:t>
            </a:r>
            <a:r>
              <a:rPr dirty="0"/>
              <a:t> (</a:t>
            </a:r>
            <a:r>
              <a:rPr dirty="0" err="1"/>
              <a:t>funciona</a:t>
            </a:r>
            <a:r>
              <a:rPr dirty="0"/>
              <a:t> SEMPRE)</a:t>
            </a:r>
          </a:p>
          <a:p>
            <a:pPr algn="l">
              <a:spcBef>
                <a:spcPts val="600"/>
              </a:spcBef>
              <a:defRPr sz="1700" b="0" i="0">
                <a:solidFill>
                  <a:srgbClr val="3FB950"/>
                </a:solidFill>
                <a:latin typeface="Segoe UI"/>
              </a:defRPr>
            </a:pPr>
            <a:r>
              <a:rPr dirty="0"/>
              <a:t>• </a:t>
            </a:r>
            <a:r>
              <a:rPr dirty="0" err="1"/>
              <a:t>Ctrl+S</a:t>
            </a:r>
            <a:r>
              <a:rPr dirty="0"/>
              <a:t> = </a:t>
            </a:r>
            <a:r>
              <a:rPr dirty="0" err="1"/>
              <a:t>guardar</a:t>
            </a:r>
            <a:r>
              <a:rPr dirty="0"/>
              <a:t> (</a:t>
            </a:r>
            <a:r>
              <a:rPr dirty="0" err="1"/>
              <a:t>ve</a:t>
            </a:r>
            <a:r>
              <a:rPr dirty="0"/>
              <a:t> </a:t>
            </a:r>
            <a:r>
              <a:rPr dirty="0" err="1"/>
              <a:t>resultado</a:t>
            </a:r>
            <a:r>
              <a:rPr dirty="0"/>
              <a:t> no browser)</a:t>
            </a:r>
          </a:p>
          <a:p>
            <a:pPr algn="l">
              <a:spcBef>
                <a:spcPts val="600"/>
              </a:spcBef>
              <a:defRPr sz="1700" b="0" i="0">
                <a:solidFill>
                  <a:srgbClr val="3FB950"/>
                </a:solidFill>
                <a:latin typeface="Segoe UI"/>
              </a:defRPr>
            </a:pPr>
            <a:r>
              <a:rPr dirty="0"/>
              <a:t>• Nada explode! </a:t>
            </a:r>
            <a:r>
              <a:rPr dirty="0" err="1"/>
              <a:t>Podem</a:t>
            </a:r>
            <a:r>
              <a:rPr dirty="0"/>
              <a:t> </a:t>
            </a:r>
            <a:r>
              <a:rPr dirty="0" err="1"/>
              <a:t>experimentar</a:t>
            </a:r>
            <a:r>
              <a:rPr dirty="0"/>
              <a:t> a </a:t>
            </a:r>
            <a:r>
              <a:rPr dirty="0" err="1"/>
              <a:t>vontade</a:t>
            </a:r>
            <a:r>
              <a:rPr dirty="0"/>
              <a:t>.</a:t>
            </a:r>
          </a:p>
        </p:txBody>
      </p:sp>
      <p:sp>
        <p:nvSpPr>
          <p:cNvPr id="5" name="TextBox 4"/>
          <p:cNvSpPr txBox="1"/>
          <p:nvPr/>
        </p:nvSpPr>
        <p:spPr>
          <a:xfrm>
            <a:off x="731520" y="6400800"/>
            <a:ext cx="10515600" cy="365760"/>
          </a:xfrm>
          <a:prstGeom prst="rect">
            <a:avLst/>
          </a:prstGeom>
          <a:noFill/>
        </p:spPr>
        <p:txBody>
          <a:bodyPr wrap="square">
            <a:spAutoFit/>
          </a:bodyPr>
          <a:lstStyle/>
          <a:p>
            <a:pPr algn="l">
              <a:defRPr sz="1000" b="0" i="1">
                <a:solidFill>
                  <a:srgbClr val="555F6B"/>
                </a:solidFill>
                <a:latin typeface="Segoe UI"/>
              </a:defRPr>
            </a:pPr>
            <a:r>
              <a:t>Wilson, G. 'Ten Quick Tips for Teaching Programming', PLOS Computational Biology, 2019</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Setup: VS Code + Live Server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4572000"/>
          </a:xfrm>
          <a:prstGeom prst="rect">
            <a:avLst/>
          </a:prstGeom>
          <a:noFill/>
        </p:spPr>
        <p:txBody>
          <a:bodyPr wrap="square">
            <a:spAutoFit/>
          </a:bodyPr>
          <a:lstStyle/>
          <a:p>
            <a:pPr algn="l">
              <a:defRPr sz="2200" b="1">
                <a:solidFill>
                  <a:srgbClr val="58A6FF"/>
                </a:solidFill>
                <a:latin typeface="Segoe UI"/>
              </a:defRPr>
            </a:pPr>
            <a:r>
              <a:t>Passos:</a:t>
            </a:r>
          </a:p>
          <a:p>
            <a:pPr algn="l">
              <a:spcBef>
                <a:spcPts val="600"/>
              </a:spcBef>
              <a:defRPr sz="600" b="0" i="0">
                <a:solidFill>
                  <a:srgbClr val="FFFFFF"/>
                </a:solidFill>
                <a:latin typeface="Segoe UI"/>
              </a:defRPr>
            </a:pPr>
            <a:endParaRPr/>
          </a:p>
          <a:p>
            <a:pPr algn="l">
              <a:spcBef>
                <a:spcPts val="600"/>
              </a:spcBef>
              <a:defRPr sz="2000" b="0" i="0">
                <a:solidFill>
                  <a:srgbClr val="FFFFFF"/>
                </a:solidFill>
                <a:latin typeface="Segoe UI"/>
              </a:defRPr>
            </a:pPr>
            <a:r>
              <a:t>1. Abrir VS Code</a:t>
            </a:r>
          </a:p>
          <a:p>
            <a:pPr algn="l">
              <a:spcBef>
                <a:spcPts val="600"/>
              </a:spcBef>
              <a:defRPr sz="2000" b="0" i="0">
                <a:solidFill>
                  <a:srgbClr val="FFFFFF"/>
                </a:solidFill>
                <a:latin typeface="Segoe UI"/>
              </a:defRPr>
            </a:pPr>
            <a:r>
              <a:t>2. File &gt; Open Folder &gt; pasta do projeto</a:t>
            </a:r>
          </a:p>
          <a:p>
            <a:pPr algn="l">
              <a:spcBef>
                <a:spcPts val="600"/>
              </a:spcBef>
              <a:defRPr sz="2000" b="0" i="0">
                <a:solidFill>
                  <a:srgbClr val="FFFFFF"/>
                </a:solidFill>
                <a:latin typeface="Segoe UI"/>
              </a:defRPr>
            </a:pPr>
            <a:r>
              <a:t>3. Abrir o ficheiro index.html</a:t>
            </a:r>
          </a:p>
          <a:p>
            <a:pPr algn="l">
              <a:spcBef>
                <a:spcPts val="600"/>
              </a:spcBef>
              <a:defRPr sz="2000" b="0" i="0">
                <a:solidFill>
                  <a:srgbClr val="FFFFFF"/>
                </a:solidFill>
                <a:latin typeface="Segoe UI"/>
              </a:defRPr>
            </a:pPr>
            <a:r>
              <a:t>4. Clicar 'Go Live' (canto inferior direito)</a:t>
            </a:r>
          </a:p>
          <a:p>
            <a:pPr algn="l">
              <a:spcBef>
                <a:spcPts val="600"/>
              </a:spcBef>
              <a:defRPr sz="2000" b="0" i="0">
                <a:solidFill>
                  <a:srgbClr val="FFFFFF"/>
                </a:solidFill>
                <a:latin typeface="Segoe UI"/>
              </a:defRPr>
            </a:pPr>
            <a:r>
              <a:t>5. O browser abre com a cena VR!</a:t>
            </a:r>
          </a:p>
          <a:p>
            <a:pPr algn="l">
              <a:spcBef>
                <a:spcPts val="600"/>
              </a:spcBef>
              <a:defRPr sz="1000" b="0" i="0">
                <a:solidFill>
                  <a:srgbClr val="FFFFFF"/>
                </a:solidFill>
                <a:latin typeface="Segoe UI"/>
              </a:defRPr>
            </a:pPr>
            <a:endParaRPr/>
          </a:p>
          <a:p>
            <a:pPr algn="l">
              <a:spcBef>
                <a:spcPts val="600"/>
              </a:spcBef>
              <a:defRPr sz="1600" b="0" i="0">
                <a:solidFill>
                  <a:srgbClr val="F78166"/>
                </a:solidFill>
                <a:latin typeface="Segoe UI"/>
              </a:defRPr>
            </a:pPr>
            <a:r>
              <a:t>Se nao tiver 'Go Live': Extensions (Ctrl+Shift+X) &gt; 'Live Server' &gt; Install</a:t>
            </a:r>
          </a:p>
          <a:p>
            <a:pPr algn="l">
              <a:spcBef>
                <a:spcPts val="600"/>
              </a:spcBef>
              <a:defRPr sz="600" b="0" i="0">
                <a:solidFill>
                  <a:srgbClr val="FFFFFF"/>
                </a:solidFill>
                <a:latin typeface="Segoe UI"/>
              </a:defRPr>
            </a:pPr>
            <a:endParaRPr/>
          </a:p>
          <a:p>
            <a:pPr algn="l">
              <a:spcBef>
                <a:spcPts val="600"/>
              </a:spcBef>
              <a:defRPr sz="1500" b="0" i="0">
                <a:solidFill>
                  <a:srgbClr val="6E7681"/>
                </a:solidFill>
                <a:latin typeface="Segoe UI"/>
              </a:defRPr>
            </a:pPr>
            <a:r>
              <a:t>Extensoes uteis: Path Intellisense (Christian Kohler), Color Highlight (Sergii 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Passo 1: Sky (Panorama 360)</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4572000"/>
          </a:xfrm>
          <a:prstGeom prst="rect">
            <a:avLst/>
          </a:prstGeom>
          <a:noFill/>
        </p:spPr>
        <p:txBody>
          <a:bodyPr wrap="square">
            <a:spAutoFit/>
          </a:bodyPr>
          <a:lstStyle/>
          <a:p>
            <a:pPr algn="l">
              <a:defRPr sz="1800" b="1">
                <a:solidFill>
                  <a:srgbClr val="58A6FF"/>
                </a:solidFill>
                <a:latin typeface="Segoe UI"/>
              </a:defRPr>
            </a:pPr>
            <a:r>
              <a:t>Em &lt;a-assets&gt;, carregar a imagem equiretangular:</a:t>
            </a:r>
          </a:p>
          <a:p>
            <a:pPr algn="l">
              <a:spcBef>
                <a:spcPts val="800"/>
              </a:spcBef>
              <a:defRPr sz="1500" b="0" i="0">
                <a:solidFill>
                  <a:srgbClr val="3FB950"/>
                </a:solidFill>
                <a:latin typeface="Segoe UI"/>
              </a:defRPr>
            </a:pPr>
            <a:r>
              <a:t>&lt;img id="pano" src="assets/images/panorama.jpg" crossorigin="anonymous" /&gt;</a:t>
            </a:r>
          </a:p>
          <a:p>
            <a:pPr algn="l">
              <a:spcBef>
                <a:spcPts val="600"/>
              </a:spcBef>
              <a:defRPr sz="800" b="0" i="0">
                <a:solidFill>
                  <a:srgbClr val="FFFFFF"/>
                </a:solidFill>
                <a:latin typeface="Segoe UI"/>
              </a:defRPr>
            </a:pPr>
            <a:endParaRPr/>
          </a:p>
          <a:p>
            <a:pPr algn="l">
              <a:spcBef>
                <a:spcPts val="600"/>
              </a:spcBef>
              <a:defRPr sz="1800" b="1" i="0">
                <a:solidFill>
                  <a:srgbClr val="58A6FF"/>
                </a:solidFill>
                <a:latin typeface="Segoe UI"/>
              </a:defRPr>
            </a:pPr>
            <a:r>
              <a:t>Na cena:</a:t>
            </a:r>
          </a:p>
          <a:p>
            <a:pPr algn="l">
              <a:spcBef>
                <a:spcPts val="800"/>
              </a:spcBef>
              <a:defRPr sz="1500" b="0" i="0">
                <a:solidFill>
                  <a:srgbClr val="3FB950"/>
                </a:solidFill>
                <a:latin typeface="Segoe UI"/>
              </a:defRPr>
            </a:pPr>
            <a:r>
              <a:t>&lt;a-sky src="#pano" rotation="0 -90 0"&gt;&lt;/a-sky&gt;</a:t>
            </a:r>
          </a:p>
          <a:p>
            <a:pPr algn="l">
              <a:spcBef>
                <a:spcPts val="600"/>
              </a:spcBef>
              <a:defRPr sz="1000" b="0" i="0">
                <a:solidFill>
                  <a:srgbClr val="FFFFFF"/>
                </a:solidFill>
                <a:latin typeface="Segoe UI"/>
              </a:defRPr>
            </a:pPr>
            <a:endParaRPr/>
          </a:p>
          <a:p>
            <a:pPr algn="l">
              <a:spcBef>
                <a:spcPts val="600"/>
              </a:spcBef>
              <a:defRPr sz="1800" b="1" i="0">
                <a:solidFill>
                  <a:srgbClr val="3FB950"/>
                </a:solidFill>
                <a:latin typeface="Segoe UI"/>
              </a:defRPr>
            </a:pPr>
            <a:r>
              <a:t>Resultado: estao DENTRO de uma foto 360!</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Termos tecnicos utilizados:</a:t>
            </a:r>
          </a:p>
          <a:p>
            <a:pPr algn="l">
              <a:spcBef>
                <a:spcPts val="600"/>
              </a:spcBef>
              <a:defRPr sz="1500" b="0" i="0">
                <a:solidFill>
                  <a:srgbClr val="B0B8C4"/>
                </a:solidFill>
                <a:latin typeface="Segoe UI"/>
              </a:defRPr>
            </a:pPr>
            <a:r>
              <a:t>• &lt;a-assets&gt; = asset management system (pre-loading)</a:t>
            </a:r>
          </a:p>
          <a:p>
            <a:pPr algn="l">
              <a:spcBef>
                <a:spcPts val="600"/>
              </a:spcBef>
              <a:defRPr sz="1500" b="0" i="0">
                <a:solidFill>
                  <a:srgbClr val="B0B8C4"/>
                </a:solidFill>
                <a:latin typeface="Segoe UI"/>
              </a:defRPr>
            </a:pPr>
            <a:r>
              <a:t>• id="pano" = DOM identifier (referencia unica)</a:t>
            </a:r>
          </a:p>
          <a:p>
            <a:pPr algn="l">
              <a:spcBef>
                <a:spcPts val="600"/>
              </a:spcBef>
              <a:defRPr sz="1500" b="0" i="0">
                <a:solidFill>
                  <a:srgbClr val="B0B8C4"/>
                </a:solidFill>
                <a:latin typeface="Segoe UI"/>
              </a:defRPr>
            </a:pPr>
            <a:r>
              <a:t>• &lt;a-sky&gt; = primitivo esfera com radius=5000, material invertido (renderiza por dentro)</a:t>
            </a:r>
          </a:p>
          <a:p>
            <a:pPr algn="l">
              <a:spcBef>
                <a:spcPts val="600"/>
              </a:spcBef>
              <a:defRPr sz="1500" b="0" i="0">
                <a:solidFill>
                  <a:srgbClr val="B0B8C4"/>
                </a:solidFill>
                <a:latin typeface="Segoe UI"/>
              </a:defRPr>
            </a:pPr>
            <a:r>
              <a:t>• crossorigin="anonymous" = CORS policy (Cross-Origin Resource Sharing)</a:t>
            </a:r>
          </a:p>
          <a:p>
            <a:pPr algn="l">
              <a:spcBef>
                <a:spcPts val="600"/>
              </a:spcBef>
              <a:defRPr sz="1500" b="0" i="0">
                <a:solidFill>
                  <a:srgbClr val="B0B8C4"/>
                </a:solidFill>
                <a:latin typeface="Segoe UI"/>
              </a:defRPr>
            </a:pPr>
            <a:r>
              <a:t>• src="#pano" = selector CSS que referencia o asset pelo id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Passo 2: Formas 3D + EXERCICIO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029200" cy="4572000"/>
          </a:xfrm>
          <a:prstGeom prst="rect">
            <a:avLst/>
          </a:prstGeom>
          <a:noFill/>
        </p:spPr>
        <p:txBody>
          <a:bodyPr wrap="square">
            <a:spAutoFit/>
          </a:bodyPr>
          <a:lstStyle/>
          <a:p>
            <a:pPr algn="l">
              <a:defRPr sz="1800" b="1">
                <a:solidFill>
                  <a:srgbClr val="58A6FF"/>
                </a:solidFill>
                <a:latin typeface="Segoe UI"/>
              </a:defRPr>
            </a:pPr>
            <a:r>
              <a:t>Adicionar formas (primitivos A-Frame):</a:t>
            </a:r>
          </a:p>
          <a:p>
            <a:pPr algn="l">
              <a:spcBef>
                <a:spcPts val="600"/>
              </a:spcBef>
              <a:defRPr sz="400" b="0" i="0">
                <a:solidFill>
                  <a:srgbClr val="FFFFFF"/>
                </a:solidFill>
                <a:latin typeface="Segoe UI"/>
              </a:defRPr>
            </a:pPr>
            <a:endParaRPr/>
          </a:p>
          <a:p>
            <a:pPr algn="l">
              <a:spcBef>
                <a:spcPts val="600"/>
              </a:spcBef>
              <a:defRPr sz="1400" b="0" i="0">
                <a:solidFill>
                  <a:srgbClr val="3FB950"/>
                </a:solidFill>
                <a:latin typeface="Segoe UI"/>
              </a:defRPr>
            </a:pPr>
            <a:r>
              <a:t>&lt;a-box position="-4 0.7 -5"</a:t>
            </a:r>
          </a:p>
          <a:p>
            <a:pPr algn="l">
              <a:spcBef>
                <a:spcPts val="600"/>
              </a:spcBef>
              <a:defRPr sz="1400" b="0" i="0">
                <a:solidFill>
                  <a:srgbClr val="3FB950"/>
                </a:solidFill>
                <a:latin typeface="Segoe UI"/>
              </a:defRPr>
            </a:pPr>
            <a:r>
              <a:t>  color="#4CC3D9" class="clickable"&gt;&lt;/a-box&gt;</a:t>
            </a:r>
          </a:p>
          <a:p>
            <a:pPr algn="l">
              <a:spcBef>
                <a:spcPts val="600"/>
              </a:spcBef>
              <a:defRPr sz="600" b="0" i="0">
                <a:solidFill>
                  <a:srgbClr val="FFFFFF"/>
                </a:solidFill>
                <a:latin typeface="Segoe UI"/>
              </a:defRPr>
            </a:pPr>
            <a:endParaRPr/>
          </a:p>
          <a:p>
            <a:pPr algn="l">
              <a:spcBef>
                <a:spcPts val="600"/>
              </a:spcBef>
              <a:defRPr sz="1400" b="0" i="0">
                <a:solidFill>
                  <a:srgbClr val="3FB950"/>
                </a:solidFill>
                <a:latin typeface="Segoe UI"/>
              </a:defRPr>
            </a:pPr>
            <a:r>
              <a:t>&lt;a-sphere position="3.5 1.5 -5"</a:t>
            </a:r>
          </a:p>
          <a:p>
            <a:pPr algn="l">
              <a:spcBef>
                <a:spcPts val="600"/>
              </a:spcBef>
              <a:defRPr sz="1400" b="0" i="0">
                <a:solidFill>
                  <a:srgbClr val="3FB950"/>
                </a:solidFill>
                <a:latin typeface="Segoe UI"/>
              </a:defRPr>
            </a:pPr>
            <a:r>
              <a:t>  color="#EF2D5E" radius="1.25"&gt;&lt;/a-sphere&gt;</a:t>
            </a:r>
          </a:p>
          <a:p>
            <a:pPr algn="l">
              <a:spcBef>
                <a:spcPts val="600"/>
              </a:spcBef>
              <a:defRPr sz="600" b="0" i="0">
                <a:solidFill>
                  <a:srgbClr val="FFFFFF"/>
                </a:solidFill>
                <a:latin typeface="Segoe UI"/>
              </a:defRPr>
            </a:pPr>
            <a:endParaRPr/>
          </a:p>
          <a:p>
            <a:pPr algn="l">
              <a:spcBef>
                <a:spcPts val="600"/>
              </a:spcBef>
              <a:defRPr sz="1400" b="0" i="0">
                <a:solidFill>
                  <a:srgbClr val="3FB950"/>
                </a:solidFill>
                <a:latin typeface="Segoe UI"/>
              </a:defRPr>
            </a:pPr>
            <a:r>
              <a:t>&lt;a-cylinder position="-2 1 -7"</a:t>
            </a:r>
          </a:p>
          <a:p>
            <a:pPr algn="l">
              <a:spcBef>
                <a:spcPts val="600"/>
              </a:spcBef>
              <a:defRPr sz="1400" b="0" i="0">
                <a:solidFill>
                  <a:srgbClr val="3FB950"/>
                </a:solidFill>
                <a:latin typeface="Segoe UI"/>
              </a:defRPr>
            </a:pPr>
            <a:r>
              <a:t>  color="#FFC65D" height="2"&gt;&lt;/a-cylinder&gt;</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Atributos-chave:</a:t>
            </a:r>
          </a:p>
          <a:p>
            <a:pPr algn="l">
              <a:spcBef>
                <a:spcPts val="600"/>
              </a:spcBef>
              <a:defRPr sz="1400" b="0" i="0">
                <a:solidFill>
                  <a:srgbClr val="B0B8C4"/>
                </a:solidFill>
                <a:latin typeface="Segoe UI"/>
              </a:defRPr>
            </a:pPr>
            <a:r>
              <a:t>• position="X Y Z" — posicao em metros</a:t>
            </a:r>
          </a:p>
          <a:p>
            <a:pPr algn="l">
              <a:spcBef>
                <a:spcPts val="600"/>
              </a:spcBef>
              <a:defRPr sz="1400" b="0" i="0">
                <a:solidFill>
                  <a:srgbClr val="B0B8C4"/>
                </a:solidFill>
                <a:latin typeface="Segoe UI"/>
              </a:defRPr>
            </a:pPr>
            <a:r>
              <a:t>• color="#HEX" ou color="nome" — cor</a:t>
            </a:r>
          </a:p>
          <a:p>
            <a:pPr algn="l">
              <a:spcBef>
                <a:spcPts val="600"/>
              </a:spcBef>
              <a:defRPr sz="1400" b="0" i="0">
                <a:solidFill>
                  <a:srgbClr val="B0B8C4"/>
                </a:solidFill>
                <a:latin typeface="Segoe UI"/>
              </a:defRPr>
            </a:pPr>
            <a:r>
              <a:t>• class="clickable" — torna interativo</a:t>
            </a:r>
          </a:p>
        </p:txBody>
      </p:sp>
      <p:sp>
        <p:nvSpPr>
          <p:cNvPr id="5" name="Rounded Rectangle 4"/>
          <p:cNvSpPr/>
          <p:nvPr/>
        </p:nvSpPr>
        <p:spPr>
          <a:xfrm>
            <a:off x="6400800" y="1463040"/>
            <a:ext cx="5029200" cy="45720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645920"/>
            <a:ext cx="4572000" cy="457200"/>
          </a:xfrm>
          <a:prstGeom prst="rect">
            <a:avLst/>
          </a:prstGeom>
          <a:noFill/>
        </p:spPr>
        <p:txBody>
          <a:bodyPr wrap="square">
            <a:spAutoFit/>
          </a:bodyPr>
          <a:lstStyle/>
          <a:p>
            <a:pPr algn="l">
              <a:defRPr sz="2200" b="1">
                <a:solidFill>
                  <a:srgbClr val="3FB950"/>
                </a:solidFill>
                <a:latin typeface="Segoe UI"/>
              </a:defRPr>
            </a:pPr>
            <a:r>
              <a:t>EXERCICIO 1</a:t>
            </a:r>
          </a:p>
          <a:p>
            <a:pPr algn="l">
              <a:spcBef>
                <a:spcPts val="600"/>
              </a:spcBef>
              <a:defRPr sz="600" b="0" i="0">
                <a:solidFill>
                  <a:srgbClr val="FFFFFF"/>
                </a:solidFill>
                <a:latin typeface="Segoe UI"/>
              </a:defRPr>
            </a:pPr>
            <a:endParaRPr/>
          </a:p>
          <a:p>
            <a:pPr algn="l">
              <a:spcBef>
                <a:spcPts val="600"/>
              </a:spcBef>
              <a:defRPr sz="1600" b="0" i="0">
                <a:solidFill>
                  <a:srgbClr val="B0B8C4"/>
                </a:solidFill>
                <a:latin typeface="Segoe UI"/>
              </a:defRPr>
            </a:pPr>
            <a:r>
              <a:t>1. Mudem uma cor:</a:t>
            </a:r>
          </a:p>
          <a:p>
            <a:pPr algn="l">
              <a:spcBef>
                <a:spcPts val="600"/>
              </a:spcBef>
              <a:defRPr sz="1400" b="0" i="0">
                <a:solidFill>
                  <a:srgbClr val="3FB950"/>
                </a:solidFill>
                <a:latin typeface="Segoe UI"/>
              </a:defRPr>
            </a:pPr>
            <a:r>
              <a:t>   color="#FF0000"  (vermelho)</a:t>
            </a:r>
          </a:p>
          <a:p>
            <a:pPr algn="l">
              <a:spcBef>
                <a:spcPts val="600"/>
              </a:spcBef>
              <a:defRPr sz="1400" b="0" i="0">
                <a:solidFill>
                  <a:srgbClr val="3FB950"/>
                </a:solidFill>
                <a:latin typeface="Segoe UI"/>
              </a:defRPr>
            </a:pPr>
            <a:r>
              <a:t>   color="#00FF00"  (verde)</a:t>
            </a:r>
          </a:p>
          <a:p>
            <a:pPr algn="l">
              <a:spcBef>
                <a:spcPts val="600"/>
              </a:spcBef>
              <a:defRPr sz="1400" b="0" i="0">
                <a:solidFill>
                  <a:srgbClr val="3FB950"/>
                </a:solidFill>
                <a:latin typeface="Segoe UI"/>
              </a:defRPr>
            </a:pPr>
            <a:r>
              <a:t>   color="yellow"  (nome tambem funciona)</a:t>
            </a:r>
          </a:p>
          <a:p>
            <a:pPr algn="l">
              <a:spcBef>
                <a:spcPts val="600"/>
              </a:spcBef>
              <a:defRPr sz="600" b="0" i="0">
                <a:solidFill>
                  <a:srgbClr val="FFFFFF"/>
                </a:solidFill>
                <a:latin typeface="Segoe UI"/>
              </a:defRPr>
            </a:pPr>
            <a:endParaRPr/>
          </a:p>
          <a:p>
            <a:pPr algn="l">
              <a:spcBef>
                <a:spcPts val="600"/>
              </a:spcBef>
              <a:defRPr sz="1600" b="0" i="0">
                <a:solidFill>
                  <a:srgbClr val="B0B8C4"/>
                </a:solidFill>
                <a:latin typeface="Segoe UI"/>
              </a:defRPr>
            </a:pPr>
            <a:r>
              <a:t>2. Mudem uma posicao:</a:t>
            </a:r>
          </a:p>
          <a:p>
            <a:pPr algn="l">
              <a:spcBef>
                <a:spcPts val="600"/>
              </a:spcBef>
              <a:defRPr sz="1400" b="0" i="0">
                <a:solidFill>
                  <a:srgbClr val="3FB950"/>
                </a:solidFill>
                <a:latin typeface="Segoe UI"/>
              </a:defRPr>
            </a:pPr>
            <a:r>
              <a:t>   position="0 3 -5"</a:t>
            </a:r>
          </a:p>
          <a:p>
            <a:pPr algn="l">
              <a:spcBef>
                <a:spcPts val="600"/>
              </a:spcBef>
              <a:defRPr sz="600" b="0" i="0">
                <a:solidFill>
                  <a:srgbClr val="FFFFFF"/>
                </a:solidFill>
                <a:latin typeface="Segoe UI"/>
              </a:defRPr>
            </a:pPr>
            <a:endParaRPr/>
          </a:p>
          <a:p>
            <a:pPr algn="l">
              <a:spcBef>
                <a:spcPts val="600"/>
              </a:spcBef>
              <a:defRPr sz="1600" b="0" i="0">
                <a:solidFill>
                  <a:srgbClr val="B0B8C4"/>
                </a:solidFill>
                <a:latin typeface="Segoe UI"/>
              </a:defRPr>
            </a:pPr>
            <a:r>
              <a:t>3. Copiem um bloco inteiro,</a:t>
            </a:r>
          </a:p>
          <a:p>
            <a:pPr algn="l">
              <a:spcBef>
                <a:spcPts val="600"/>
              </a:spcBef>
              <a:defRPr sz="1600" b="0" i="0">
                <a:solidFill>
                  <a:srgbClr val="B0B8C4"/>
                </a:solidFill>
                <a:latin typeface="Segoe UI"/>
              </a:defRPr>
            </a:pPr>
            <a:r>
              <a:t>   colem abaixo, mudem cor e posicao.</a:t>
            </a:r>
          </a:p>
          <a:p>
            <a:pPr algn="l">
              <a:spcBef>
                <a:spcPts val="600"/>
              </a:spcBef>
              <a:defRPr sz="800" b="0" i="0">
                <a:solidFill>
                  <a:srgbClr val="FFFFFF"/>
                </a:solidFill>
                <a:latin typeface="Segoe UI"/>
              </a:defRPr>
            </a:pPr>
            <a:endParaRPr/>
          </a:p>
          <a:p>
            <a:pPr algn="l">
              <a:spcBef>
                <a:spcPts val="600"/>
              </a:spcBef>
              <a:defRPr sz="1600" b="1" i="0">
                <a:solidFill>
                  <a:srgbClr val="3FB950"/>
                </a:solidFill>
                <a:latin typeface="Segoe UI"/>
              </a:defRPr>
            </a:pPr>
            <a:r>
              <a:t>Ctrl+S para ver!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Passo 3: Modelo 3D (Coracao)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4572000"/>
          </a:xfrm>
          <a:prstGeom prst="rect">
            <a:avLst/>
          </a:prstGeom>
          <a:noFill/>
        </p:spPr>
        <p:txBody>
          <a:bodyPr wrap="square">
            <a:spAutoFit/>
          </a:bodyPr>
          <a:lstStyle/>
          <a:p>
            <a:pPr algn="l">
              <a:defRPr sz="1800" b="1">
                <a:solidFill>
                  <a:srgbClr val="58A6FF"/>
                </a:solidFill>
                <a:latin typeface="Segoe UI"/>
              </a:defRPr>
            </a:pPr>
            <a:r>
              <a:t>Em &lt;a-assets&gt;:</a:t>
            </a:r>
          </a:p>
          <a:p>
            <a:pPr algn="l">
              <a:spcBef>
                <a:spcPts val="600"/>
              </a:spcBef>
              <a:defRPr sz="1300" b="0" i="0">
                <a:solidFill>
                  <a:srgbClr val="3FB950"/>
                </a:solidFill>
                <a:latin typeface="Segoe UI"/>
              </a:defRPr>
            </a:pPr>
            <a:r>
              <a:t>&lt;a-asset-item id="heart-obj" src="assets/heart/HumanHeart_OBJ.obj"&gt;&lt;/a-asset-item&gt;</a:t>
            </a:r>
          </a:p>
          <a:p>
            <a:pPr algn="l">
              <a:spcBef>
                <a:spcPts val="600"/>
              </a:spcBef>
              <a:defRPr sz="1300" b="0" i="0">
                <a:solidFill>
                  <a:srgbClr val="3FB950"/>
                </a:solidFill>
                <a:latin typeface="Segoe UI"/>
              </a:defRPr>
            </a:pPr>
            <a:r>
              <a:t>&lt;a-asset-item id="heart-mtl" src="assets/heart/HumanHeart_OBJ.mtl"&gt;&lt;/a-asset-item&gt;</a:t>
            </a:r>
          </a:p>
          <a:p>
            <a:pPr algn="l">
              <a:spcBef>
                <a:spcPts val="600"/>
              </a:spcBef>
              <a:defRPr sz="800" b="0" i="0">
                <a:solidFill>
                  <a:srgbClr val="FFFFFF"/>
                </a:solidFill>
                <a:latin typeface="Segoe UI"/>
              </a:defRPr>
            </a:pPr>
            <a:endParaRPr/>
          </a:p>
          <a:p>
            <a:pPr algn="l">
              <a:spcBef>
                <a:spcPts val="600"/>
              </a:spcBef>
              <a:defRPr sz="1800" b="1" i="0">
                <a:solidFill>
                  <a:srgbClr val="58A6FF"/>
                </a:solidFill>
                <a:latin typeface="Segoe UI"/>
              </a:defRPr>
            </a:pPr>
            <a:r>
              <a:t>Na cena:</a:t>
            </a:r>
          </a:p>
          <a:p>
            <a:pPr algn="l">
              <a:spcBef>
                <a:spcPts val="600"/>
              </a:spcBef>
              <a:defRPr sz="1300" b="0" i="0">
                <a:solidFill>
                  <a:srgbClr val="3FB950"/>
                </a:solidFill>
                <a:latin typeface="Segoe UI"/>
              </a:defRPr>
            </a:pPr>
            <a:r>
              <a:t>&lt;a-entity obj-model="obj: #heart-obj; mtl: #heart-mtl"</a:t>
            </a:r>
          </a:p>
          <a:p>
            <a:pPr algn="l">
              <a:spcBef>
                <a:spcPts val="600"/>
              </a:spcBef>
              <a:defRPr sz="1300" b="0" i="0">
                <a:solidFill>
                  <a:srgbClr val="3FB950"/>
                </a:solidFill>
                <a:latin typeface="Segoe UI"/>
              </a:defRPr>
            </a:pPr>
            <a:r>
              <a:t>  material="side: double" position="0 1.5 -3" scale="0.12 0.12 0.12"&gt;</a:t>
            </a:r>
          </a:p>
          <a:p>
            <a:pPr algn="l">
              <a:spcBef>
                <a:spcPts val="600"/>
              </a:spcBef>
              <a:defRPr sz="1300" b="0" i="0">
                <a:solidFill>
                  <a:srgbClr val="3FB950"/>
                </a:solidFill>
                <a:latin typeface="Segoe UI"/>
              </a:defRPr>
            </a:pPr>
            <a:r>
              <a:t>&lt;/a-entity&gt;</a:t>
            </a:r>
          </a:p>
          <a:p>
            <a:pPr algn="l">
              <a:spcBef>
                <a:spcPts val="600"/>
              </a:spcBef>
              <a:defRPr sz="800" b="0" i="0">
                <a:solidFill>
                  <a:srgbClr val="FFFFFF"/>
                </a:solidFill>
                <a:latin typeface="Segoe UI"/>
              </a:defRPr>
            </a:pPr>
            <a:endParaRPr/>
          </a:p>
          <a:p>
            <a:pPr algn="l">
              <a:spcBef>
                <a:spcPts val="600"/>
              </a:spcBef>
              <a:defRPr sz="1600" b="1" i="0">
                <a:solidFill>
                  <a:srgbClr val="FFFFFF"/>
                </a:solidFill>
                <a:latin typeface="Segoe UI"/>
              </a:defRPr>
            </a:pPr>
            <a:r>
              <a:t>Termos tecnicos:</a:t>
            </a:r>
          </a:p>
          <a:p>
            <a:pPr algn="l">
              <a:spcBef>
                <a:spcPts val="600"/>
              </a:spcBef>
              <a:defRPr sz="1400" b="0" i="0">
                <a:solidFill>
                  <a:srgbClr val="B0B8C4"/>
                </a:solidFill>
                <a:latin typeface="Segoe UI"/>
              </a:defRPr>
            </a:pPr>
            <a:r>
              <a:t>• OBJ = Wavefront Object (formato 3D universal, geometria como vertices e faces)</a:t>
            </a:r>
          </a:p>
          <a:p>
            <a:pPr algn="l">
              <a:spcBef>
                <a:spcPts val="600"/>
              </a:spcBef>
              <a:defRPr sz="1400" b="0" i="0">
                <a:solidFill>
                  <a:srgbClr val="B0B8C4"/>
                </a:solidFill>
                <a:latin typeface="Segoe UI"/>
              </a:defRPr>
            </a:pPr>
            <a:r>
              <a:t>• MTL = Material Template Library (cores e texturas associadas ao OBJ)</a:t>
            </a:r>
          </a:p>
          <a:p>
            <a:pPr algn="l">
              <a:spcBef>
                <a:spcPts val="600"/>
              </a:spcBef>
              <a:defRPr sz="1400" b="0" i="0">
                <a:solidFill>
                  <a:srgbClr val="B0B8C4"/>
                </a:solidFill>
                <a:latin typeface="Segoe UI"/>
              </a:defRPr>
            </a:pPr>
            <a:r>
              <a:t>• &lt;a-entity&gt; = entity generica (nao e primitivo — configuramos com componentes)</a:t>
            </a:r>
          </a:p>
          <a:p>
            <a:pPr algn="l">
              <a:spcBef>
                <a:spcPts val="600"/>
              </a:spcBef>
              <a:defRPr sz="1400" b="0" i="0">
                <a:solidFill>
                  <a:srgbClr val="B0B8C4"/>
                </a:solidFill>
                <a:latin typeface="Segoe UI"/>
              </a:defRPr>
            </a:pPr>
            <a:r>
              <a:t>• obj-model = componente A-Frame que carrega formato OBJ+MTL</a:t>
            </a:r>
          </a:p>
          <a:p>
            <a:pPr algn="l">
              <a:spcBef>
                <a:spcPts val="600"/>
              </a:spcBef>
              <a:defRPr sz="1400" b="0" i="0">
                <a:solidFill>
                  <a:srgbClr val="B0B8C4"/>
                </a:solidFill>
                <a:latin typeface="Segoe UI"/>
              </a:defRPr>
            </a:pPr>
            <a:r>
              <a:t>• material="side: double" = renderiza AMBAS as faces dos poligonos (backface culling off)</a:t>
            </a:r>
          </a:p>
          <a:p>
            <a:pPr algn="l">
              <a:spcBef>
                <a:spcPts val="600"/>
              </a:spcBef>
              <a:defRPr sz="1400" b="0" i="0">
                <a:solidFill>
                  <a:srgbClr val="B0B8C4"/>
                </a:solidFill>
                <a:latin typeface="Segoe UI"/>
              </a:defRPr>
            </a:pPr>
            <a:r>
              <a:t>• scale="0.12 0.12 0.12" = 12% do tamanho original (modelos 3D vem em escalas arbitrarias)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Passo 4: Animacoes + EXERCICIO</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029200" cy="5029200"/>
          </a:xfrm>
          <a:prstGeom prst="rect">
            <a:avLst/>
          </a:prstGeom>
          <a:noFill/>
        </p:spPr>
        <p:txBody>
          <a:bodyPr wrap="square">
            <a:spAutoFit/>
          </a:bodyPr>
          <a:lstStyle/>
          <a:p>
            <a:pPr algn="l">
              <a:defRPr sz="1800" b="1">
                <a:solidFill>
                  <a:srgbClr val="58A6FF"/>
                </a:solidFill>
                <a:latin typeface="Segoe UI"/>
              </a:defRPr>
            </a:pPr>
            <a:r>
              <a:t>Animacao = atributo HTML declarativo</a:t>
            </a:r>
          </a:p>
          <a:p>
            <a:pPr algn="l">
              <a:spcBef>
                <a:spcPts val="600"/>
              </a:spcBef>
              <a:defRPr sz="600" b="0" i="0">
                <a:solidFill>
                  <a:srgbClr val="FFFFFF"/>
                </a:solidFill>
                <a:latin typeface="Segoe UI"/>
              </a:defRPr>
            </a:pPr>
            <a:endParaRPr/>
          </a:p>
          <a:p>
            <a:pPr algn="l">
              <a:spcBef>
                <a:spcPts val="600"/>
              </a:spcBef>
              <a:defRPr sz="1500" b="1" i="0">
                <a:solidFill>
                  <a:srgbClr val="FFFFFF"/>
                </a:solidFill>
                <a:latin typeface="Segoe UI"/>
              </a:defRPr>
            </a:pPr>
            <a:r>
              <a:t>Rotacao continua (cubo):</a:t>
            </a:r>
          </a:p>
          <a:p>
            <a:pPr algn="l">
              <a:spcBef>
                <a:spcPts val="600"/>
              </a:spcBef>
              <a:defRPr sz="1300" b="0" i="0">
                <a:solidFill>
                  <a:srgbClr val="3FB950"/>
                </a:solidFill>
                <a:latin typeface="Segoe UI"/>
              </a:defRPr>
            </a:pPr>
            <a:r>
              <a:t>animation="property: rotation;</a:t>
            </a:r>
          </a:p>
          <a:p>
            <a:pPr algn="l">
              <a:spcBef>
                <a:spcPts val="600"/>
              </a:spcBef>
              <a:defRPr sz="1300" b="0" i="0">
                <a:solidFill>
                  <a:srgbClr val="3FB950"/>
                </a:solidFill>
                <a:latin typeface="Segoe UI"/>
              </a:defRPr>
            </a:pPr>
            <a:r>
              <a:t>  to: 0 390 0; loop: true;</a:t>
            </a:r>
          </a:p>
          <a:p>
            <a:pPr algn="l">
              <a:spcBef>
                <a:spcPts val="600"/>
              </a:spcBef>
              <a:defRPr sz="1300" b="0" i="0">
                <a:solidFill>
                  <a:srgbClr val="3FB950"/>
                </a:solidFill>
                <a:latin typeface="Segoe UI"/>
              </a:defRPr>
            </a:pPr>
            <a:r>
              <a:t>  dur: 8000; easing: linear"</a:t>
            </a:r>
          </a:p>
          <a:p>
            <a:pPr algn="l">
              <a:spcBef>
                <a:spcPts val="600"/>
              </a:spcBef>
              <a:defRPr sz="600" b="0" i="0">
                <a:solidFill>
                  <a:srgbClr val="FFFFFF"/>
                </a:solidFill>
                <a:latin typeface="Segoe UI"/>
              </a:defRPr>
            </a:pPr>
            <a:endParaRPr/>
          </a:p>
          <a:p>
            <a:pPr algn="l">
              <a:spcBef>
                <a:spcPts val="600"/>
              </a:spcBef>
              <a:defRPr sz="1500" b="1" i="0">
                <a:solidFill>
                  <a:srgbClr val="FFFFFF"/>
                </a:solidFill>
                <a:latin typeface="Segoe UI"/>
              </a:defRPr>
            </a:pPr>
            <a:r>
              <a:t>Pulso/heartbeat (coracao):</a:t>
            </a:r>
          </a:p>
          <a:p>
            <a:pPr algn="l">
              <a:spcBef>
                <a:spcPts val="600"/>
              </a:spcBef>
              <a:defRPr sz="1300" b="0" i="0">
                <a:solidFill>
                  <a:srgbClr val="F78166"/>
                </a:solidFill>
                <a:latin typeface="Segoe UI"/>
              </a:defRPr>
            </a:pPr>
            <a:r>
              <a:t>animation__pulse="property: scale;</a:t>
            </a:r>
          </a:p>
          <a:p>
            <a:pPr algn="l">
              <a:spcBef>
                <a:spcPts val="600"/>
              </a:spcBef>
              <a:defRPr sz="1300" b="0" i="0">
                <a:solidFill>
                  <a:srgbClr val="F78166"/>
                </a:solidFill>
                <a:latin typeface="Segoe UI"/>
              </a:defRPr>
            </a:pPr>
            <a:r>
              <a:t>  from: 0.12 0.12 0.12; to: 0.13 0.13 0.13;</a:t>
            </a:r>
          </a:p>
          <a:p>
            <a:pPr algn="l">
              <a:spcBef>
                <a:spcPts val="600"/>
              </a:spcBef>
              <a:defRPr sz="1300" b="0" i="0">
                <a:solidFill>
                  <a:srgbClr val="F78166"/>
                </a:solidFill>
                <a:latin typeface="Segoe UI"/>
              </a:defRPr>
            </a:pPr>
            <a:r>
              <a:t>  dir: alternate; dur: 800; loop: true"</a:t>
            </a:r>
          </a:p>
          <a:p>
            <a:pPr algn="l">
              <a:spcBef>
                <a:spcPts val="600"/>
              </a:spcBef>
              <a:defRPr sz="800" b="0" i="0">
                <a:solidFill>
                  <a:srgbClr val="FFFFFF"/>
                </a:solidFill>
                <a:latin typeface="Segoe UI"/>
              </a:defRPr>
            </a:pPr>
            <a:endParaRPr/>
          </a:p>
          <a:p>
            <a:pPr algn="l">
              <a:spcBef>
                <a:spcPts val="600"/>
              </a:spcBef>
              <a:defRPr sz="1500" b="1" i="0">
                <a:solidFill>
                  <a:srgbClr val="FFFFFF"/>
                </a:solidFill>
                <a:latin typeface="Segoe UI"/>
              </a:defRPr>
            </a:pPr>
            <a:r>
              <a:t>Termos tecnicos:</a:t>
            </a:r>
          </a:p>
          <a:p>
            <a:pPr algn="l">
              <a:spcBef>
                <a:spcPts val="600"/>
              </a:spcBef>
              <a:defRPr sz="1300" b="0" i="0">
                <a:solidFill>
                  <a:srgbClr val="B0B8C4"/>
                </a:solidFill>
                <a:latin typeface="Segoe UI"/>
              </a:defRPr>
            </a:pPr>
            <a:r>
              <a:t>• property — propriedade CSS/3D a animar</a:t>
            </a:r>
          </a:p>
          <a:p>
            <a:pPr algn="l">
              <a:spcBef>
                <a:spcPts val="600"/>
              </a:spcBef>
              <a:defRPr sz="1300" b="0" i="0">
                <a:solidFill>
                  <a:srgbClr val="B0B8C4"/>
                </a:solidFill>
                <a:latin typeface="Segoe UI"/>
              </a:defRPr>
            </a:pPr>
            <a:r>
              <a:t>• dur — duration em milissegundos</a:t>
            </a:r>
          </a:p>
          <a:p>
            <a:pPr algn="l">
              <a:spcBef>
                <a:spcPts val="600"/>
              </a:spcBef>
              <a:defRPr sz="1300" b="0" i="0">
                <a:solidFill>
                  <a:srgbClr val="B0B8C4"/>
                </a:solidFill>
                <a:latin typeface="Segoe UI"/>
              </a:defRPr>
            </a:pPr>
            <a:r>
              <a:t>• easing — curva de aceleracao (linear, easeInOut...)</a:t>
            </a:r>
          </a:p>
          <a:p>
            <a:pPr algn="l">
              <a:spcBef>
                <a:spcPts val="600"/>
              </a:spcBef>
              <a:defRPr sz="1300" b="0" i="0">
                <a:solidFill>
                  <a:srgbClr val="B0B8C4"/>
                </a:solidFill>
                <a:latin typeface="Segoe UI"/>
              </a:defRPr>
            </a:pPr>
            <a:r>
              <a:t>• dir: alternate — vai e volta (yo-yo)</a:t>
            </a:r>
          </a:p>
          <a:p>
            <a:pPr algn="l">
              <a:spcBef>
                <a:spcPts val="600"/>
              </a:spcBef>
              <a:defRPr sz="1300" b="0" i="0">
                <a:solidFill>
                  <a:srgbClr val="B0B8C4"/>
                </a:solidFill>
                <a:latin typeface="Segoe UI"/>
              </a:defRPr>
            </a:pPr>
            <a:r>
              <a:t>• animation__nome — multiplas animacoes (__ = sufixo)</a:t>
            </a:r>
          </a:p>
          <a:p>
            <a:pPr algn="l">
              <a:spcBef>
                <a:spcPts val="600"/>
              </a:spcBef>
              <a:defRPr sz="1300" b="0" i="0">
                <a:solidFill>
                  <a:srgbClr val="B0B8C4"/>
                </a:solidFill>
                <a:latin typeface="Segoe UI"/>
              </a:defRPr>
            </a:pPr>
            <a:r>
              <a:t>• startEvents — dispara com evento (ex: click)</a:t>
            </a:r>
          </a:p>
        </p:txBody>
      </p:sp>
      <p:sp>
        <p:nvSpPr>
          <p:cNvPr id="5" name="Rounded Rectangle 4"/>
          <p:cNvSpPr/>
          <p:nvPr/>
        </p:nvSpPr>
        <p:spPr>
          <a:xfrm>
            <a:off x="6400800" y="1463040"/>
            <a:ext cx="5029200" cy="475488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645920"/>
            <a:ext cx="4572000" cy="457200"/>
          </a:xfrm>
          <a:prstGeom prst="rect">
            <a:avLst/>
          </a:prstGeom>
          <a:noFill/>
        </p:spPr>
        <p:txBody>
          <a:bodyPr wrap="square">
            <a:spAutoFit/>
          </a:bodyPr>
          <a:lstStyle/>
          <a:p>
            <a:pPr algn="l">
              <a:defRPr sz="2200" b="1">
                <a:solidFill>
                  <a:srgbClr val="D2A8FF"/>
                </a:solidFill>
                <a:latin typeface="Segoe UI"/>
              </a:defRPr>
            </a:pPr>
            <a:r>
              <a:t>EXERCICIO 2</a:t>
            </a:r>
          </a:p>
          <a:p>
            <a:pPr algn="l">
              <a:spcBef>
                <a:spcPts val="600"/>
              </a:spcBef>
              <a:defRPr sz="600" b="0" i="0">
                <a:solidFill>
                  <a:srgbClr val="FFFFFF"/>
                </a:solidFill>
                <a:latin typeface="Segoe UI"/>
              </a:defRPr>
            </a:pPr>
            <a:endParaRPr/>
          </a:p>
          <a:p>
            <a:pPr algn="l">
              <a:spcBef>
                <a:spcPts val="600"/>
              </a:spcBef>
              <a:defRPr sz="1500" b="0" i="0">
                <a:solidFill>
                  <a:srgbClr val="B0B8C4"/>
                </a:solidFill>
                <a:latin typeface="Segoe UI"/>
              </a:defRPr>
            </a:pPr>
            <a:r>
              <a:t>1. Mudem velocidade:</a:t>
            </a:r>
          </a:p>
          <a:p>
            <a:pPr algn="l">
              <a:spcBef>
                <a:spcPts val="600"/>
              </a:spcBef>
              <a:defRPr sz="1400" b="0" i="0">
                <a:solidFill>
                  <a:srgbClr val="3FB950"/>
                </a:solidFill>
                <a:latin typeface="Segoe UI"/>
              </a:defRPr>
            </a:pPr>
            <a:r>
              <a:t>   dur: 2000 (rapido)</a:t>
            </a:r>
          </a:p>
          <a:p>
            <a:pPr algn="l">
              <a:spcBef>
                <a:spcPts val="600"/>
              </a:spcBef>
              <a:defRPr sz="1400" b="0" i="0">
                <a:solidFill>
                  <a:srgbClr val="3FB950"/>
                </a:solidFill>
                <a:latin typeface="Segoe UI"/>
              </a:defRPr>
            </a:pPr>
            <a:r>
              <a:t>   dur: 20000 (lento)</a:t>
            </a:r>
          </a:p>
          <a:p>
            <a:pPr algn="l">
              <a:spcBef>
                <a:spcPts val="600"/>
              </a:spcBef>
              <a:defRPr sz="600" b="0" i="0">
                <a:solidFill>
                  <a:srgbClr val="FFFFFF"/>
                </a:solidFill>
                <a:latin typeface="Segoe UI"/>
              </a:defRPr>
            </a:pPr>
            <a:endParaRPr/>
          </a:p>
          <a:p>
            <a:pPr algn="l">
              <a:spcBef>
                <a:spcPts val="600"/>
              </a:spcBef>
              <a:defRPr sz="1500" b="0" i="0">
                <a:solidFill>
                  <a:srgbClr val="B0B8C4"/>
                </a:solidFill>
                <a:latin typeface="Segoe UI"/>
              </a:defRPr>
            </a:pPr>
            <a:r>
              <a:t>2. Mudem direcao:</a:t>
            </a:r>
          </a:p>
          <a:p>
            <a:pPr algn="l">
              <a:spcBef>
                <a:spcPts val="600"/>
              </a:spcBef>
              <a:defRPr sz="1400" b="0" i="0">
                <a:solidFill>
                  <a:srgbClr val="3FB950"/>
                </a:solidFill>
                <a:latin typeface="Segoe UI"/>
              </a:defRPr>
            </a:pPr>
            <a:r>
              <a:t>   to: 0 -360 0 (anti-horario)</a:t>
            </a:r>
          </a:p>
          <a:p>
            <a:pPr algn="l">
              <a:spcBef>
                <a:spcPts val="600"/>
              </a:spcBef>
              <a:defRPr sz="600" b="0" i="0">
                <a:solidFill>
                  <a:srgbClr val="FFFFFF"/>
                </a:solidFill>
                <a:latin typeface="Segoe UI"/>
              </a:defRPr>
            </a:pPr>
            <a:endParaRPr/>
          </a:p>
          <a:p>
            <a:pPr algn="l">
              <a:spcBef>
                <a:spcPts val="600"/>
              </a:spcBef>
              <a:defRPr sz="1500" b="0" i="0">
                <a:solidFill>
                  <a:srgbClr val="B0B8C4"/>
                </a:solidFill>
                <a:latin typeface="Segoe UI"/>
              </a:defRPr>
            </a:pPr>
            <a:r>
              <a:t>3. Animem a esfera:</a:t>
            </a:r>
          </a:p>
          <a:p>
            <a:pPr algn="l">
              <a:spcBef>
                <a:spcPts val="600"/>
              </a:spcBef>
              <a:defRPr sz="1400" b="0" i="0">
                <a:solidFill>
                  <a:srgbClr val="B0B8C4"/>
                </a:solidFill>
                <a:latin typeface="Segoe UI"/>
              </a:defRPr>
            </a:pPr>
            <a:r>
              <a:t>   Copiem o animation__pulse</a:t>
            </a:r>
          </a:p>
          <a:p>
            <a:pPr algn="l">
              <a:spcBef>
                <a:spcPts val="600"/>
              </a:spcBef>
              <a:defRPr sz="600" b="0" i="0">
                <a:solidFill>
                  <a:srgbClr val="FFFFFF"/>
                </a:solidFill>
                <a:latin typeface="Segoe UI"/>
              </a:defRPr>
            </a:pPr>
            <a:endParaRPr/>
          </a:p>
          <a:p>
            <a:pPr algn="l">
              <a:spcBef>
                <a:spcPts val="600"/>
              </a:spcBef>
              <a:defRPr sz="1500" b="0" i="0">
                <a:solidFill>
                  <a:srgbClr val="B0B8C4"/>
                </a:solidFill>
                <a:latin typeface="Segoe UI"/>
              </a:defRPr>
            </a:pPr>
            <a:r>
              <a:t>4. Mudem easing:</a:t>
            </a:r>
          </a:p>
          <a:p>
            <a:pPr algn="l">
              <a:spcBef>
                <a:spcPts val="600"/>
              </a:spcBef>
              <a:defRPr sz="1400" b="0" i="0">
                <a:solidFill>
                  <a:srgbClr val="3FB950"/>
                </a:solidFill>
                <a:latin typeface="Segoe UI"/>
              </a:defRPr>
            </a:pPr>
            <a:r>
              <a:t>   easeInOutBounce</a:t>
            </a:r>
          </a:p>
          <a:p>
            <a:pPr algn="l">
              <a:spcBef>
                <a:spcPts val="600"/>
              </a:spcBef>
              <a:defRPr sz="1400" b="0" i="0">
                <a:solidFill>
                  <a:srgbClr val="3FB950"/>
                </a:solidFill>
                <a:latin typeface="Segoe UI"/>
              </a:defRPr>
            </a:pPr>
            <a:r>
              <a:t>   easeOutElastic</a:t>
            </a:r>
          </a:p>
          <a:p>
            <a:pPr algn="l">
              <a:spcBef>
                <a:spcPts val="600"/>
              </a:spcBef>
              <a:defRPr sz="600" b="0" i="0">
                <a:solidFill>
                  <a:srgbClr val="FFFFFF"/>
                </a:solidFill>
                <a:latin typeface="Segoe UI"/>
              </a:defRPr>
            </a:pPr>
            <a:endParaRPr/>
          </a:p>
          <a:p>
            <a:pPr algn="l">
              <a:spcBef>
                <a:spcPts val="600"/>
              </a:spcBef>
              <a:defRPr sz="1500" b="1" i="0">
                <a:solidFill>
                  <a:srgbClr val="D2A8FF"/>
                </a:solidFill>
                <a:latin typeface="Segoe UI"/>
              </a:defRPr>
            </a:pPr>
            <a:r>
              <a:t>Ctrl+S para ver!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Passo 5: Interacoes + Inspector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5486400" cy="4572000"/>
          </a:xfrm>
          <a:prstGeom prst="rect">
            <a:avLst/>
          </a:prstGeom>
          <a:noFill/>
        </p:spPr>
        <p:txBody>
          <a:bodyPr wrap="square">
            <a:spAutoFit/>
          </a:bodyPr>
          <a:lstStyle/>
          <a:p>
            <a:pPr algn="l">
              <a:defRPr sz="1800" b="1">
                <a:solidFill>
                  <a:srgbClr val="58A6FF"/>
                </a:solidFill>
                <a:latin typeface="Segoe UI"/>
              </a:defRPr>
            </a:pPr>
            <a:r>
              <a:t>event-set: interacao SEM JavaScript</a:t>
            </a:r>
          </a:p>
          <a:p>
            <a:pPr algn="l">
              <a:spcBef>
                <a:spcPts val="600"/>
              </a:spcBef>
              <a:defRPr sz="400" b="0" i="0">
                <a:solidFill>
                  <a:srgbClr val="FFFFFF"/>
                </a:solidFill>
                <a:latin typeface="Segoe UI"/>
              </a:defRPr>
            </a:pPr>
            <a:endParaRPr/>
          </a:p>
          <a:p>
            <a:pPr algn="l">
              <a:spcBef>
                <a:spcPts val="600"/>
              </a:spcBef>
              <a:defRPr sz="1500" b="1" i="0">
                <a:solidFill>
                  <a:srgbClr val="FFFFFF"/>
                </a:solidFill>
                <a:latin typeface="Segoe UI"/>
              </a:defRPr>
            </a:pPr>
            <a:r>
              <a:t>Hover muda cor:</a:t>
            </a:r>
          </a:p>
          <a:p>
            <a:pPr algn="l">
              <a:spcBef>
                <a:spcPts val="600"/>
              </a:spcBef>
              <a:defRPr sz="1300" b="0" i="0">
                <a:solidFill>
                  <a:srgbClr val="3FB950"/>
                </a:solidFill>
                <a:latin typeface="Segoe UI"/>
              </a:defRPr>
            </a:pPr>
            <a:r>
              <a:t>event-set__enter="_event: mouseenter; material.color: #00FFFF"</a:t>
            </a:r>
          </a:p>
          <a:p>
            <a:pPr algn="l">
              <a:spcBef>
                <a:spcPts val="600"/>
              </a:spcBef>
              <a:defRPr sz="1300" b="0" i="0">
                <a:solidFill>
                  <a:srgbClr val="3FB950"/>
                </a:solidFill>
                <a:latin typeface="Segoe UI"/>
              </a:defRPr>
            </a:pPr>
            <a:r>
              <a:t>event-set__leave="_event: mouseleave; material.color: #4CC3D9"</a:t>
            </a:r>
          </a:p>
          <a:p>
            <a:pPr algn="l">
              <a:spcBef>
                <a:spcPts val="600"/>
              </a:spcBef>
              <a:defRPr sz="600" b="0" i="0">
                <a:solidFill>
                  <a:srgbClr val="FFFFFF"/>
                </a:solidFill>
                <a:latin typeface="Segoe UI"/>
              </a:defRPr>
            </a:pPr>
            <a:endParaRPr/>
          </a:p>
          <a:p>
            <a:pPr algn="l">
              <a:spcBef>
                <a:spcPts val="600"/>
              </a:spcBef>
              <a:defRPr sz="1500" b="1" i="0">
                <a:solidFill>
                  <a:srgbClr val="FFFFFF"/>
                </a:solidFill>
                <a:latin typeface="Segoe UI"/>
              </a:defRPr>
            </a:pPr>
            <a:r>
              <a:t>Click muda OUTRO objeto:</a:t>
            </a:r>
          </a:p>
          <a:p>
            <a:pPr algn="l">
              <a:spcBef>
                <a:spcPts val="600"/>
              </a:spcBef>
              <a:defRPr sz="1300" b="0" i="0">
                <a:solidFill>
                  <a:srgbClr val="3FB950"/>
                </a:solidFill>
                <a:latin typeface="Segoe UI"/>
              </a:defRPr>
            </a:pPr>
            <a:r>
              <a:t>event-set__click="_event: click; _target: #esfera; material.color: #9B59B6"</a:t>
            </a:r>
          </a:p>
          <a:p>
            <a:pPr algn="l">
              <a:spcBef>
                <a:spcPts val="600"/>
              </a:spcBef>
              <a:defRPr sz="600" b="0" i="0">
                <a:solidFill>
                  <a:srgbClr val="FFFFFF"/>
                </a:solidFill>
                <a:latin typeface="Segoe UI"/>
              </a:defRPr>
            </a:pPr>
            <a:endParaRPr/>
          </a:p>
          <a:p>
            <a:pPr algn="l">
              <a:spcBef>
                <a:spcPts val="600"/>
              </a:spcBef>
              <a:defRPr sz="1500" b="1" i="0">
                <a:solidFill>
                  <a:srgbClr val="FFFFFF"/>
                </a:solidFill>
                <a:latin typeface="Segoe UI"/>
              </a:defRPr>
            </a:pPr>
            <a:r>
              <a:t>Label ao hover:</a:t>
            </a:r>
          </a:p>
          <a:p>
            <a:pPr algn="l">
              <a:spcBef>
                <a:spcPts val="600"/>
              </a:spcBef>
              <a:defRPr sz="1300" b="0" i="0">
                <a:solidFill>
                  <a:srgbClr val="F78166"/>
                </a:solidFill>
                <a:latin typeface="Segoe UI"/>
              </a:defRPr>
            </a:pPr>
            <a:r>
              <a:t>event-set__enter="_event: mouseenter; _target: #label; visible: true"</a:t>
            </a:r>
          </a:p>
          <a:p>
            <a:pPr algn="l">
              <a:spcBef>
                <a:spcPts val="600"/>
              </a:spcBef>
              <a:defRPr sz="800" b="0" i="0">
                <a:solidFill>
                  <a:srgbClr val="FFFFFF"/>
                </a:solidFill>
                <a:latin typeface="Segoe UI"/>
              </a:defRPr>
            </a:pPr>
            <a:endParaRPr/>
          </a:p>
          <a:p>
            <a:pPr algn="l">
              <a:spcBef>
                <a:spcPts val="600"/>
              </a:spcBef>
              <a:defRPr sz="1500" b="1" i="0">
                <a:solidFill>
                  <a:srgbClr val="FFFFFF"/>
                </a:solidFill>
                <a:latin typeface="Segoe UI"/>
              </a:defRPr>
            </a:pPr>
            <a:r>
              <a:t>Termos:</a:t>
            </a:r>
          </a:p>
          <a:p>
            <a:pPr algn="l">
              <a:spcBef>
                <a:spcPts val="600"/>
              </a:spcBef>
              <a:defRPr sz="1300" b="0" i="0">
                <a:solidFill>
                  <a:srgbClr val="B0B8C4"/>
                </a:solidFill>
                <a:latin typeface="Segoe UI"/>
              </a:defRPr>
            </a:pPr>
            <a:r>
              <a:t>• _event: evento DOM que dispara a acao</a:t>
            </a:r>
          </a:p>
          <a:p>
            <a:pPr algn="l">
              <a:spcBef>
                <a:spcPts val="600"/>
              </a:spcBef>
              <a:defRPr sz="1300" b="0" i="0">
                <a:solidFill>
                  <a:srgbClr val="B0B8C4"/>
                </a:solidFill>
                <a:latin typeface="Segoe UI"/>
              </a:defRPr>
            </a:pPr>
            <a:r>
              <a:t>• _target: #id do elemento alvo (se diferente)</a:t>
            </a:r>
          </a:p>
          <a:p>
            <a:pPr algn="l">
              <a:spcBef>
                <a:spcPts val="600"/>
              </a:spcBef>
              <a:defRPr sz="1300" b="0" i="0">
                <a:solidFill>
                  <a:srgbClr val="B0B8C4"/>
                </a:solidFill>
                <a:latin typeface="Segoe UI"/>
              </a:defRPr>
            </a:pPr>
            <a:r>
              <a:t>• mouseenter/mouseleave = hover in/out</a:t>
            </a:r>
          </a:p>
          <a:p>
            <a:pPr algn="l">
              <a:spcBef>
                <a:spcPts val="600"/>
              </a:spcBef>
              <a:defRPr sz="1300" b="0" i="0">
                <a:solidFill>
                  <a:srgbClr val="B0B8C4"/>
                </a:solidFill>
                <a:latin typeface="Segoe UI"/>
              </a:defRPr>
            </a:pPr>
            <a:r>
              <a:t>• class='clickable' + raycaster = filtro de interacao</a:t>
            </a:r>
          </a:p>
        </p:txBody>
      </p:sp>
      <p:sp>
        <p:nvSpPr>
          <p:cNvPr id="5" name="Rounded Rectangle 4"/>
          <p:cNvSpPr/>
          <p:nvPr/>
        </p:nvSpPr>
        <p:spPr>
          <a:xfrm>
            <a:off x="6858000" y="1463040"/>
            <a:ext cx="4754880" cy="457200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645920"/>
            <a:ext cx="4206240" cy="457200"/>
          </a:xfrm>
          <a:prstGeom prst="rect">
            <a:avLst/>
          </a:prstGeom>
          <a:noFill/>
        </p:spPr>
        <p:txBody>
          <a:bodyPr wrap="square">
            <a:spAutoFit/>
          </a:bodyPr>
          <a:lstStyle/>
          <a:p>
            <a:pPr algn="l">
              <a:defRPr sz="2200" b="1">
                <a:solidFill>
                  <a:srgbClr val="3FB950"/>
                </a:solidFill>
                <a:latin typeface="Segoe UI"/>
              </a:defRPr>
            </a:pPr>
            <a:r>
              <a:t>EXERCICIO 3 FINAL</a:t>
            </a:r>
          </a:p>
          <a:p>
            <a:pPr algn="l">
              <a:spcBef>
                <a:spcPts val="600"/>
              </a:spcBef>
              <a:defRPr sz="600" b="0" i="0">
                <a:solidFill>
                  <a:srgbClr val="FFFFFF"/>
                </a:solidFill>
                <a:latin typeface="Segoe UI"/>
              </a:defRPr>
            </a:pPr>
            <a:endParaRPr/>
          </a:p>
          <a:p>
            <a:pPr algn="l">
              <a:spcBef>
                <a:spcPts val="600"/>
              </a:spcBef>
              <a:defRPr sz="1600" b="1" i="0">
                <a:solidFill>
                  <a:srgbClr val="FFFFFF"/>
                </a:solidFill>
                <a:latin typeface="Segoe UI"/>
              </a:defRPr>
            </a:pPr>
            <a:r>
              <a:t>Adicionem um objeto novo com:</a:t>
            </a:r>
          </a:p>
          <a:p>
            <a:pPr algn="l">
              <a:spcBef>
                <a:spcPts val="600"/>
              </a:spcBef>
              <a:defRPr sz="400" b="0" i="0">
                <a:solidFill>
                  <a:srgbClr val="FFFFFF"/>
                </a:solidFill>
                <a:latin typeface="Segoe UI"/>
              </a:defRPr>
            </a:pPr>
            <a:endParaRPr/>
          </a:p>
          <a:p>
            <a:pPr algn="l">
              <a:spcBef>
                <a:spcPts val="600"/>
              </a:spcBef>
              <a:defRPr sz="1500" b="0" i="0">
                <a:solidFill>
                  <a:srgbClr val="B0B8C4"/>
                </a:solidFill>
                <a:latin typeface="Segoe UI"/>
              </a:defRPr>
            </a:pPr>
            <a:r>
              <a:t>1. Uma FORMA e COR</a:t>
            </a:r>
          </a:p>
          <a:p>
            <a:pPr algn="l">
              <a:spcBef>
                <a:spcPts val="600"/>
              </a:spcBef>
              <a:defRPr sz="1500" b="0" i="0">
                <a:solidFill>
                  <a:srgbClr val="B0B8C4"/>
                </a:solidFill>
                <a:latin typeface="Segoe UI"/>
              </a:defRPr>
            </a:pPr>
            <a:r>
              <a:t>2. Uma ANIMACAO</a:t>
            </a:r>
          </a:p>
          <a:p>
            <a:pPr algn="l">
              <a:spcBef>
                <a:spcPts val="600"/>
              </a:spcBef>
              <a:defRPr sz="1500" b="0" i="0">
                <a:solidFill>
                  <a:srgbClr val="B0B8C4"/>
                </a:solidFill>
                <a:latin typeface="Segoe UI"/>
              </a:defRPr>
            </a:pPr>
            <a:r>
              <a:t>3. Um efeito HOVER</a:t>
            </a:r>
          </a:p>
          <a:p>
            <a:pPr algn="l">
              <a:spcBef>
                <a:spcPts val="600"/>
              </a:spcBef>
              <a:defRPr sz="800" b="0" i="0">
                <a:solidFill>
                  <a:srgbClr val="FFFFFF"/>
                </a:solidFill>
                <a:latin typeface="Segoe UI"/>
              </a:defRPr>
            </a:pPr>
            <a:endParaRPr/>
          </a:p>
          <a:p>
            <a:pPr algn="l">
              <a:spcBef>
                <a:spcPts val="600"/>
              </a:spcBef>
              <a:defRPr sz="1500" b="0" i="0">
                <a:solidFill>
                  <a:srgbClr val="3FB950"/>
                </a:solidFill>
                <a:latin typeface="Segoe UI"/>
              </a:defRPr>
            </a:pPr>
            <a:r>
              <a:t>Dica: copiem de objetos existentes!</a:t>
            </a:r>
          </a:p>
          <a:p>
            <a:pPr algn="l">
              <a:spcBef>
                <a:spcPts val="600"/>
              </a:spcBef>
              <a:defRPr sz="600" b="0" i="0">
                <a:solidFill>
                  <a:srgbClr val="FFFFFF"/>
                </a:solidFill>
                <a:latin typeface="Segoe UI"/>
              </a:defRPr>
            </a:pPr>
            <a:endParaRPr/>
          </a:p>
          <a:p>
            <a:pPr algn="l">
              <a:spcBef>
                <a:spcPts val="600"/>
              </a:spcBef>
              <a:defRPr sz="1500" b="1" i="0">
                <a:solidFill>
                  <a:srgbClr val="58A6FF"/>
                </a:solidFill>
                <a:latin typeface="Segoe UI"/>
              </a:defRPr>
            </a:pPr>
            <a:r>
              <a:t>Usem o Inspector (Ctrl+Alt+I)</a:t>
            </a:r>
          </a:p>
          <a:p>
            <a:pPr algn="l">
              <a:spcBef>
                <a:spcPts val="600"/>
              </a:spcBef>
              <a:defRPr sz="1500" b="0" i="0">
                <a:solidFill>
                  <a:srgbClr val="58A6FF"/>
                </a:solidFill>
                <a:latin typeface="Segoe UI"/>
              </a:defRPr>
            </a:pPr>
            <a:r>
              <a:t>para posicionar visualmente!</a:t>
            </a:r>
          </a:p>
          <a:p>
            <a:pPr algn="l">
              <a:spcBef>
                <a:spcPts val="600"/>
              </a:spcBef>
              <a:defRPr sz="800" b="0" i="0">
                <a:solidFill>
                  <a:srgbClr val="FFFFFF"/>
                </a:solidFill>
                <a:latin typeface="Segoe UI"/>
              </a:defRPr>
            </a:pPr>
            <a:endParaRPr/>
          </a:p>
          <a:p>
            <a:pPr algn="l">
              <a:spcBef>
                <a:spcPts val="600"/>
              </a:spcBef>
              <a:defRPr sz="1600" b="1" i="0">
                <a:solidFill>
                  <a:srgbClr val="F78166"/>
                </a:solidFill>
                <a:latin typeface="Segoe UI"/>
              </a:defRPr>
            </a:pPr>
            <a:r>
              <a:t>Tempo: 15 min | Trabalhem em pares!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Testar em VR: Meta Quest</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10058400" cy="4572000"/>
          </a:xfrm>
          <a:prstGeom prst="rect">
            <a:avLst/>
          </a:prstGeom>
          <a:noFill/>
        </p:spPr>
        <p:txBody>
          <a:bodyPr wrap="square">
            <a:spAutoFit/>
          </a:bodyPr>
          <a:lstStyle/>
          <a:p>
            <a:pPr algn="l">
              <a:defRPr sz="2200" b="1">
                <a:solidFill>
                  <a:srgbClr val="58A6FF"/>
                </a:solidFill>
                <a:latin typeface="Segoe UI"/>
              </a:defRPr>
            </a:pPr>
            <a:r>
              <a:t>Como ver no Quest?</a:t>
            </a:r>
          </a:p>
          <a:p>
            <a:pPr algn="l">
              <a:spcBef>
                <a:spcPts val="600"/>
              </a:spcBef>
              <a:defRPr sz="600" b="0" i="0">
                <a:solidFill>
                  <a:srgbClr val="FFFFFF"/>
                </a:solidFill>
                <a:latin typeface="Segoe UI"/>
              </a:defRPr>
            </a:pPr>
            <a:endParaRPr/>
          </a:p>
          <a:p>
            <a:pPr algn="l">
              <a:spcBef>
                <a:spcPts val="600"/>
              </a:spcBef>
              <a:defRPr sz="2000" b="0" i="0">
                <a:solidFill>
                  <a:srgbClr val="FFFFFF"/>
                </a:solidFill>
                <a:latin typeface="Segoe UI"/>
              </a:defRPr>
            </a:pPr>
            <a:r>
              <a:t>1. PC e Quest na MESMA rede Wi-Fi</a:t>
            </a:r>
          </a:p>
          <a:p>
            <a:pPr algn="l">
              <a:spcBef>
                <a:spcPts val="600"/>
              </a:spcBef>
              <a:defRPr sz="2000" b="0" i="0">
                <a:solidFill>
                  <a:srgbClr val="FFFFFF"/>
                </a:solidFill>
                <a:latin typeface="Segoe UI"/>
              </a:defRPr>
            </a:pPr>
            <a:r>
              <a:t>2. Live Server mostra: http://192.168.x.x:5500</a:t>
            </a:r>
          </a:p>
          <a:p>
            <a:pPr algn="l">
              <a:spcBef>
                <a:spcPts val="600"/>
              </a:spcBef>
              <a:defRPr sz="2000" b="0" i="0">
                <a:solidFill>
                  <a:srgbClr val="FFFFFF"/>
                </a:solidFill>
                <a:latin typeface="Segoe UI"/>
              </a:defRPr>
            </a:pPr>
            <a:r>
              <a:t>3. No Quest browser, escrever esse IP</a:t>
            </a:r>
          </a:p>
          <a:p>
            <a:pPr algn="l">
              <a:spcBef>
                <a:spcPts val="600"/>
              </a:spcBef>
              <a:defRPr sz="2000" b="0" i="0">
                <a:solidFill>
                  <a:srgbClr val="FFFFFF"/>
                </a:solidFill>
                <a:latin typeface="Segoe UI"/>
              </a:defRPr>
            </a:pPr>
            <a:r>
              <a:t>4. Clicar icone VR (canto inferior direito)</a:t>
            </a:r>
          </a:p>
          <a:p>
            <a:pPr algn="l">
              <a:spcBef>
                <a:spcPts val="600"/>
              </a:spcBef>
              <a:defRPr sz="2000" b="0" i="0">
                <a:solidFill>
                  <a:srgbClr val="FFFFFF"/>
                </a:solidFill>
                <a:latin typeface="Segoe UI"/>
              </a:defRPr>
            </a:pPr>
            <a:r>
              <a:t>5. Thumbstick para andar, olhar para interagir!</a:t>
            </a:r>
          </a:p>
          <a:p>
            <a:pPr algn="l">
              <a:spcBef>
                <a:spcPts val="600"/>
              </a:spcBef>
              <a:defRPr sz="1000" b="0" i="0">
                <a:solidFill>
                  <a:srgbClr val="FFFFFF"/>
                </a:solidFill>
                <a:latin typeface="Segoe UI"/>
              </a:defRPr>
            </a:pPr>
            <a:endParaRPr/>
          </a:p>
          <a:p>
            <a:pPr algn="l">
              <a:spcBef>
                <a:spcPts val="600"/>
              </a:spcBef>
              <a:defRPr sz="1800" b="1" i="0">
                <a:solidFill>
                  <a:srgbClr val="3FB950"/>
                </a:solidFill>
                <a:latin typeface="Segoe UI"/>
              </a:defRPr>
            </a:pPr>
            <a:r>
              <a:t>O cursor (reticulo/crosshair) segue o olhar.</a:t>
            </a:r>
          </a:p>
          <a:p>
            <a:pPr algn="l">
              <a:spcBef>
                <a:spcPts val="600"/>
              </a:spcBef>
              <a:defRPr sz="1800" b="0" i="0">
                <a:solidFill>
                  <a:srgbClr val="3FB950"/>
                </a:solidFill>
                <a:latin typeface="Segoe UI"/>
              </a:defRPr>
            </a:pPr>
            <a:r>
              <a:t>Apontar 1.5s = fuse click (gaze-based interaction).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Referencia: Apps para Criacao de Conteudo VR</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731520" y="1463040"/>
          <a:ext cx="10515600" cy="475488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96240">
                <a:tc>
                  <a:txBody>
                    <a:bodyPr/>
                    <a:lstStyle/>
                    <a:p>
                      <a:pPr>
                        <a:defRPr sz="1400" b="1">
                          <a:solidFill>
                            <a:srgbClr val="FFFFFF"/>
                          </a:solidFill>
                          <a:latin typeface="Segoe UI"/>
                        </a:defRPr>
                      </a:pPr>
                      <a:r>
                        <a:t>Tipo de Conteudo</a:t>
                      </a:r>
                    </a:p>
                  </a:txBody>
                  <a:tcPr>
                    <a:solidFill>
                      <a:srgbClr val="1A2A3A"/>
                    </a:solidFill>
                  </a:tcPr>
                </a:tc>
                <a:tc>
                  <a:txBody>
                    <a:bodyPr/>
                    <a:lstStyle/>
                    <a:p>
                      <a:pPr>
                        <a:defRPr sz="1400" b="1">
                          <a:solidFill>
                            <a:srgbClr val="FFFFFF"/>
                          </a:solidFill>
                          <a:latin typeface="Segoe UI"/>
                        </a:defRPr>
                      </a:pPr>
                      <a:r>
                        <a:t>Ferramenta</a:t>
                      </a:r>
                    </a:p>
                  </a:txBody>
                  <a:tcPr>
                    <a:solidFill>
                      <a:srgbClr val="1A2A3A"/>
                    </a:solidFill>
                  </a:tcPr>
                </a:tc>
                <a:tc>
                  <a:txBody>
                    <a:bodyPr/>
                    <a:lstStyle/>
                    <a:p>
                      <a:pPr>
                        <a:defRPr sz="1400" b="1">
                          <a:solidFill>
                            <a:srgbClr val="FFFFFF"/>
                          </a:solidFill>
                          <a:latin typeface="Segoe UI"/>
                        </a:defRPr>
                      </a:pPr>
                      <a:r>
                        <a:t>Preco / Notas</a:t>
                      </a:r>
                    </a:p>
                  </a:txBody>
                  <a:tcPr>
                    <a:solidFill>
                      <a:srgbClr val="1A2A3A"/>
                    </a:solidFill>
                  </a:tcPr>
                </a:tc>
                <a:extLst>
                  <a:ext uri="{0D108BD9-81ED-4DB2-BD59-A6C34878D82A}">
                    <a16:rowId xmlns:a16="http://schemas.microsoft.com/office/drawing/2014/main" val="10000"/>
                  </a:ext>
                </a:extLst>
              </a:tr>
              <a:tr h="396240">
                <a:tc>
                  <a:txBody>
                    <a:bodyPr/>
                    <a:lstStyle/>
                    <a:p>
                      <a:pPr>
                        <a:defRPr sz="1300">
                          <a:solidFill>
                            <a:srgbClr val="B0B8C4"/>
                          </a:solidFill>
                          <a:latin typeface="Segoe UI"/>
                        </a:defRPr>
                      </a:pPr>
                      <a:r>
                        <a:t>Modelacao 3D</a:t>
                      </a:r>
                    </a:p>
                  </a:txBody>
                  <a:tcPr>
                    <a:solidFill>
                      <a:srgbClr val="121820"/>
                    </a:solidFill>
                  </a:tcPr>
                </a:tc>
                <a:tc>
                  <a:txBody>
                    <a:bodyPr/>
                    <a:lstStyle/>
                    <a:p>
                      <a:pPr>
                        <a:defRPr sz="1300">
                          <a:solidFill>
                            <a:srgbClr val="B0B8C4"/>
                          </a:solidFill>
                          <a:latin typeface="Segoe UI"/>
                        </a:defRPr>
                      </a:pPr>
                      <a:r>
                        <a:t>Blender</a:t>
                      </a:r>
                    </a:p>
                  </a:txBody>
                  <a:tcPr>
                    <a:solidFill>
                      <a:srgbClr val="121820"/>
                    </a:solidFill>
                  </a:tcPr>
                </a:tc>
                <a:tc>
                  <a:txBody>
                    <a:bodyPr/>
                    <a:lstStyle/>
                    <a:p>
                      <a:pPr>
                        <a:defRPr sz="1300">
                          <a:solidFill>
                            <a:srgbClr val="B0B8C4"/>
                          </a:solidFill>
                          <a:latin typeface="Segoe UI"/>
                        </a:defRPr>
                      </a:pPr>
                      <a:r>
                        <a:t>Gratuito (GPL) — recomendado</a:t>
                      </a:r>
                    </a:p>
                  </a:txBody>
                  <a:tcPr>
                    <a:solidFill>
                      <a:srgbClr val="121820"/>
                    </a:solidFill>
                  </a:tcPr>
                </a:tc>
                <a:extLst>
                  <a:ext uri="{0D108BD9-81ED-4DB2-BD59-A6C34878D82A}">
                    <a16:rowId xmlns:a16="http://schemas.microsoft.com/office/drawing/2014/main" val="10001"/>
                  </a:ext>
                </a:extLst>
              </a:tr>
              <a:tr h="396240">
                <a:tc>
                  <a:txBody>
                    <a:bodyPr/>
                    <a:lstStyle/>
                    <a:p>
                      <a:pPr>
                        <a:defRPr sz="1300">
                          <a:solidFill>
                            <a:srgbClr val="B0B8C4"/>
                          </a:solidFill>
                          <a:latin typeface="Segoe UI"/>
                        </a:defRPr>
                      </a:pPr>
                      <a:r>
                        <a:t>Modelacao 3D</a:t>
                      </a:r>
                    </a:p>
                  </a:txBody>
                  <a:tcPr>
                    <a:solidFill>
                      <a:srgbClr val="161E28"/>
                    </a:solidFill>
                  </a:tcPr>
                </a:tc>
                <a:tc>
                  <a:txBody>
                    <a:bodyPr/>
                    <a:lstStyle/>
                    <a:p>
                      <a:pPr>
                        <a:defRPr sz="1300">
                          <a:solidFill>
                            <a:srgbClr val="B0B8C4"/>
                          </a:solidFill>
                          <a:latin typeface="Segoe UI"/>
                        </a:defRPr>
                      </a:pPr>
                      <a:r>
                        <a:t>Autodesk Maya</a:t>
                      </a:r>
                    </a:p>
                  </a:txBody>
                  <a:tcPr>
                    <a:solidFill>
                      <a:srgbClr val="161E28"/>
                    </a:solidFill>
                  </a:tcPr>
                </a:tc>
                <a:tc>
                  <a:txBody>
                    <a:bodyPr/>
                    <a:lstStyle/>
                    <a:p>
                      <a:pPr>
                        <a:defRPr sz="1300">
                          <a:solidFill>
                            <a:srgbClr val="B0B8C4"/>
                          </a:solidFill>
                          <a:latin typeface="Segoe UI"/>
                        </a:defRPr>
                      </a:pPr>
                      <a:r>
                        <a:t>~2.016 EUR/ano</a:t>
                      </a:r>
                    </a:p>
                  </a:txBody>
                  <a:tcPr>
                    <a:solidFill>
                      <a:srgbClr val="161E28"/>
                    </a:solidFill>
                  </a:tcPr>
                </a:tc>
                <a:extLst>
                  <a:ext uri="{0D108BD9-81ED-4DB2-BD59-A6C34878D82A}">
                    <a16:rowId xmlns:a16="http://schemas.microsoft.com/office/drawing/2014/main" val="10002"/>
                  </a:ext>
                </a:extLst>
              </a:tr>
              <a:tr h="396240">
                <a:tc>
                  <a:txBody>
                    <a:bodyPr/>
                    <a:lstStyle/>
                    <a:p>
                      <a:pPr>
                        <a:defRPr sz="1300">
                          <a:solidFill>
                            <a:srgbClr val="B0B8C4"/>
                          </a:solidFill>
                          <a:latin typeface="Segoe UI"/>
                        </a:defRPr>
                      </a:pPr>
                      <a:r>
                        <a:t>Scan 3D (mobile)</a:t>
                      </a:r>
                    </a:p>
                  </a:txBody>
                  <a:tcPr>
                    <a:solidFill>
                      <a:srgbClr val="121820"/>
                    </a:solidFill>
                  </a:tcPr>
                </a:tc>
                <a:tc>
                  <a:txBody>
                    <a:bodyPr/>
                    <a:lstStyle/>
                    <a:p>
                      <a:pPr>
                        <a:defRPr sz="1300">
                          <a:solidFill>
                            <a:srgbClr val="B0B8C4"/>
                          </a:solidFill>
                          <a:latin typeface="Segoe UI"/>
                        </a:defRPr>
                      </a:pPr>
                      <a:r>
                        <a:t>Kiri Engine / Polycam</a:t>
                      </a:r>
                    </a:p>
                  </a:txBody>
                  <a:tcPr>
                    <a:solidFill>
                      <a:srgbClr val="121820"/>
                    </a:solidFill>
                  </a:tcPr>
                </a:tc>
                <a:tc>
                  <a:txBody>
                    <a:bodyPr/>
                    <a:lstStyle/>
                    <a:p>
                      <a:pPr>
                        <a:defRPr sz="1300">
                          <a:solidFill>
                            <a:srgbClr val="B0B8C4"/>
                          </a:solidFill>
                          <a:latin typeface="Segoe UI"/>
                        </a:defRPr>
                      </a:pPr>
                      <a:r>
                        <a:t>Gratis (basico) / Pro ~18 EUR/mes</a:t>
                      </a:r>
                    </a:p>
                  </a:txBody>
                  <a:tcPr>
                    <a:solidFill>
                      <a:srgbClr val="121820"/>
                    </a:solidFill>
                  </a:tcPr>
                </a:tc>
                <a:extLst>
                  <a:ext uri="{0D108BD9-81ED-4DB2-BD59-A6C34878D82A}">
                    <a16:rowId xmlns:a16="http://schemas.microsoft.com/office/drawing/2014/main" val="10003"/>
                  </a:ext>
                </a:extLst>
              </a:tr>
              <a:tr h="396240">
                <a:tc>
                  <a:txBody>
                    <a:bodyPr/>
                    <a:lstStyle/>
                    <a:p>
                      <a:pPr>
                        <a:defRPr sz="1300">
                          <a:solidFill>
                            <a:srgbClr val="B0B8C4"/>
                          </a:solidFill>
                          <a:latin typeface="Segoe UI"/>
                        </a:defRPr>
                      </a:pPr>
                      <a:r>
                        <a:t>Gaussian Splatting</a:t>
                      </a:r>
                    </a:p>
                  </a:txBody>
                  <a:tcPr>
                    <a:solidFill>
                      <a:srgbClr val="161E28"/>
                    </a:solidFill>
                  </a:tcPr>
                </a:tc>
                <a:tc>
                  <a:txBody>
                    <a:bodyPr/>
                    <a:lstStyle/>
                    <a:p>
                      <a:pPr>
                        <a:defRPr sz="1300">
                          <a:solidFill>
                            <a:srgbClr val="B0B8C4"/>
                          </a:solidFill>
                          <a:latin typeface="Segoe UI"/>
                        </a:defRPr>
                      </a:pPr>
                      <a:r>
                        <a:t>Luma AI / PostShot / Kiri</a:t>
                      </a:r>
                    </a:p>
                  </a:txBody>
                  <a:tcPr>
                    <a:solidFill>
                      <a:srgbClr val="161E28"/>
                    </a:solidFill>
                  </a:tcPr>
                </a:tc>
                <a:tc>
                  <a:txBody>
                    <a:bodyPr/>
                    <a:lstStyle/>
                    <a:p>
                      <a:pPr>
                        <a:defRPr sz="1300">
                          <a:solidFill>
                            <a:srgbClr val="B0B8C4"/>
                          </a:solidFill>
                          <a:latin typeface="Segoe UI"/>
                        </a:defRPr>
                      </a:pPr>
                      <a:r>
                        <a:t>Gratis (basico)</a:t>
                      </a:r>
                    </a:p>
                  </a:txBody>
                  <a:tcPr>
                    <a:solidFill>
                      <a:srgbClr val="161E28"/>
                    </a:solidFill>
                  </a:tcPr>
                </a:tc>
                <a:extLst>
                  <a:ext uri="{0D108BD9-81ED-4DB2-BD59-A6C34878D82A}">
                    <a16:rowId xmlns:a16="http://schemas.microsoft.com/office/drawing/2014/main" val="10004"/>
                  </a:ext>
                </a:extLst>
              </a:tr>
              <a:tr h="396240">
                <a:tc>
                  <a:txBody>
                    <a:bodyPr/>
                    <a:lstStyle/>
                    <a:p>
                      <a:pPr>
                        <a:defRPr sz="1300">
                          <a:solidFill>
                            <a:srgbClr val="B0B8C4"/>
                          </a:solidFill>
                          <a:latin typeface="Segoe UI"/>
                        </a:defRPr>
                      </a:pPr>
                      <a:r>
                        <a:t>Audio espacial</a:t>
                      </a:r>
                    </a:p>
                  </a:txBody>
                  <a:tcPr>
                    <a:solidFill>
                      <a:srgbClr val="121820"/>
                    </a:solidFill>
                  </a:tcPr>
                </a:tc>
                <a:tc>
                  <a:txBody>
                    <a:bodyPr/>
                    <a:lstStyle/>
                    <a:p>
                      <a:pPr>
                        <a:defRPr sz="1300">
                          <a:solidFill>
                            <a:srgbClr val="B0B8C4"/>
                          </a:solidFill>
                          <a:latin typeface="Segoe UI"/>
                        </a:defRPr>
                      </a:pPr>
                      <a:r>
                        <a:t>Audacity + Resonance Audio</a:t>
                      </a:r>
                    </a:p>
                  </a:txBody>
                  <a:tcPr>
                    <a:solidFill>
                      <a:srgbClr val="121820"/>
                    </a:solidFill>
                  </a:tcPr>
                </a:tc>
                <a:tc>
                  <a:txBody>
                    <a:bodyPr/>
                    <a:lstStyle/>
                    <a:p>
                      <a:pPr>
                        <a:defRPr sz="1300">
                          <a:solidFill>
                            <a:srgbClr val="B0B8C4"/>
                          </a:solidFill>
                          <a:latin typeface="Segoe UI"/>
                        </a:defRPr>
                      </a:pPr>
                      <a:r>
                        <a:t>Gratis</a:t>
                      </a:r>
                    </a:p>
                  </a:txBody>
                  <a:tcPr>
                    <a:solidFill>
                      <a:srgbClr val="121820"/>
                    </a:solidFill>
                  </a:tcPr>
                </a:tc>
                <a:extLst>
                  <a:ext uri="{0D108BD9-81ED-4DB2-BD59-A6C34878D82A}">
                    <a16:rowId xmlns:a16="http://schemas.microsoft.com/office/drawing/2014/main" val="10005"/>
                  </a:ext>
                </a:extLst>
              </a:tr>
              <a:tr h="396240">
                <a:tc>
                  <a:txBody>
                    <a:bodyPr/>
                    <a:lstStyle/>
                    <a:p>
                      <a:pPr>
                        <a:defRPr sz="1300">
                          <a:solidFill>
                            <a:srgbClr val="B0B8C4"/>
                          </a:solidFill>
                          <a:latin typeface="Segoe UI"/>
                        </a:defRPr>
                      </a:pPr>
                      <a:r>
                        <a:t>Imagem 360</a:t>
                      </a:r>
                    </a:p>
                  </a:txBody>
                  <a:tcPr>
                    <a:solidFill>
                      <a:srgbClr val="161E28"/>
                    </a:solidFill>
                  </a:tcPr>
                </a:tc>
                <a:tc>
                  <a:txBody>
                    <a:bodyPr/>
                    <a:lstStyle/>
                    <a:p>
                      <a:pPr>
                        <a:defRPr sz="1300">
                          <a:solidFill>
                            <a:srgbClr val="B0B8C4"/>
                          </a:solidFill>
                          <a:latin typeface="Segoe UI"/>
                        </a:defRPr>
                      </a:pPr>
                      <a:r>
                        <a:t>Insta360 app / Google Street View</a:t>
                      </a:r>
                    </a:p>
                  </a:txBody>
                  <a:tcPr>
                    <a:solidFill>
                      <a:srgbClr val="161E28"/>
                    </a:solidFill>
                  </a:tcPr>
                </a:tc>
                <a:tc>
                  <a:txBody>
                    <a:bodyPr/>
                    <a:lstStyle/>
                    <a:p>
                      <a:pPr>
                        <a:defRPr sz="1300">
                          <a:solidFill>
                            <a:srgbClr val="B0B8C4"/>
                          </a:solidFill>
                          <a:latin typeface="Segoe UI"/>
                        </a:defRPr>
                      </a:pPr>
                      <a:r>
                        <a:t>Gratis (camera necessaria)</a:t>
                      </a:r>
                    </a:p>
                  </a:txBody>
                  <a:tcPr>
                    <a:solidFill>
                      <a:srgbClr val="161E28"/>
                    </a:solidFill>
                  </a:tcPr>
                </a:tc>
                <a:extLst>
                  <a:ext uri="{0D108BD9-81ED-4DB2-BD59-A6C34878D82A}">
                    <a16:rowId xmlns:a16="http://schemas.microsoft.com/office/drawing/2014/main" val="10006"/>
                  </a:ext>
                </a:extLst>
              </a:tr>
              <a:tr h="396240">
                <a:tc>
                  <a:txBody>
                    <a:bodyPr/>
                    <a:lstStyle/>
                    <a:p>
                      <a:pPr>
                        <a:defRPr sz="1300">
                          <a:solidFill>
                            <a:srgbClr val="B0B8C4"/>
                          </a:solidFill>
                          <a:latin typeface="Segoe UI"/>
                        </a:defRPr>
                      </a:pPr>
                      <a:r>
                        <a:t>Video 360 edicao</a:t>
                      </a:r>
                    </a:p>
                  </a:txBody>
                  <a:tcPr>
                    <a:solidFill>
                      <a:srgbClr val="121820"/>
                    </a:solidFill>
                  </a:tcPr>
                </a:tc>
                <a:tc>
                  <a:txBody>
                    <a:bodyPr/>
                    <a:lstStyle/>
                    <a:p>
                      <a:pPr>
                        <a:defRPr sz="1300">
                          <a:solidFill>
                            <a:srgbClr val="B0B8C4"/>
                          </a:solidFill>
                          <a:latin typeface="Segoe UI"/>
                        </a:defRPr>
                      </a:pPr>
                      <a:r>
                        <a:t>Insta360 Studio / DaVinci Resolve</a:t>
                      </a:r>
                    </a:p>
                  </a:txBody>
                  <a:tcPr>
                    <a:solidFill>
                      <a:srgbClr val="121820"/>
                    </a:solidFill>
                  </a:tcPr>
                </a:tc>
                <a:tc>
                  <a:txBody>
                    <a:bodyPr/>
                    <a:lstStyle/>
                    <a:p>
                      <a:pPr>
                        <a:defRPr sz="1300">
                          <a:solidFill>
                            <a:srgbClr val="B0B8C4"/>
                          </a:solidFill>
                          <a:latin typeface="Segoe UI"/>
                        </a:defRPr>
                      </a:pPr>
                      <a:r>
                        <a:t>Gratis</a:t>
                      </a:r>
                    </a:p>
                  </a:txBody>
                  <a:tcPr>
                    <a:solidFill>
                      <a:srgbClr val="121820"/>
                    </a:solidFill>
                  </a:tcPr>
                </a:tc>
                <a:extLst>
                  <a:ext uri="{0D108BD9-81ED-4DB2-BD59-A6C34878D82A}">
                    <a16:rowId xmlns:a16="http://schemas.microsoft.com/office/drawing/2014/main" val="10007"/>
                  </a:ext>
                </a:extLst>
              </a:tr>
              <a:tr h="396240">
                <a:tc>
                  <a:txBody>
                    <a:bodyPr/>
                    <a:lstStyle/>
                    <a:p>
                      <a:pPr>
                        <a:defRPr sz="1300">
                          <a:solidFill>
                            <a:srgbClr val="B0B8C4"/>
                          </a:solidFill>
                          <a:latin typeface="Segoe UI"/>
                        </a:defRPr>
                      </a:pPr>
                      <a:r>
                        <a:t>WebVR / WebXR</a:t>
                      </a:r>
                    </a:p>
                  </a:txBody>
                  <a:tcPr>
                    <a:solidFill>
                      <a:srgbClr val="161E28"/>
                    </a:solidFill>
                  </a:tcPr>
                </a:tc>
                <a:tc>
                  <a:txBody>
                    <a:bodyPr/>
                    <a:lstStyle/>
                    <a:p>
                      <a:pPr>
                        <a:defRPr sz="1300">
                          <a:solidFill>
                            <a:srgbClr val="B0B8C4"/>
                          </a:solidFill>
                          <a:latin typeface="Segoe UI"/>
                        </a:defRPr>
                      </a:pPr>
                      <a:r>
                        <a:t>A-Frame / Three.js / Babylon.js</a:t>
                      </a:r>
                    </a:p>
                  </a:txBody>
                  <a:tcPr>
                    <a:solidFill>
                      <a:srgbClr val="161E28"/>
                    </a:solidFill>
                  </a:tcPr>
                </a:tc>
                <a:tc>
                  <a:txBody>
                    <a:bodyPr/>
                    <a:lstStyle/>
                    <a:p>
                      <a:pPr>
                        <a:defRPr sz="1300">
                          <a:solidFill>
                            <a:srgbClr val="B0B8C4"/>
                          </a:solidFill>
                          <a:latin typeface="Segoe UI"/>
                        </a:defRPr>
                      </a:pPr>
                      <a:r>
                        <a:t>Gratis (open-source)</a:t>
                      </a:r>
                    </a:p>
                  </a:txBody>
                  <a:tcPr>
                    <a:solidFill>
                      <a:srgbClr val="161E28"/>
                    </a:solidFill>
                  </a:tcPr>
                </a:tc>
                <a:extLst>
                  <a:ext uri="{0D108BD9-81ED-4DB2-BD59-A6C34878D82A}">
                    <a16:rowId xmlns:a16="http://schemas.microsoft.com/office/drawing/2014/main" val="10008"/>
                  </a:ext>
                </a:extLst>
              </a:tr>
              <a:tr h="396240">
                <a:tc>
                  <a:txBody>
                    <a:bodyPr/>
                    <a:lstStyle/>
                    <a:p>
                      <a:pPr>
                        <a:defRPr sz="1300">
                          <a:solidFill>
                            <a:srgbClr val="B0B8C4"/>
                          </a:solidFill>
                          <a:latin typeface="Segoe UI"/>
                        </a:defRPr>
                      </a:pPr>
                      <a:r>
                        <a:t>Game Engine</a:t>
                      </a:r>
                    </a:p>
                  </a:txBody>
                  <a:tcPr>
                    <a:solidFill>
                      <a:srgbClr val="121820"/>
                    </a:solidFill>
                  </a:tcPr>
                </a:tc>
                <a:tc>
                  <a:txBody>
                    <a:bodyPr/>
                    <a:lstStyle/>
                    <a:p>
                      <a:pPr>
                        <a:defRPr sz="1300">
                          <a:solidFill>
                            <a:srgbClr val="B0B8C4"/>
                          </a:solidFill>
                          <a:latin typeface="Segoe UI"/>
                        </a:defRPr>
                      </a:pPr>
                      <a:r>
                        <a:t>Unity / Unreal Engine</a:t>
                      </a:r>
                    </a:p>
                  </a:txBody>
                  <a:tcPr>
                    <a:solidFill>
                      <a:srgbClr val="121820"/>
                    </a:solidFill>
                  </a:tcPr>
                </a:tc>
                <a:tc>
                  <a:txBody>
                    <a:bodyPr/>
                    <a:lstStyle/>
                    <a:p>
                      <a:pPr>
                        <a:defRPr sz="1300">
                          <a:solidFill>
                            <a:srgbClr val="B0B8C4"/>
                          </a:solidFill>
                          <a:latin typeface="Segoe UI"/>
                        </a:defRPr>
                      </a:pPr>
                      <a:r>
                        <a:t>Gratis (com limites)</a:t>
                      </a:r>
                    </a:p>
                  </a:txBody>
                  <a:tcPr>
                    <a:solidFill>
                      <a:srgbClr val="121820"/>
                    </a:solidFill>
                  </a:tcPr>
                </a:tc>
                <a:extLst>
                  <a:ext uri="{0D108BD9-81ED-4DB2-BD59-A6C34878D82A}">
                    <a16:rowId xmlns:a16="http://schemas.microsoft.com/office/drawing/2014/main" val="10009"/>
                  </a:ext>
                </a:extLst>
              </a:tr>
              <a:tr h="396240">
                <a:tc>
                  <a:txBody>
                    <a:bodyPr/>
                    <a:lstStyle/>
                    <a:p>
                      <a:pPr>
                        <a:defRPr sz="1300">
                          <a:solidFill>
                            <a:srgbClr val="B0B8C4"/>
                          </a:solidFill>
                          <a:latin typeface="Segoe UI"/>
                        </a:defRPr>
                      </a:pPr>
                      <a:r>
                        <a:t>AR (sem codigo)</a:t>
                      </a:r>
                    </a:p>
                  </a:txBody>
                  <a:tcPr>
                    <a:solidFill>
                      <a:srgbClr val="161E28"/>
                    </a:solidFill>
                  </a:tcPr>
                </a:tc>
                <a:tc>
                  <a:txBody>
                    <a:bodyPr/>
                    <a:lstStyle/>
                    <a:p>
                      <a:pPr>
                        <a:defRPr sz="1300">
                          <a:solidFill>
                            <a:srgbClr val="B0B8C4"/>
                          </a:solidFill>
                          <a:latin typeface="Segoe UI"/>
                        </a:defRPr>
                      </a:pPr>
                      <a:r>
                        <a:t>Adobe Aero / Zappar / Assemblr</a:t>
                      </a:r>
                    </a:p>
                  </a:txBody>
                  <a:tcPr>
                    <a:solidFill>
                      <a:srgbClr val="161E28"/>
                    </a:solidFill>
                  </a:tcPr>
                </a:tc>
                <a:tc>
                  <a:txBody>
                    <a:bodyPr/>
                    <a:lstStyle/>
                    <a:p>
                      <a:pPr>
                        <a:defRPr sz="1300">
                          <a:solidFill>
                            <a:srgbClr val="B0B8C4"/>
                          </a:solidFill>
                          <a:latin typeface="Segoe UI"/>
                        </a:defRPr>
                      </a:pPr>
                      <a:r>
                        <a:t>Gratis (basico)</a:t>
                      </a:r>
                    </a:p>
                  </a:txBody>
                  <a:tcPr>
                    <a:solidFill>
                      <a:srgbClr val="161E28"/>
                    </a:solidFill>
                  </a:tcPr>
                </a:tc>
                <a:extLst>
                  <a:ext uri="{0D108BD9-81ED-4DB2-BD59-A6C34878D82A}">
                    <a16:rowId xmlns:a16="http://schemas.microsoft.com/office/drawing/2014/main" val="10010"/>
                  </a:ext>
                </a:extLst>
              </a:tr>
              <a:tr h="396240">
                <a:tc>
                  <a:txBody>
                    <a:bodyPr/>
                    <a:lstStyle/>
                    <a:p>
                      <a:pPr>
                        <a:defRPr sz="1300">
                          <a:solidFill>
                            <a:srgbClr val="B0B8C4"/>
                          </a:solidFill>
                          <a:latin typeface="Segoe UI"/>
                        </a:defRPr>
                      </a:pPr>
                      <a:r>
                        <a:t>VR (sem codigo)</a:t>
                      </a:r>
                    </a:p>
                  </a:txBody>
                  <a:tcPr>
                    <a:solidFill>
                      <a:srgbClr val="121820"/>
                    </a:solidFill>
                  </a:tcPr>
                </a:tc>
                <a:tc>
                  <a:txBody>
                    <a:bodyPr/>
                    <a:lstStyle/>
                    <a:p>
                      <a:pPr>
                        <a:defRPr sz="1300">
                          <a:solidFill>
                            <a:srgbClr val="B0B8C4"/>
                          </a:solidFill>
                          <a:latin typeface="Segoe UI"/>
                        </a:defRPr>
                      </a:pPr>
                      <a:r>
                        <a:t>CoSpaces Edu / Shapes XR</a:t>
                      </a:r>
                    </a:p>
                  </a:txBody>
                  <a:tcPr>
                    <a:solidFill>
                      <a:srgbClr val="121820"/>
                    </a:solidFill>
                  </a:tcPr>
                </a:tc>
                <a:tc>
                  <a:txBody>
                    <a:bodyPr/>
                    <a:lstStyle/>
                    <a:p>
                      <a:pPr>
                        <a:defRPr sz="1300">
                          <a:solidFill>
                            <a:srgbClr val="B0B8C4"/>
                          </a:solidFill>
                          <a:latin typeface="Segoe UI"/>
                        </a:defRPr>
                      </a:pPr>
                      <a:r>
                        <a:t>Gratis (edu) / Pro plans</a:t>
                      </a:r>
                    </a:p>
                  </a:txBody>
                  <a:tcPr>
                    <a:solidFill>
                      <a:srgbClr val="121820"/>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Resumo: O que Aprendemos</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2560320" cy="347472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737360"/>
            <a:ext cx="2011680" cy="457200"/>
          </a:xfrm>
          <a:prstGeom prst="rect">
            <a:avLst/>
          </a:prstGeom>
          <a:noFill/>
        </p:spPr>
        <p:txBody>
          <a:bodyPr wrap="square">
            <a:spAutoFit/>
          </a:bodyPr>
          <a:lstStyle/>
          <a:p>
            <a:pPr algn="ctr">
              <a:defRPr sz="2800" b="1">
                <a:solidFill>
                  <a:srgbClr val="58A6FF"/>
                </a:solidFill>
                <a:latin typeface="Segoe UI"/>
              </a:defRPr>
            </a:pPr>
            <a:r>
              <a:t>✓</a:t>
            </a:r>
          </a:p>
        </p:txBody>
      </p:sp>
      <p:sp>
        <p:nvSpPr>
          <p:cNvPr id="6" name="TextBox 5"/>
          <p:cNvSpPr txBox="1"/>
          <p:nvPr/>
        </p:nvSpPr>
        <p:spPr>
          <a:xfrm>
            <a:off x="1005840" y="2286000"/>
            <a:ext cx="2011680" cy="457200"/>
          </a:xfrm>
          <a:prstGeom prst="rect">
            <a:avLst/>
          </a:prstGeom>
          <a:noFill/>
        </p:spPr>
        <p:txBody>
          <a:bodyPr wrap="square">
            <a:spAutoFit/>
          </a:bodyPr>
          <a:lstStyle/>
          <a:p>
            <a:pPr algn="ctr">
              <a:defRPr sz="2000" b="1">
                <a:solidFill>
                  <a:srgbClr val="FFFFFF"/>
                </a:solidFill>
                <a:latin typeface="Segoe UI"/>
              </a:defRPr>
            </a:pPr>
            <a:r>
              <a:t>XR e Imersao</a:t>
            </a:r>
          </a:p>
        </p:txBody>
      </p:sp>
      <p:sp>
        <p:nvSpPr>
          <p:cNvPr id="7" name="TextBox 6"/>
          <p:cNvSpPr txBox="1"/>
          <p:nvPr/>
        </p:nvSpPr>
        <p:spPr>
          <a:xfrm>
            <a:off x="1005840" y="2926080"/>
            <a:ext cx="2011680" cy="1645920"/>
          </a:xfrm>
          <a:prstGeom prst="rect">
            <a:avLst/>
          </a:prstGeom>
          <a:noFill/>
        </p:spPr>
        <p:txBody>
          <a:bodyPr wrap="square">
            <a:spAutoFit/>
          </a:bodyPr>
          <a:lstStyle/>
          <a:p>
            <a:pPr algn="ctr">
              <a:defRPr sz="1400" b="0">
                <a:solidFill>
                  <a:srgbClr val="B0B8C4"/>
                </a:solidFill>
                <a:latin typeface="Segoe UI"/>
              </a:defRPr>
            </a:pPr>
            <a:r>
              <a:t>Presenca, cybersickness,</a:t>
            </a:r>
            <a:br/>
            <a:r>
              <a:t>requisitos tecnicos,</a:t>
            </a:r>
            <a:br/>
            <a:r>
              <a:t>evidencia clinica</a:t>
            </a:r>
          </a:p>
        </p:txBody>
      </p:sp>
      <p:sp>
        <p:nvSpPr>
          <p:cNvPr id="8" name="Rounded Rectangle 7"/>
          <p:cNvSpPr/>
          <p:nvPr/>
        </p:nvSpPr>
        <p:spPr>
          <a:xfrm>
            <a:off x="3520439" y="1463040"/>
            <a:ext cx="2560320" cy="347472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94759" y="1737360"/>
            <a:ext cx="2011680" cy="457200"/>
          </a:xfrm>
          <a:prstGeom prst="rect">
            <a:avLst/>
          </a:prstGeom>
          <a:noFill/>
        </p:spPr>
        <p:txBody>
          <a:bodyPr wrap="square">
            <a:spAutoFit/>
          </a:bodyPr>
          <a:lstStyle/>
          <a:p>
            <a:pPr algn="ctr">
              <a:defRPr sz="2800" b="1">
                <a:solidFill>
                  <a:srgbClr val="3FB950"/>
                </a:solidFill>
                <a:latin typeface="Segoe UI"/>
              </a:defRPr>
            </a:pPr>
            <a:r>
              <a:t>✓</a:t>
            </a:r>
          </a:p>
        </p:txBody>
      </p:sp>
      <p:sp>
        <p:nvSpPr>
          <p:cNvPr id="10" name="TextBox 9"/>
          <p:cNvSpPr txBox="1"/>
          <p:nvPr/>
        </p:nvSpPr>
        <p:spPr>
          <a:xfrm>
            <a:off x="3794759" y="2286000"/>
            <a:ext cx="2011680" cy="457200"/>
          </a:xfrm>
          <a:prstGeom prst="rect">
            <a:avLst/>
          </a:prstGeom>
          <a:noFill/>
        </p:spPr>
        <p:txBody>
          <a:bodyPr wrap="square">
            <a:spAutoFit/>
          </a:bodyPr>
          <a:lstStyle/>
          <a:p>
            <a:pPr algn="ctr">
              <a:defRPr sz="2000" b="1">
                <a:solidFill>
                  <a:srgbClr val="FFFFFF"/>
                </a:solidFill>
                <a:latin typeface="Segoe UI"/>
              </a:defRPr>
            </a:pPr>
            <a:r>
              <a:t>Ferramentas</a:t>
            </a:r>
          </a:p>
        </p:txBody>
      </p:sp>
      <p:sp>
        <p:nvSpPr>
          <p:cNvPr id="11" name="TextBox 10"/>
          <p:cNvSpPr txBox="1"/>
          <p:nvPr/>
        </p:nvSpPr>
        <p:spPr>
          <a:xfrm>
            <a:off x="3794759" y="2926080"/>
            <a:ext cx="2011680" cy="1645920"/>
          </a:xfrm>
          <a:prstGeom prst="rect">
            <a:avLst/>
          </a:prstGeom>
          <a:noFill/>
        </p:spPr>
        <p:txBody>
          <a:bodyPr wrap="square">
            <a:spAutoFit/>
          </a:bodyPr>
          <a:lstStyle/>
          <a:p>
            <a:pPr algn="ctr">
              <a:defRPr sz="1400" b="0">
                <a:solidFill>
                  <a:srgbClr val="B0B8C4"/>
                </a:solidFill>
                <a:latin typeface="Segoe UI"/>
              </a:defRPr>
            </a:pPr>
            <a:r>
              <a:t>Som espacial, 360,</a:t>
            </a:r>
            <a:br/>
            <a:r>
              <a:t>3D, Gaussian Splatting,</a:t>
            </a:r>
            <a:br/>
            <a:r>
              <a:t>Kiri Engine</a:t>
            </a:r>
          </a:p>
        </p:txBody>
      </p:sp>
      <p:sp>
        <p:nvSpPr>
          <p:cNvPr id="12" name="Rounded Rectangle 11"/>
          <p:cNvSpPr/>
          <p:nvPr/>
        </p:nvSpPr>
        <p:spPr>
          <a:xfrm>
            <a:off x="6309359" y="1463040"/>
            <a:ext cx="2560320" cy="3474720"/>
          </a:xfrm>
          <a:prstGeom prst="roundRect">
            <a:avLst/>
          </a:prstGeom>
          <a:solidFill>
            <a:srgbClr val="161B22"/>
          </a:solidFill>
          <a:ln w="19050">
            <a:solidFill>
              <a:srgbClr val="F781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79" y="1737360"/>
            <a:ext cx="2011680" cy="457200"/>
          </a:xfrm>
          <a:prstGeom prst="rect">
            <a:avLst/>
          </a:prstGeom>
          <a:noFill/>
        </p:spPr>
        <p:txBody>
          <a:bodyPr wrap="square">
            <a:spAutoFit/>
          </a:bodyPr>
          <a:lstStyle/>
          <a:p>
            <a:pPr algn="ctr">
              <a:defRPr sz="2800" b="1">
                <a:solidFill>
                  <a:srgbClr val="F78166"/>
                </a:solidFill>
                <a:latin typeface="Segoe UI"/>
              </a:defRPr>
            </a:pPr>
            <a:r>
              <a:t>✓</a:t>
            </a:r>
          </a:p>
        </p:txBody>
      </p:sp>
      <p:sp>
        <p:nvSpPr>
          <p:cNvPr id="14" name="TextBox 13"/>
          <p:cNvSpPr txBox="1"/>
          <p:nvPr/>
        </p:nvSpPr>
        <p:spPr>
          <a:xfrm>
            <a:off x="6583679" y="2286000"/>
            <a:ext cx="2011680" cy="457200"/>
          </a:xfrm>
          <a:prstGeom prst="rect">
            <a:avLst/>
          </a:prstGeom>
          <a:noFill/>
        </p:spPr>
        <p:txBody>
          <a:bodyPr wrap="square">
            <a:spAutoFit/>
          </a:bodyPr>
          <a:lstStyle/>
          <a:p>
            <a:pPr algn="ctr">
              <a:defRPr sz="2000" b="1">
                <a:solidFill>
                  <a:srgbClr val="FFFFFF"/>
                </a:solidFill>
                <a:latin typeface="Segoe UI"/>
              </a:defRPr>
            </a:pPr>
            <a:r>
              <a:t>Interatividade</a:t>
            </a:r>
          </a:p>
        </p:txBody>
      </p:sp>
      <p:sp>
        <p:nvSpPr>
          <p:cNvPr id="15" name="TextBox 14"/>
          <p:cNvSpPr txBox="1"/>
          <p:nvPr/>
        </p:nvSpPr>
        <p:spPr>
          <a:xfrm>
            <a:off x="6583679" y="2926080"/>
            <a:ext cx="2011680" cy="1645920"/>
          </a:xfrm>
          <a:prstGeom prst="rect">
            <a:avLst/>
          </a:prstGeom>
          <a:noFill/>
        </p:spPr>
        <p:txBody>
          <a:bodyPr wrap="square">
            <a:spAutoFit/>
          </a:bodyPr>
          <a:lstStyle/>
          <a:p>
            <a:pPr algn="ctr">
              <a:defRPr sz="1400" b="0">
                <a:solidFill>
                  <a:srgbClr val="B0B8C4"/>
                </a:solidFill>
                <a:latin typeface="Segoe UI"/>
              </a:defRPr>
            </a:pPr>
            <a:r>
              <a:t>Game Engines,</a:t>
            </a:r>
            <a:br/>
            <a:r>
              <a:t>A-Frame + Inspector,</a:t>
            </a:r>
            <a:br/>
            <a:r>
              <a:t>glossario tecnico</a:t>
            </a:r>
          </a:p>
        </p:txBody>
      </p:sp>
      <p:sp>
        <p:nvSpPr>
          <p:cNvPr id="16" name="Rounded Rectangle 15"/>
          <p:cNvSpPr/>
          <p:nvPr/>
        </p:nvSpPr>
        <p:spPr>
          <a:xfrm>
            <a:off x="9098280" y="1463040"/>
            <a:ext cx="2560320" cy="3474720"/>
          </a:xfrm>
          <a:prstGeom prst="roundRect">
            <a:avLst/>
          </a:prstGeom>
          <a:solidFill>
            <a:srgbClr val="161B22"/>
          </a:solidFill>
          <a:ln w="19050">
            <a:solidFill>
              <a:srgbClr val="D2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72600" y="1737360"/>
            <a:ext cx="2011680" cy="457200"/>
          </a:xfrm>
          <a:prstGeom prst="rect">
            <a:avLst/>
          </a:prstGeom>
          <a:noFill/>
        </p:spPr>
        <p:txBody>
          <a:bodyPr wrap="square">
            <a:spAutoFit/>
          </a:bodyPr>
          <a:lstStyle/>
          <a:p>
            <a:pPr algn="ctr">
              <a:defRPr sz="2800" b="1">
                <a:solidFill>
                  <a:srgbClr val="D2A8FF"/>
                </a:solidFill>
                <a:latin typeface="Segoe UI"/>
              </a:defRPr>
            </a:pPr>
            <a:r>
              <a:t>✓</a:t>
            </a:r>
          </a:p>
        </p:txBody>
      </p:sp>
      <p:sp>
        <p:nvSpPr>
          <p:cNvPr id="18" name="TextBox 17"/>
          <p:cNvSpPr txBox="1"/>
          <p:nvPr/>
        </p:nvSpPr>
        <p:spPr>
          <a:xfrm>
            <a:off x="9372600" y="2286000"/>
            <a:ext cx="2011680" cy="457200"/>
          </a:xfrm>
          <a:prstGeom prst="rect">
            <a:avLst/>
          </a:prstGeom>
          <a:noFill/>
        </p:spPr>
        <p:txBody>
          <a:bodyPr wrap="square">
            <a:spAutoFit/>
          </a:bodyPr>
          <a:lstStyle/>
          <a:p>
            <a:pPr algn="ctr">
              <a:defRPr sz="2000" b="1">
                <a:solidFill>
                  <a:srgbClr val="FFFFFF"/>
                </a:solidFill>
                <a:latin typeface="Segoe UI"/>
              </a:defRPr>
            </a:pPr>
            <a:r>
              <a:t>Pratica</a:t>
            </a:r>
          </a:p>
        </p:txBody>
      </p:sp>
      <p:sp>
        <p:nvSpPr>
          <p:cNvPr id="19" name="TextBox 18"/>
          <p:cNvSpPr txBox="1"/>
          <p:nvPr/>
        </p:nvSpPr>
        <p:spPr>
          <a:xfrm>
            <a:off x="9372600" y="2926080"/>
            <a:ext cx="2011680" cy="1645920"/>
          </a:xfrm>
          <a:prstGeom prst="rect">
            <a:avLst/>
          </a:prstGeom>
          <a:noFill/>
        </p:spPr>
        <p:txBody>
          <a:bodyPr wrap="square">
            <a:spAutoFit/>
          </a:bodyPr>
          <a:lstStyle/>
          <a:p>
            <a:pPr algn="ctr">
              <a:defRPr sz="1400" b="0">
                <a:solidFill>
                  <a:srgbClr val="B0B8C4"/>
                </a:solidFill>
                <a:latin typeface="Segoe UI"/>
              </a:defRPr>
            </a:pPr>
            <a:r>
              <a:t>Cena VR construida</a:t>
            </a:r>
            <a:br/>
            <a:r>
              <a:t>do zero, testada</a:t>
            </a:r>
            <a:br/>
            <a:r>
              <a:t>no Quest!</a:t>
            </a:r>
          </a:p>
        </p:txBody>
      </p:sp>
      <p:sp>
        <p:nvSpPr>
          <p:cNvPr id="20" name="TextBox 19"/>
          <p:cNvSpPr txBox="1"/>
          <p:nvPr/>
        </p:nvSpPr>
        <p:spPr>
          <a:xfrm>
            <a:off x="731520" y="5303520"/>
            <a:ext cx="10058400" cy="914400"/>
          </a:xfrm>
          <a:prstGeom prst="rect">
            <a:avLst/>
          </a:prstGeom>
          <a:noFill/>
        </p:spPr>
        <p:txBody>
          <a:bodyPr wrap="square">
            <a:spAutoFit/>
          </a:bodyPr>
          <a:lstStyle/>
          <a:p>
            <a:pPr algn="l">
              <a:defRPr sz="1800" b="1">
                <a:solidFill>
                  <a:srgbClr val="58A6FF"/>
                </a:solidFill>
                <a:latin typeface="Segoe UI"/>
              </a:defRPr>
            </a:pPr>
            <a:r>
              <a:t>Proxima aula: usar o scan Kiri da sala como ambiente VR + adicionar mais interacoes!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731520"/>
          </a:xfrm>
          <a:prstGeom prst="rect">
            <a:avLst/>
          </a:prstGeom>
          <a:noFill/>
        </p:spPr>
        <p:txBody>
          <a:bodyPr wrap="square">
            <a:spAutoFit/>
          </a:bodyPr>
          <a:lstStyle/>
          <a:p>
            <a:pPr algn="l">
              <a:defRPr sz="2800" b="1">
                <a:solidFill>
                  <a:srgbClr val="FFFFFF"/>
                </a:solidFill>
                <a:latin typeface="Segoe UI Semibold"/>
              </a:defRPr>
            </a:pPr>
            <a:r>
              <a:t>Recursos e Referencias</a:t>
            </a:r>
          </a:p>
        </p:txBody>
      </p:sp>
      <p:sp>
        <p:nvSpPr>
          <p:cNvPr id="3" name="Rectangle 2"/>
          <p:cNvSpPr/>
          <p:nvPr/>
        </p:nvSpPr>
        <p:spPr>
          <a:xfrm>
            <a:off x="731520" y="1051560"/>
            <a:ext cx="109728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5029200" cy="4754880"/>
          </a:xfrm>
          <a:prstGeom prst="roundRect">
            <a:avLst/>
          </a:prstGeom>
          <a:solidFill>
            <a:srgbClr val="161B22"/>
          </a:solidFill>
          <a:ln w="19050">
            <a:solidFill>
              <a:srgbClr val="58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645920"/>
            <a:ext cx="4572000" cy="457200"/>
          </a:xfrm>
          <a:prstGeom prst="rect">
            <a:avLst/>
          </a:prstGeom>
          <a:noFill/>
        </p:spPr>
        <p:txBody>
          <a:bodyPr wrap="square">
            <a:spAutoFit/>
          </a:bodyPr>
          <a:lstStyle/>
          <a:p>
            <a:pPr algn="l">
              <a:defRPr sz="1800" b="1">
                <a:solidFill>
                  <a:srgbClr val="58A6FF"/>
                </a:solidFill>
                <a:latin typeface="Segoe UI"/>
              </a:defRPr>
            </a:pPr>
            <a:r>
              <a:t>Ferramentas (gratuitas)</a:t>
            </a:r>
          </a:p>
          <a:p>
            <a:pPr algn="l">
              <a:spcBef>
                <a:spcPts val="500"/>
              </a:spcBef>
              <a:defRPr sz="1300" b="0" i="0">
                <a:solidFill>
                  <a:srgbClr val="B0B8C4"/>
                </a:solidFill>
                <a:latin typeface="Segoe UI"/>
              </a:defRPr>
            </a:pPr>
            <a:r>
              <a:t>• A-Frame: aframe.io</a:t>
            </a:r>
          </a:p>
          <a:p>
            <a:pPr algn="l">
              <a:spcBef>
                <a:spcPts val="500"/>
              </a:spcBef>
              <a:defRPr sz="1300" b="0" i="0">
                <a:solidFill>
                  <a:srgbClr val="B0B8C4"/>
                </a:solidFill>
                <a:latin typeface="Segoe UI"/>
              </a:defRPr>
            </a:pPr>
            <a:r>
              <a:t>• A-Frame School: aframe.io/aframe-school</a:t>
            </a:r>
          </a:p>
          <a:p>
            <a:pPr algn="l">
              <a:spcBef>
                <a:spcPts val="500"/>
              </a:spcBef>
              <a:defRPr sz="1300" b="0" i="0">
                <a:solidFill>
                  <a:srgbClr val="B0B8C4"/>
                </a:solidFill>
                <a:latin typeface="Segoe UI"/>
              </a:defRPr>
            </a:pPr>
            <a:r>
              <a:t>• A-Frame Docs: aframe.io/docs</a:t>
            </a:r>
          </a:p>
          <a:p>
            <a:pPr algn="l">
              <a:spcBef>
                <a:spcPts val="500"/>
              </a:spcBef>
              <a:defRPr sz="1300" b="0" i="0">
                <a:solidFill>
                  <a:srgbClr val="B0B8C4"/>
                </a:solidFill>
                <a:latin typeface="Segoe UI"/>
              </a:defRPr>
            </a:pPr>
            <a:r>
              <a:t>• Blender: blender.org</a:t>
            </a:r>
          </a:p>
          <a:p>
            <a:pPr algn="l">
              <a:spcBef>
                <a:spcPts val="500"/>
              </a:spcBef>
              <a:defRPr sz="1300" b="0" i="0">
                <a:solidFill>
                  <a:srgbClr val="B0B8C4"/>
                </a:solidFill>
                <a:latin typeface="Segoe UI"/>
              </a:defRPr>
            </a:pPr>
            <a:r>
              <a:t>• Kiri Engine: kiriengine.app</a:t>
            </a:r>
          </a:p>
          <a:p>
            <a:pPr algn="l">
              <a:spcBef>
                <a:spcPts val="500"/>
              </a:spcBef>
              <a:defRPr sz="1300" b="0" i="0">
                <a:solidFill>
                  <a:srgbClr val="B0B8C4"/>
                </a:solidFill>
                <a:latin typeface="Segoe UI"/>
              </a:defRPr>
            </a:pPr>
            <a:r>
              <a:t>• VS Code: code.visualstudio.com</a:t>
            </a:r>
          </a:p>
          <a:p>
            <a:pPr algn="l">
              <a:spcBef>
                <a:spcPts val="500"/>
              </a:spcBef>
              <a:defRPr sz="1300" b="0" i="0">
                <a:solidFill>
                  <a:srgbClr val="B0B8C4"/>
                </a:solidFill>
                <a:latin typeface="Segoe UI"/>
              </a:defRPr>
            </a:pPr>
            <a:r>
              <a:t>• Three.js: threejs.org</a:t>
            </a:r>
          </a:p>
          <a:p>
            <a:pPr algn="l">
              <a:spcBef>
                <a:spcPts val="500"/>
              </a:spcBef>
              <a:defRPr sz="1300" b="0" i="0">
                <a:solidFill>
                  <a:srgbClr val="B0B8C4"/>
                </a:solidFill>
                <a:latin typeface="Segoe UI"/>
              </a:defRPr>
            </a:pPr>
            <a:r>
              <a:t>• Glitch.com: editor A-Frame online</a:t>
            </a:r>
          </a:p>
        </p:txBody>
      </p:sp>
      <p:sp>
        <p:nvSpPr>
          <p:cNvPr id="6" name="Rounded Rectangle 5"/>
          <p:cNvSpPr/>
          <p:nvPr/>
        </p:nvSpPr>
        <p:spPr>
          <a:xfrm>
            <a:off x="6217920" y="1463040"/>
            <a:ext cx="5029200" cy="4754880"/>
          </a:xfrm>
          <a:prstGeom prst="roundRect">
            <a:avLst/>
          </a:prstGeom>
          <a:solidFill>
            <a:srgbClr val="161B22"/>
          </a:solidFill>
          <a:ln w="19050">
            <a:solidFill>
              <a:srgbClr val="3FB9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645920"/>
            <a:ext cx="4572000" cy="457200"/>
          </a:xfrm>
          <a:prstGeom prst="rect">
            <a:avLst/>
          </a:prstGeom>
          <a:noFill/>
        </p:spPr>
        <p:txBody>
          <a:bodyPr wrap="square">
            <a:spAutoFit/>
          </a:bodyPr>
          <a:lstStyle/>
          <a:p>
            <a:pPr algn="l">
              <a:defRPr sz="1800" b="1">
                <a:solidFill>
                  <a:srgbClr val="3FB950"/>
                </a:solidFill>
                <a:latin typeface="Segoe UI"/>
              </a:defRPr>
            </a:pPr>
            <a:r>
              <a:t>Assets gratuitos</a:t>
            </a:r>
          </a:p>
          <a:p>
            <a:pPr algn="l">
              <a:spcBef>
                <a:spcPts val="500"/>
              </a:spcBef>
              <a:defRPr sz="1300" b="0" i="0">
                <a:solidFill>
                  <a:srgbClr val="B0B8C4"/>
                </a:solidFill>
                <a:latin typeface="Segoe UI"/>
              </a:defRPr>
            </a:pPr>
            <a:r>
              <a:t>• Sketchfab: modelos 3D (sketchfab.com)</a:t>
            </a:r>
          </a:p>
          <a:p>
            <a:pPr algn="l">
              <a:spcBef>
                <a:spcPts val="500"/>
              </a:spcBef>
              <a:defRPr sz="1300" b="0" i="0">
                <a:solidFill>
                  <a:srgbClr val="B0B8C4"/>
                </a:solidFill>
                <a:latin typeface="Segoe UI"/>
              </a:defRPr>
            </a:pPr>
            <a:r>
              <a:t>• Poly Haven: HDRIs + texturas (polyhaven.com)</a:t>
            </a:r>
          </a:p>
          <a:p>
            <a:pPr algn="l">
              <a:spcBef>
                <a:spcPts val="500"/>
              </a:spcBef>
              <a:defRPr sz="1300" b="0" i="0">
                <a:solidFill>
                  <a:srgbClr val="B0B8C4"/>
                </a:solidFill>
                <a:latin typeface="Segoe UI"/>
              </a:defRPr>
            </a:pPr>
            <a:r>
              <a:t>• Mixamo: animacoes humanoides (mixamo.com)</a:t>
            </a:r>
          </a:p>
          <a:p>
            <a:pPr algn="l">
              <a:spcBef>
                <a:spcPts val="500"/>
              </a:spcBef>
              <a:defRPr sz="1300" b="0" i="0">
                <a:solidFill>
                  <a:srgbClr val="B0B8C4"/>
                </a:solidFill>
                <a:latin typeface="Segoe UI"/>
              </a:defRPr>
            </a:pPr>
            <a:r>
              <a:t>• Freesound: sons/audio (freesound.org)</a:t>
            </a:r>
          </a:p>
          <a:p>
            <a:pPr algn="l">
              <a:spcBef>
                <a:spcPts val="500"/>
              </a:spcBef>
              <a:defRPr sz="1300" b="0" i="0">
                <a:solidFill>
                  <a:srgbClr val="B0B8C4"/>
                </a:solidFill>
                <a:latin typeface="Segoe UI"/>
              </a:defRPr>
            </a:pPr>
            <a:r>
              <a:t>• Pexels/Unsplash: fotos (pexels.com)</a:t>
            </a:r>
          </a:p>
          <a:p>
            <a:pPr algn="l">
              <a:spcBef>
                <a:spcPts val="500"/>
              </a:spcBef>
              <a:defRPr sz="1300" b="0" i="0">
                <a:solidFill>
                  <a:srgbClr val="B0B8C4"/>
                </a:solidFill>
                <a:latin typeface="Segoe UI"/>
              </a:defRPr>
            </a:pPr>
            <a:r>
              <a:t>• Kenney: assets low-poly (kenney.nl)</a:t>
            </a:r>
          </a:p>
          <a:p>
            <a:pPr algn="l">
              <a:spcBef>
                <a:spcPts val="500"/>
              </a:spcBef>
              <a:defRPr sz="1300" b="0" i="0">
                <a:solidFill>
                  <a:srgbClr val="B0B8C4"/>
                </a:solidFill>
                <a:latin typeface="Segoe UI"/>
              </a:defRPr>
            </a:pPr>
            <a:r>
              <a:t>• Quaternius: modelos gratuitos</a:t>
            </a:r>
          </a:p>
          <a:p>
            <a:pPr algn="l">
              <a:spcBef>
                <a:spcPts val="500"/>
              </a:spcBef>
              <a:defRPr sz="1300" b="0" i="0">
                <a:solidFill>
                  <a:srgbClr val="B0B8C4"/>
                </a:solidFill>
                <a:latin typeface="Segoe UI"/>
              </a:defRPr>
            </a:pPr>
            <a:r>
              <a:t>• ambientCG: materiais PBR (ambientcg.com)</a:t>
            </a:r>
          </a:p>
        </p:txBody>
      </p:sp>
      <p:pic>
        <p:nvPicPr>
          <p:cNvPr id="8" name="Picture 7" descr="tmpdgfqre63.png"/>
          <p:cNvPicPr>
            <a:picLocks noChangeAspect="1"/>
          </p:cNvPicPr>
          <p:nvPr/>
        </p:nvPicPr>
        <p:blipFill>
          <a:blip r:embed="rId2"/>
          <a:stretch>
            <a:fillRect/>
          </a:stretch>
        </p:blipFill>
        <p:spPr>
          <a:xfrm>
            <a:off x="1371600" y="5212080"/>
            <a:ext cx="914400" cy="914400"/>
          </a:xfrm>
          <a:prstGeom prst="rect">
            <a:avLst/>
          </a:prstGeom>
        </p:spPr>
      </p:pic>
      <p:sp>
        <p:nvSpPr>
          <p:cNvPr id="9" name="TextBox 8"/>
          <p:cNvSpPr txBox="1"/>
          <p:nvPr/>
        </p:nvSpPr>
        <p:spPr>
          <a:xfrm>
            <a:off x="1188720" y="6217920"/>
            <a:ext cx="1280160" cy="274320"/>
          </a:xfrm>
          <a:prstGeom prst="rect">
            <a:avLst/>
          </a:prstGeom>
          <a:noFill/>
        </p:spPr>
        <p:txBody>
          <a:bodyPr wrap="square">
            <a:spAutoFit/>
          </a:bodyPr>
          <a:lstStyle/>
          <a:p>
            <a:pPr algn="ctr">
              <a:defRPr sz="1000" b="0">
                <a:solidFill>
                  <a:srgbClr val="6E7681"/>
                </a:solidFill>
                <a:latin typeface="Segoe UI"/>
              </a:defRPr>
            </a:pPr>
            <a:r>
              <a:t>A-Frame</a:t>
            </a:r>
          </a:p>
        </p:txBody>
      </p:sp>
      <p:pic>
        <p:nvPicPr>
          <p:cNvPr id="10" name="Picture 9" descr="tmpuf8ep8wt.png"/>
          <p:cNvPicPr>
            <a:picLocks noChangeAspect="1"/>
          </p:cNvPicPr>
          <p:nvPr/>
        </p:nvPicPr>
        <p:blipFill>
          <a:blip r:embed="rId3"/>
          <a:stretch>
            <a:fillRect/>
          </a:stretch>
        </p:blipFill>
        <p:spPr>
          <a:xfrm>
            <a:off x="3657600" y="5212080"/>
            <a:ext cx="914400" cy="914400"/>
          </a:xfrm>
          <a:prstGeom prst="rect">
            <a:avLst/>
          </a:prstGeom>
        </p:spPr>
      </p:pic>
      <p:sp>
        <p:nvSpPr>
          <p:cNvPr id="11" name="TextBox 10"/>
          <p:cNvSpPr txBox="1"/>
          <p:nvPr/>
        </p:nvSpPr>
        <p:spPr>
          <a:xfrm>
            <a:off x="3474720" y="6217920"/>
            <a:ext cx="1280160" cy="274320"/>
          </a:xfrm>
          <a:prstGeom prst="rect">
            <a:avLst/>
          </a:prstGeom>
          <a:noFill/>
        </p:spPr>
        <p:txBody>
          <a:bodyPr wrap="square">
            <a:spAutoFit/>
          </a:bodyPr>
          <a:lstStyle/>
          <a:p>
            <a:pPr algn="ctr">
              <a:defRPr sz="1000" b="0">
                <a:solidFill>
                  <a:srgbClr val="6E7681"/>
                </a:solidFill>
                <a:latin typeface="Segoe UI"/>
              </a:defRPr>
            </a:pPr>
            <a:r>
              <a:t>Docs</a:t>
            </a:r>
          </a:p>
        </p:txBody>
      </p:sp>
      <p:pic>
        <p:nvPicPr>
          <p:cNvPr id="12" name="Picture 11" descr="tmpwq1rvcpy.png"/>
          <p:cNvPicPr>
            <a:picLocks noChangeAspect="1"/>
          </p:cNvPicPr>
          <p:nvPr/>
        </p:nvPicPr>
        <p:blipFill>
          <a:blip r:embed="rId4"/>
          <a:stretch>
            <a:fillRect/>
          </a:stretch>
        </p:blipFill>
        <p:spPr>
          <a:xfrm>
            <a:off x="7315200" y="5212080"/>
            <a:ext cx="914400" cy="914400"/>
          </a:xfrm>
          <a:prstGeom prst="rect">
            <a:avLst/>
          </a:prstGeom>
        </p:spPr>
      </p:pic>
      <p:sp>
        <p:nvSpPr>
          <p:cNvPr id="13" name="TextBox 12"/>
          <p:cNvSpPr txBox="1"/>
          <p:nvPr/>
        </p:nvSpPr>
        <p:spPr>
          <a:xfrm>
            <a:off x="7132320" y="6217920"/>
            <a:ext cx="1280160" cy="274320"/>
          </a:xfrm>
          <a:prstGeom prst="rect">
            <a:avLst/>
          </a:prstGeom>
          <a:noFill/>
        </p:spPr>
        <p:txBody>
          <a:bodyPr wrap="square">
            <a:spAutoFit/>
          </a:bodyPr>
          <a:lstStyle/>
          <a:p>
            <a:pPr algn="ctr">
              <a:defRPr sz="1000" b="0">
                <a:solidFill>
                  <a:srgbClr val="6E7681"/>
                </a:solidFill>
                <a:latin typeface="Segoe UI"/>
              </a:defRPr>
            </a:pPr>
            <a:r>
              <a:t>Kiri Engine</a:t>
            </a:r>
          </a:p>
        </p:txBody>
      </p:sp>
      <p:pic>
        <p:nvPicPr>
          <p:cNvPr id="14" name="Picture 13" descr="tmp62cawp5t.png"/>
          <p:cNvPicPr>
            <a:picLocks noChangeAspect="1"/>
          </p:cNvPicPr>
          <p:nvPr/>
        </p:nvPicPr>
        <p:blipFill>
          <a:blip r:embed="rId5"/>
          <a:stretch>
            <a:fillRect/>
          </a:stretch>
        </p:blipFill>
        <p:spPr>
          <a:xfrm>
            <a:off x="9601200" y="5212080"/>
            <a:ext cx="914400" cy="914400"/>
          </a:xfrm>
          <a:prstGeom prst="rect">
            <a:avLst/>
          </a:prstGeom>
        </p:spPr>
      </p:pic>
      <p:sp>
        <p:nvSpPr>
          <p:cNvPr id="15" name="TextBox 14"/>
          <p:cNvSpPr txBox="1"/>
          <p:nvPr/>
        </p:nvSpPr>
        <p:spPr>
          <a:xfrm>
            <a:off x="9418320" y="6217920"/>
            <a:ext cx="1280160" cy="274320"/>
          </a:xfrm>
          <a:prstGeom prst="rect">
            <a:avLst/>
          </a:prstGeom>
          <a:noFill/>
        </p:spPr>
        <p:txBody>
          <a:bodyPr wrap="square">
            <a:spAutoFit/>
          </a:bodyPr>
          <a:lstStyle/>
          <a:p>
            <a:pPr algn="ctr">
              <a:defRPr sz="1000" b="0">
                <a:solidFill>
                  <a:srgbClr val="6E7681"/>
                </a:solidFill>
                <a:latin typeface="Segoe UI"/>
              </a:defRPr>
            </a:pPr>
            <a:r>
              <a:t>Blender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1828800"/>
            <a:ext cx="9144000" cy="1371600"/>
          </a:xfrm>
          <a:prstGeom prst="rect">
            <a:avLst/>
          </a:prstGeom>
          <a:noFill/>
        </p:spPr>
        <p:txBody>
          <a:bodyPr wrap="square">
            <a:spAutoFit/>
          </a:bodyPr>
          <a:lstStyle/>
          <a:p>
            <a:pPr algn="l">
              <a:defRPr sz="5600" b="1">
                <a:solidFill>
                  <a:srgbClr val="FFFFFF"/>
                </a:solidFill>
                <a:latin typeface="Segoe UI Semibold"/>
              </a:defRPr>
            </a:pPr>
            <a:r>
              <a:t>Obrigado!</a:t>
            </a:r>
          </a:p>
        </p:txBody>
      </p:sp>
      <p:sp>
        <p:nvSpPr>
          <p:cNvPr id="4" name="TextBox 3"/>
          <p:cNvSpPr txBox="1"/>
          <p:nvPr/>
        </p:nvSpPr>
        <p:spPr>
          <a:xfrm>
            <a:off x="1097280" y="3383280"/>
            <a:ext cx="9144000" cy="731520"/>
          </a:xfrm>
          <a:prstGeom prst="rect">
            <a:avLst/>
          </a:prstGeom>
          <a:noFill/>
        </p:spPr>
        <p:txBody>
          <a:bodyPr wrap="square">
            <a:spAutoFit/>
          </a:bodyPr>
          <a:lstStyle/>
          <a:p>
            <a:pPr algn="l">
              <a:defRPr sz="2800" b="0">
                <a:solidFill>
                  <a:srgbClr val="58A6FF"/>
                </a:solidFill>
                <a:latin typeface="Segoe UI Light"/>
              </a:defRPr>
            </a:pPr>
            <a:r>
              <a:t>Questoes? Feedback?</a:t>
            </a:r>
          </a:p>
        </p:txBody>
      </p:sp>
      <p:sp>
        <p:nvSpPr>
          <p:cNvPr id="5" name="Rectangle 4"/>
          <p:cNvSpPr/>
          <p:nvPr/>
        </p:nvSpPr>
        <p:spPr>
          <a:xfrm>
            <a:off x="1097280" y="4572000"/>
            <a:ext cx="2743200" cy="38100"/>
          </a:xfrm>
          <a:prstGeom prst="rect">
            <a:avLst/>
          </a:prstGeom>
          <a:solidFill>
            <a:srgbClr val="58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4846320"/>
            <a:ext cx="9144000" cy="457200"/>
          </a:xfrm>
          <a:prstGeom prst="rect">
            <a:avLst/>
          </a:prstGeom>
          <a:noFill/>
        </p:spPr>
        <p:txBody>
          <a:bodyPr wrap="square">
            <a:spAutoFit/>
          </a:bodyPr>
          <a:lstStyle/>
          <a:p>
            <a:pPr algn="l">
              <a:defRPr sz="1400" b="0">
                <a:solidFill>
                  <a:srgbClr val="6E7681"/>
                </a:solidFill>
                <a:latin typeface="Segoe UI Light"/>
              </a:defRPr>
            </a:pPr>
            <a:r>
              <a:t>Realidade Estendida e Metaverso em Saude — Ferramentas de Criacao de Conteudo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6759</Words>
  <Application>Microsoft Office PowerPoint</Application>
  <PresentationFormat>Ecrã Panorâmico</PresentationFormat>
  <Paragraphs>1049</Paragraphs>
  <Slides>53</Slides>
  <Notes>10</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53</vt:i4>
      </vt:variant>
    </vt:vector>
  </HeadingPairs>
  <TitlesOfParts>
    <vt:vector size="59" baseType="lpstr">
      <vt:lpstr>Arial</vt:lpstr>
      <vt:lpstr>Calibri</vt:lpstr>
      <vt:lpstr>Segoe UI</vt:lpstr>
      <vt:lpstr>Segoe UI Light</vt:lpstr>
      <vt:lpstr>Segoe UI Semibold</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subject/>
  <dc:creator/>
  <cp:keywords/>
  <dc:description>generated using python-pptx</dc:description>
  <cp:lastModifiedBy>Gil Araujo</cp:lastModifiedBy>
  <cp:revision>5</cp:revision>
  <dcterms:created xsi:type="dcterms:W3CDTF">2013-01-27T09:14:16Z</dcterms:created>
  <dcterms:modified xsi:type="dcterms:W3CDTF">2026-03-10T20:48:53Z</dcterms:modified>
  <cp:category/>
</cp:coreProperties>
</file>